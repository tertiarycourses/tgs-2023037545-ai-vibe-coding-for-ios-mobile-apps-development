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6" r:id="rId268"/>
    <p:sldId id="511" r:id="rId263"/>
    <p:sldId id="512" r:id="rId264"/>
    <p:sldId id="513" r:id="rId265"/>
    <p:sldId id="514" r:id="rId266"/>
    <p:sldId id="515" r:id="rId2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Evidence coverage</c:v>
                </c:pt>
              </c:strCache>
            </c:strRef>
          </c:tx>
          <c:spPr>
            <a:solidFill>
              <a:srgbClr val="1F6FEB"/>
            </a:solidFill>
          </c:spPr>
          <c:cat>
            <c:strRef>
              <c:f>Sheet1!$A$2:$A$6</c:f>
              <c:strCache>
                <c:ptCount val="5"/>
                <c:pt idx="0">
                  <c:v>Requirements</c:v>
                </c:pt>
                <c:pt idx="1">
                  <c:v>Core</c:v>
                </c:pt>
                <c:pt idx="2">
                  <c:v>Bridge</c:v>
                </c:pt>
                <c:pt idx="3">
                  <c:v>UI</c:v>
                </c:pt>
                <c:pt idx="4">
                  <c:v>Docs</c:v>
                </c:pt>
              </c:strCache>
            </c:strRef>
          </c:cat>
          <c:val>
            <c:numRef>
              <c:f>Sheet1!$B$2:$B$6</c:f>
              <c:numCache>
                <c:formatCode>General</c:formatCode>
                <c:ptCount val="5"/>
                <c:pt idx="0">
                  <c:v>100</c:v>
                </c:pt>
                <c:pt idx="1">
                  <c:v>90</c:v>
                </c:pt>
                <c:pt idx="2">
                  <c:v>80</c:v>
                </c:pt>
                <c:pt idx="3">
                  <c:v>70</c:v>
                </c:pt>
                <c:pt idx="4">
                  <c:v>60</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max val="100.0"/>
          <c:min val="0.0"/>
        </c:scaling>
        <c:delete val="0"/>
        <c:axPos val="l"/>
        <c:majorGridlines/>
        <c:majorTickMark val="out"/>
        <c:minorTickMark val="none"/>
        <c:tickLblPos val="nextTo"/>
        <c:txPr>
          <a:bodyPr/>
          <a:lstStyle/>
          <a:p>
            <a:pPr>
              <a:defRPr sz="10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Evidence coverage</c:v>
                </c:pt>
              </c:strCache>
            </c:strRef>
          </c:tx>
          <c:spPr>
            <a:solidFill>
              <a:srgbClr val="1F6FEB"/>
            </a:solidFill>
          </c:spPr>
          <c:cat>
            <c:strRef>
              <c:f>Sheet1!$A$2:$A$6</c:f>
              <c:strCache>
                <c:ptCount val="5"/>
                <c:pt idx="0">
                  <c:v>Requirements</c:v>
                </c:pt>
                <c:pt idx="1">
                  <c:v>Core</c:v>
                </c:pt>
                <c:pt idx="2">
                  <c:v>Bridge</c:v>
                </c:pt>
                <c:pt idx="3">
                  <c:v>UI</c:v>
                </c:pt>
                <c:pt idx="4">
                  <c:v>Docs</c:v>
                </c:pt>
              </c:strCache>
            </c:strRef>
          </c:cat>
          <c:val>
            <c:numRef>
              <c:f>Sheet1!$B$2:$B$6</c:f>
              <c:numCache>
                <c:formatCode>General</c:formatCode>
                <c:ptCount val="5"/>
                <c:pt idx="0">
                  <c:v>100</c:v>
                </c:pt>
                <c:pt idx="1">
                  <c:v>90</c:v>
                </c:pt>
                <c:pt idx="2">
                  <c:v>80</c:v>
                </c:pt>
                <c:pt idx="3">
                  <c:v>70</c:v>
                </c:pt>
                <c:pt idx="4">
                  <c:v>60</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max val="100.0"/>
          <c:min val="0.0"/>
        </c:scaling>
        <c:delete val="0"/>
        <c:axPos val="l"/>
        <c:majorGridlines/>
        <c:majorTickMark val="out"/>
        <c:minorTickMark val="none"/>
        <c:tickLblPos val="nextTo"/>
        <c:txPr>
          <a:bodyPr/>
          <a:lstStyle/>
          <a:p>
            <a:pPr>
              <a:defRPr sz="10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Evidence coverage</c:v>
                </c:pt>
              </c:strCache>
            </c:strRef>
          </c:tx>
          <c:spPr>
            <a:solidFill>
              <a:srgbClr val="1F6FEB"/>
            </a:solidFill>
          </c:spPr>
          <c:cat>
            <c:strRef>
              <c:f>Sheet1!$A$2:$A$6</c:f>
              <c:strCache>
                <c:ptCount val="5"/>
                <c:pt idx="0">
                  <c:v>Requirements</c:v>
                </c:pt>
                <c:pt idx="1">
                  <c:v>Core</c:v>
                </c:pt>
                <c:pt idx="2">
                  <c:v>Bridge</c:v>
                </c:pt>
                <c:pt idx="3">
                  <c:v>UI</c:v>
                </c:pt>
                <c:pt idx="4">
                  <c:v>Docs</c:v>
                </c:pt>
              </c:strCache>
            </c:strRef>
          </c:cat>
          <c:val>
            <c:numRef>
              <c:f>Sheet1!$B$2:$B$6</c:f>
              <c:numCache>
                <c:formatCode>General</c:formatCode>
                <c:ptCount val="5"/>
                <c:pt idx="0">
                  <c:v>100</c:v>
                </c:pt>
                <c:pt idx="1">
                  <c:v>90</c:v>
                </c:pt>
                <c:pt idx="2">
                  <c:v>80</c:v>
                </c:pt>
                <c:pt idx="3">
                  <c:v>70</c:v>
                </c:pt>
                <c:pt idx="4">
                  <c:v>60</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max val="100.0"/>
          <c:min val="0.0"/>
        </c:scaling>
        <c:delete val="0"/>
        <c:axPos val="l"/>
        <c:majorGridlines/>
        <c:majorTickMark val="out"/>
        <c:minorTickMark val="none"/>
        <c:tickLblPos val="nextTo"/>
        <c:txPr>
          <a:bodyPr/>
          <a:lstStyle/>
          <a:p>
            <a:pPr>
              <a:defRPr sz="10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Evidence coverage</c:v>
                </c:pt>
              </c:strCache>
            </c:strRef>
          </c:tx>
          <c:spPr>
            <a:solidFill>
              <a:srgbClr val="1F6FEB"/>
            </a:solidFill>
          </c:spPr>
          <c:cat>
            <c:strRef>
              <c:f>Sheet1!$A$2:$A$6</c:f>
              <c:strCache>
                <c:ptCount val="5"/>
                <c:pt idx="0">
                  <c:v>Requirements</c:v>
                </c:pt>
                <c:pt idx="1">
                  <c:v>Core</c:v>
                </c:pt>
                <c:pt idx="2">
                  <c:v>Bridge</c:v>
                </c:pt>
                <c:pt idx="3">
                  <c:v>UI</c:v>
                </c:pt>
                <c:pt idx="4">
                  <c:v>Docs</c:v>
                </c:pt>
              </c:strCache>
            </c:strRef>
          </c:cat>
          <c:val>
            <c:numRef>
              <c:f>Sheet1!$B$2:$B$6</c:f>
              <c:numCache>
                <c:formatCode>General</c:formatCode>
                <c:ptCount val="5"/>
                <c:pt idx="0">
                  <c:v>100</c:v>
                </c:pt>
                <c:pt idx="1">
                  <c:v>90</c:v>
                </c:pt>
                <c:pt idx="2">
                  <c:v>80</c:v>
                </c:pt>
                <c:pt idx="3">
                  <c:v>70</c:v>
                </c:pt>
                <c:pt idx="4">
                  <c:v>60</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max val="100.0"/>
          <c:min val="0.0"/>
        </c:scaling>
        <c:delete val="0"/>
        <c:axPos val="l"/>
        <c:majorGridlines/>
        <c:majorTickMark val="out"/>
        <c:minorTickMark val="none"/>
        <c:tickLblPos val="nextTo"/>
        <c:txPr>
          <a:bodyPr/>
          <a:lstStyle/>
          <a:p>
            <a:pPr>
              <a:defRPr sz="10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Evidence coverage</c:v>
                </c:pt>
              </c:strCache>
            </c:strRef>
          </c:tx>
          <c:spPr>
            <a:solidFill>
              <a:srgbClr val="1F6FEB"/>
            </a:solidFill>
          </c:spPr>
          <c:cat>
            <c:strRef>
              <c:f>Sheet1!$A$2:$A$6</c:f>
              <c:strCache>
                <c:ptCount val="5"/>
                <c:pt idx="0">
                  <c:v>Requirements</c:v>
                </c:pt>
                <c:pt idx="1">
                  <c:v>Core</c:v>
                </c:pt>
                <c:pt idx="2">
                  <c:v>Bridge</c:v>
                </c:pt>
                <c:pt idx="3">
                  <c:v>UI</c:v>
                </c:pt>
                <c:pt idx="4">
                  <c:v>Docs</c:v>
                </c:pt>
              </c:strCache>
            </c:strRef>
          </c:cat>
          <c:val>
            <c:numRef>
              <c:f>Sheet1!$B$2:$B$6</c:f>
              <c:numCache>
                <c:formatCode>General</c:formatCode>
                <c:ptCount val="5"/>
                <c:pt idx="0">
                  <c:v>100</c:v>
                </c:pt>
                <c:pt idx="1">
                  <c:v>90</c:v>
                </c:pt>
                <c:pt idx="2">
                  <c:v>80</c:v>
                </c:pt>
                <c:pt idx="3">
                  <c:v>70</c:v>
                </c:pt>
                <c:pt idx="4">
                  <c:v>60</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max val="100.0"/>
          <c:min val="0.0"/>
        </c:scaling>
        <c:delete val="0"/>
        <c:axPos val="l"/>
        <c:majorGridlines/>
        <c:majorTickMark val="out"/>
        <c:minorTickMark val="none"/>
        <c:tickLblPos val="nextTo"/>
        <c:txPr>
          <a:bodyPr/>
          <a:lstStyle/>
          <a:p>
            <a:pPr>
              <a:defRPr sz="10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SOURCE_REGISTER.md; visual asset cover-hero-v1.png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HOUSE; anchor: TRAQOM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HOUSE; anchor: LEARNER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HOUSE; anchor: GOVERNANCE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ARCH-CLEAN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APPLE_RUN; real connectors; anchor: IOS-VIBE-CONTRACT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LEGACY_APPS; BRIEF; anchor: THREE-APP-JOURNEY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IOS-VIBE-CODING-PROMPT-PACK.md; red to repair to green prompt workflow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AI-PROMPT-CONTRACT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COURSE-MAP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SCHEDULE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SCHEDULE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anchor: LO1-LO4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anchor: K/A-MAP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ASSESS; anchor: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HOUSE; anchor: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ACTIVITY-ACCESS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WSQ house assessment administration; five-stage flow with ASR as stage 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regulated mapping: LO1 · K1 · A1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anchor: TSC-K1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real connectors; anchor: TSC-K1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technical anchor: TSC-K1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anchor: CPP-BOUNDARY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real connectors; anchor: CPP-BOUNDARY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technical anchor: CPP-BOUNDARY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anchor: OBJCXX-ABI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real connectors; anchor: OBJCXX-ABI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technical anchor: OBJCXX-ABI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anchor: CPP-VALUE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real connectors; anchor: CPP-VALUE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technical anchor: CPP-VALUE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anchor: CPP-OOP</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real connectors; anchor: CPP-OOP</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technical anchor: CPP-OOP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anchor: TSC-A1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real connectors; anchor: TSC-A1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technical anchor: TSC-A1</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anchor: REQ-TRACE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real connectors; anchor: REQ-TRACE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technical anchor: REQ-TRACE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anchor: ARCH-CLEAN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real connectors; anchor: ARCH-CLEAN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technical anchor: ARCH-CLEAN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anchor: CPP-ERROR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real connectors; anchor: CPP-ERROR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technical anchor: CPP-ERROR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anchor: DESIGN-TOOL</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real connectors; anchor: DESIGN-TOOL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technical anchor: DESIGN-TOOL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anchor: GOV-AI</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real connectors; anchor: GOV-AI</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technical anchor: GOV-AI</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native pptx chart; anchor: LO1 · K1 · A1</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activity specification; mapping: K1, A1</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K1, A1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activities/01-requirements-component-boundary/README.md and IOS-VIBE-CODING-PROMPT-PACK.md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K1, A1</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activity specification; mapping: K1, A1</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activity specification; mapping: K1, A1</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K1, A1</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activities/02-portable-cpp-domain-core/README.md and IOS-VIBE-CODING-PROMPT-PACK.md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K1, A1</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activity specification; mapping: K1, A1</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TSC Mapping; C++ proposal; AI Driven Swift Architecture Build; anchor: LO1 · K1 · A1</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regulated mapping: LO2 · K2 · A2</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anchor: CPP-CMAKE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real connectors; anchor: CPP-CMAKE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technical anchor: CPP-CMAKE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anchor: AI-TDD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real connectors; anchor: AI-TDD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technical anchor: AI-TDD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anchor: AI-PROMPT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real connectors; anchor: AI-PROMPT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technical anchor: AI-PROMPT</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anchor: CPP-TYPES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real connectors; anchor: CPP-TYPES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technical anchor: CPP-TYPES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anchor: CPP-FUNCTION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real connectors; anchor: CPP-FUNCTION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technical anchor: CPP-FUNCTION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anchor: CPP-CONTROL</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real connectors; anchor: CPP-CONTROL</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technical anchor: CPP-CONTROL</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anchor: CPP-RAII</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real connectors; anchor: CPP-RAII</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technical anchor: CPP-RAII</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anchor: ARCH-DI</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real connectors; anchor: ARCH-DI</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technical anchor: ARCH-DI</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anchor: CPP-TOOLCHAIN</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real connectors; anchor: CPP-TOOLCHAIN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technical anchor: CPP-TOOLCHAIN</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anchor: AI-REVIEW</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real connectors; anchor: AI-REVIEW</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technical anchor: AI-REVIEW</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image: ai-code-review-v1.png; anchor: AI-REVIEW</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anchor: TSC-A2</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real connectors; anchor: TSC-A2</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technical anchor: TSC-A2</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native pptx chart; anchor: LO2 · K2 · A2</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activity specification; mapping: K2, A2</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K2, A2</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activities/03-ai-assisted-tdd/README.md and IOS-VIBE-CODING-PROMPT-PACK.md</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K2, A2</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activity specification; mapping: K2, A2</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activity specification; mapping: K2, A2</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K2, A2</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activities/04-toolchain-quality-gates/README.md and IOS-VIBE-CODING-PROMPT-PACK.md</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K2, A2</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activity specification; mapping: K2, A2</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AI Driven Swift Architecture Build; C++ proposal; anchor: LO2 · K2 · A2</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regulated mapping: LO3 · K3 · A3</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anchor: SWIFTUI-STATE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real connectors; anchor: SWIFTUI-STATE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technical anchor: SWIFTUI-STATE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anchor: TSC-A3</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real connectors; anchor: TSC-A3</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technical anchor: TSC-A3</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anchor: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real connectors; anchor: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technical anchor: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anchor: SWIFTUI-NAV</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real connectors; anchor: SWIFTUI-NAV</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technical anchor: SWIFTUI-NAV</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anchor: SWIFTUI-LIST</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real connectors; anchor: SWIFTUI-LIST</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technical anchor: SWIFTUI-LIST</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anchor: SWIFT-CONCURRENCY</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real connectors; anchor: SWIFT-CONCURRENCY</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technical anchor: SWIFT-CONCURRENCY</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anchor: IOS-A11Y</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real connectors; anchor: IOS-A11Y</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technical anchor: IOS-A11Y</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anchor: SWIFTUI-PREVIEW</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real connectors; anchor: SWIFTUI-PREVIEW</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technical anchor: SWIFTUI-PREVIEW</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anchor: GOV-FLAG</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real connectors; anchor: GOV-FLAG</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technical anchor: GOV-FLAG</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anchor: AI-ONDEVICE</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real connectors; anchor: AI-ONDEVICE</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technical anchor: AI-ONDEVICE</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anchor: TSC-K3</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real connectors; anchor: TSC-K3</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technical anchor: TSC-K3</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native pptx chart; anchor: LO3 · K3 · A3</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activity specification; mapping: K3, A3</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K3, A3</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activities/05-objective-cpp-adapter/README.md and IOS-VIBE-CODING-PROMPT-PACK.md</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K3, A3</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activity specification; mapping: K3, A3</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activity specification; mapping: K3, A3</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K3, A3</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activities/06-swiftui-controls-state/README.md and IOS-VIBE-CODING-PROMPT-PACK.md</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K3, A3</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activity specification; mapping: K3, A3</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Full Swift Training v2; iOS Apps with Swift v5; AI Driven Swift Architecture Build; anchor: LO3 · K3 · A3</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regulated mapping: LO4 · K4 · A4</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anchor: OBJCXX-BRIDGE</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real connectors; anchor: OBJCXX-BRIDGE</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technical anchor: OBJCXX-BRIDGE</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anchor: OBJCXX-OWNERSHIP</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real connectors; anchor: OBJCXX-OWNERSHIP</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technical anchor: OBJCXX-OWNERSHIP</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anchor: OBJCXX-ERROR</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real connectors; anchor: OBJCXX-ERROR</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technical anchor: OBJCXX-ERROR</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anchor: OBJCXX-DTO</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real connectors; anchor: OBJCXX-DTO</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technical anchor: OBJCXX-DTO</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anchor: CPP-PERSIST</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real connectors; anchor: CPP-PERSIST</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technical anchor: CPP-PERSIST</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anchor: CPP-SCHEMA</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real connectors; anchor: CPP-SCHEMA</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technical anchor: CPP-SCHEMA</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anchor: TSC-K4</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real connectors; anchor: TSC-K4</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technical anchor: TSC-K4</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anchor: TEST-INTEROP</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real connectors; anchor: TEST-INTEROP</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technical anchor: TEST-INTEROP</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anchor: XCTEST-E2E</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real connectors; anchor: XCTEST-E2E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technical anchor: XCTEST-E2E</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anchor: TEST-FAILURE</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real connectors; anchor: TEST-FAILURE</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technical anchor: TEST-FAILURE</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anchor: TSC-A4</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real connectors; anchor: TSC-A4</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technical anchor: TSC-A4</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image: app-validation-v1.png; anchor: TEST-EVIDENCE</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native pptx chart; anchor: LO4 · K4 · A4</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activity specification; mapping: K4, A4</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K4, A4</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activities/07-persistence-error-recovery/README.md and IOS-VIBE-CODING-PROMPT-PACK.md</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K4, A4</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activity specification; mapping: K4, A4</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activity specification; mapping: K4, A4</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K4, A4</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activities/08-interop-validation-scorecard/README.md and IOS-VIBE-CODING-PROMPT-PACK.md</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K4, A4</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activity specification; mapping: K4, A4</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iOS Apps with Swift v5; AI Driven Swift Architecture Build; C++ proposal; anchor: LO4 · K4 · A4</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regulated mapping: LO5 · K5 · A5</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anchor: DOC-C4</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real connectors; anchor: DOC-C4</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technical anchor: DOC-C4</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anchor: DOC-ADR</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real connectors; anchor: DOC-ADR</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technical anchor: DOC-ADR</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anchor: TSC-A5</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real connectors; anchor: TSC-A5</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technical anchor: TSC-A5</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anchor: DOC-API</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real connectors; anchor: DOC-API</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technical anchor: DOC-API</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anchor: DOC-VERIFY</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real connectors; anchor: DOC-VERIFY</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technical anchor: DOC-VERIFY</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anchor: DOC-QA</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real connectors; anchor: DOC-QA</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technical anchor: DOC-QA</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anchor: IOS-DEPLOY</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real connectors; anchor: IOS-DEPLOY</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technical anchor: IOS-DEPLOY</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anchor: IOS-PRIVACY</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real connectors; anchor: IOS-PRIVACY</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technical anchor: IOS-PRIVACY</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anchor: AI-REVIEW</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real connectors; anchor: AI-REVIEW</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technical anchor: AI-REVIEW</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anchor: DOC-RELEASE</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real connectors; anchor: DOC-RELEASE</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technical anchor: DOC-RELEASE</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anchor: TSC-K5</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real connectors; anchor: TSC-K5</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technical anchor: TSC-K5</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native pptx chart; anchor: LO5 · K5 · A5</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activity specification; mapping: K5, A5</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K5, A5</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activities/09-architecture-traceability-docs/README.md and IOS-VIBE-CODING-PROMPT-PACK.md</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K5, A5</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activity specification; mapping: K5, A5</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activity specification; mapping: A1, A2, A3, A4, A5</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A1, A2, A3, A4, A5</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activities/10-capstone-release-evidence/README.md and IOS-VIBE-CODING-PROMPT-PACK.md</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BRIEF; anchor: A1, A2, A3, A4, A5</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activity specification; mapping: A1, A2, A3, A4, A5</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AI Driven Swift Architecture Build; TSC Mapping; iOS Apps with Swift v5; anchor: LO5 · K5 · A5</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APPLE_UPLOAD; APPLE_SUBMIT; APPLE_APPINFO; real connectors; anchor: ASC-GATES</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copy/paste version: activities/IOS-VIBE-CODING-PROMPT-PACK.md, stage 17</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Captured from the installed iPhone 17 Pro Simulator after successful XcodeGen build and test runs; screenshots in build/qa/simulator</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HOUSE; anchor: LMS</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ASSESS; anchor: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WSQ house assessment administration; five-stage flow with ASR as stage 5</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HOUSE; anchor: TRAQOM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hyperlink" Target="https://github.com/tertiarycourses/TGS-2023037545-AI-Vibe-Coding-for-iOS-Mobile-Apps-Development"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0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46.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9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193.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0.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4.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5.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6.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8.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239.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0.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1.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3.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0.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1.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253.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4.xml"/><Relationship Id="rId3" Type="http://schemas.openxmlformats.org/officeDocument/2006/relationships/hyperlink" Target="https://lms-tms.tertiaryinfotech.com/" TargetMode="Externa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5.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6.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 Id="rId3"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ertiary-infotech-logo.png"/>
          <p:cNvPicPr>
            <a:picLocks noChangeAspect="1"/>
          </p:cNvPicPr>
          <p:nvPr/>
        </p:nvPicPr>
        <p:blipFill>
          <a:blip r:embed="rId2"/>
          <a:stretch>
            <a:fillRect/>
          </a:stretch>
        </p:blipFill>
        <p:spPr>
          <a:xfrm>
            <a:off x="658368" y="438912"/>
            <a:ext cx="731520" cy="731520"/>
          </a:xfrm>
          <a:prstGeom prst="rect">
            <a:avLst/>
          </a:prstGeom>
        </p:spPr>
      </p:pic>
      <p:pic>
        <p:nvPicPr>
          <p:cNvPr id="5" name="Picture 4" descr="wsq-logo.png"/>
          <p:cNvPicPr>
            <a:picLocks noChangeAspect="1"/>
          </p:cNvPicPr>
          <p:nvPr/>
        </p:nvPicPr>
        <p:blipFill>
          <a:blip r:embed="rId3"/>
          <a:stretch>
            <a:fillRect/>
          </a:stretch>
        </p:blipFill>
        <p:spPr>
          <a:xfrm>
            <a:off x="4590288" y="429768"/>
            <a:ext cx="1572768" cy="722376"/>
          </a:xfrm>
          <a:prstGeom prst="rect">
            <a:avLst/>
          </a:prstGeom>
        </p:spPr>
      </p:pic>
      <p:pic>
        <p:nvPicPr>
          <p:cNvPr id="6" name="Picture 5" descr="cover-hero-v1.png"/>
          <p:cNvPicPr>
            <a:picLocks noChangeAspect="1"/>
          </p:cNvPicPr>
          <p:nvPr/>
        </p:nvPicPr>
        <p:blipFill>
          <a:blip r:embed="rId4"/>
          <a:srcRect l="49535" r="5535"/>
          <a:stretch>
            <a:fillRect/>
          </a:stretch>
        </p:blipFill>
        <p:spPr>
          <a:xfrm>
            <a:off x="7178040" y="594360"/>
            <a:ext cx="4343400" cy="5440680"/>
          </a:xfrm>
          <a:prstGeom prst="rect">
            <a:avLst/>
          </a:prstGeom>
        </p:spPr>
      </p:pic>
      <p:sp>
        <p:nvSpPr>
          <p:cNvPr id="7" name="Rectangle 6"/>
          <p:cNvSpPr/>
          <p:nvPr/>
        </p:nvSpPr>
        <p:spPr>
          <a:xfrm>
            <a:off x="658368" y="1481328"/>
            <a:ext cx="786384"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719072"/>
            <a:ext cx="6126480" cy="274320"/>
          </a:xfrm>
          <a:prstGeom prst="rect">
            <a:avLst/>
          </a:prstGeom>
          <a:noFill/>
        </p:spPr>
        <p:txBody>
          <a:bodyPr wrap="square" anchor="t" lIns="18288" rIns="18288" tIns="18288" bIns="18288">
            <a:spAutoFit/>
          </a:bodyPr>
          <a:lstStyle/>
          <a:p>
            <a:pPr algn="l">
              <a:spcAft>
                <a:spcPts val="0"/>
              </a:spcAft>
            </a:pPr>
            <a:r>
              <a:rPr sz="1300" b="1">
                <a:solidFill>
                  <a:srgbClr val="1F6FEB"/>
                </a:solidFill>
                <a:latin typeface="Arial"/>
              </a:rPr>
              <a:t>COURSE SLIDES · WSQ</a:t>
            </a:r>
          </a:p>
        </p:txBody>
      </p:sp>
      <p:sp>
        <p:nvSpPr>
          <p:cNvPr id="9" name="TextBox 8"/>
          <p:cNvSpPr txBox="1"/>
          <p:nvPr/>
        </p:nvSpPr>
        <p:spPr>
          <a:xfrm>
            <a:off x="658368" y="2084831"/>
            <a:ext cx="6172200" cy="1508760"/>
          </a:xfrm>
          <a:prstGeom prst="rect">
            <a:avLst/>
          </a:prstGeom>
          <a:noFill/>
        </p:spPr>
        <p:txBody>
          <a:bodyPr wrap="square" anchor="ctr" lIns="18288" rIns="18288" tIns="18288" bIns="18288">
            <a:spAutoFit/>
          </a:bodyPr>
          <a:lstStyle/>
          <a:p>
            <a:pPr algn="l">
              <a:spcAft>
                <a:spcPts val="0"/>
              </a:spcAft>
            </a:pPr>
            <a:r>
              <a:rPr sz="3400" b="1">
                <a:solidFill>
                  <a:srgbClr val="161B26"/>
                </a:solidFill>
                <a:latin typeface="Arial"/>
              </a:rPr>
              <a:t>AI Vibe Coding for iOS Mobile Apps Development</a:t>
            </a:r>
          </a:p>
        </p:txBody>
      </p:sp>
      <p:sp>
        <p:nvSpPr>
          <p:cNvPr id="10" name="TextBox 9"/>
          <p:cNvSpPr txBox="1"/>
          <p:nvPr/>
        </p:nvSpPr>
        <p:spPr>
          <a:xfrm>
            <a:off x="658368" y="3767328"/>
            <a:ext cx="5989320" cy="502920"/>
          </a:xfrm>
          <a:prstGeom prst="rect">
            <a:avLst/>
          </a:prstGeom>
          <a:noFill/>
        </p:spPr>
        <p:txBody>
          <a:bodyPr wrap="square" anchor="t" lIns="18288" rIns="18288" tIns="18288" bIns="18288">
            <a:spAutoFit/>
          </a:bodyPr>
          <a:lstStyle/>
          <a:p>
            <a:pPr algn="l">
              <a:spcAft>
                <a:spcPts val="0"/>
              </a:spcAft>
            </a:pPr>
            <a:r>
              <a:rPr sz="1600" b="0">
                <a:solidFill>
                  <a:srgbClr val="5B6372"/>
                </a:solidFill>
                <a:latin typeface="Arial"/>
              </a:rPr>
              <a:t>Portable C++ core · Objective-C++ adapter · SwiftUI shell</a:t>
            </a:r>
          </a:p>
        </p:txBody>
      </p:sp>
      <p:sp>
        <p:nvSpPr>
          <p:cNvPr id="11" name="Rounded Rectangle 10"/>
          <p:cNvSpPr/>
          <p:nvPr/>
        </p:nvSpPr>
        <p:spPr>
          <a:xfrm>
            <a:off x="658368" y="4443984"/>
            <a:ext cx="5897880" cy="10241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590288"/>
            <a:ext cx="5440680" cy="713232"/>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TGS-2023037545  ·  Software Design 3 · ICT-DES-3005-1.1
Tertiary Infotech Academy Pte Ltd  ·  UEN 201200696W
Trainer: Dr Alfred Ang</a:t>
            </a:r>
          </a:p>
        </p:txBody>
      </p:sp>
      <p:sp>
        <p:nvSpPr>
          <p:cNvPr id="13" name="TextBox 12"/>
          <p:cNvSpPr txBox="1"/>
          <p:nvPr/>
        </p:nvSpPr>
        <p:spPr>
          <a:xfrm>
            <a:off x="658368" y="5806440"/>
            <a:ext cx="4754880" cy="274320"/>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v1.2 · 12 September 2026</a:t>
            </a:r>
          </a:p>
        </p:txBody>
      </p:sp>
      <p:sp>
        <p:nvSpPr>
          <p:cNvPr id="14" name="TextBox 13"/>
          <p:cNvSpPr txBox="1"/>
          <p:nvPr/>
        </p:nvSpPr>
        <p:spPr>
          <a:xfrm>
            <a:off x="658368" y="6419088"/>
            <a:ext cx="530352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 2026 Tertiary Infotech Academy Pte Ltd</a:t>
            </a:r>
          </a:p>
        </p:txBody>
      </p:sp>
    </p:spTree>
  </p:cSld>
  <p:clrMapOvr>
    <a:masterClrMapping/>
  </p:clrMapOvr>
  <p:transition advClick="1" spd="med">
    <p:push dir="l"/>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MANDATORY · SSG DIGITAL ATTENDANCE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Digital Attendance · TRAQOM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01</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Open the SSG TRAQOM attendance request shown by the trainer.</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TRAQOM</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02</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Verify course, session and identity details before confirming.</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TRAQOM</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03</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Complete attendance at the required start and end checkpoints.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TRAQOM</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04</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Tell the trainer immediately if the status is not confirmed.</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TRAQOM</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TRAQOM records SSG digital attendance. It is not a course survey.</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a:t>
            </a:r>
          </a:p>
        </p:txBody>
      </p:sp>
    </p:spTree>
  </p:cSld>
  <p:clrMapOvr>
    <a:masterClrMapping/>
  </p:clrMapOvr>
  <p:transition advClick="1" spd="fast">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5B6372"/>
                </a:solidFill>
                <a:latin typeface="Arial"/>
              </a:rPr>
              <a:t>COURSE ADMINISTRATION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About the Trainer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19072"/>
            <a:ext cx="3017520" cy="431596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45336" y="2139696"/>
            <a:ext cx="1243584" cy="1243584"/>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45336" y="2441448"/>
            <a:ext cx="1243584" cy="411480"/>
          </a:xfrm>
          <a:prstGeom prst="rect">
            <a:avLst/>
          </a:prstGeom>
          <a:noFill/>
        </p:spPr>
        <p:txBody>
          <a:bodyPr wrap="square" anchor="t" lIns="18288" rIns="18288" tIns="18288" bIns="18288">
            <a:spAutoFit/>
          </a:bodyPr>
          <a:lstStyle/>
          <a:p>
            <a:pPr algn="ctr">
              <a:spcAft>
                <a:spcPts val="0"/>
              </a:spcAft>
            </a:pPr>
            <a:r>
              <a:rPr sz="2800" b="1">
                <a:solidFill>
                  <a:srgbClr val="FFFFFF"/>
                </a:solidFill>
                <a:latin typeface="Arial"/>
              </a:rPr>
              <a:t>?</a:t>
            </a:r>
          </a:p>
        </p:txBody>
      </p:sp>
      <p:sp>
        <p:nvSpPr>
          <p:cNvPr id="10" name="TextBox 9"/>
          <p:cNvSpPr txBox="1"/>
          <p:nvPr/>
        </p:nvSpPr>
        <p:spPr>
          <a:xfrm>
            <a:off x="932688" y="3794760"/>
            <a:ext cx="2468880" cy="438912"/>
          </a:xfrm>
          <a:prstGeom prst="rect">
            <a:avLst/>
          </a:prstGeom>
          <a:noFill/>
        </p:spPr>
        <p:txBody>
          <a:bodyPr wrap="square" anchor="t" lIns="18288" rIns="18288" tIns="18288" bIns="18288">
            <a:spAutoFit/>
          </a:bodyPr>
          <a:lstStyle/>
          <a:p>
            <a:pPr algn="ctr">
              <a:spcAft>
                <a:spcPts val="0"/>
              </a:spcAft>
            </a:pPr>
            <a:r>
              <a:rPr sz="1900" b="1">
                <a:solidFill>
                  <a:srgbClr val="161B26"/>
                </a:solidFill>
                <a:latin typeface="Arial"/>
              </a:rPr>
              <a:t>General Trainer</a:t>
            </a:r>
          </a:p>
        </p:txBody>
      </p:sp>
      <p:sp>
        <p:nvSpPr>
          <p:cNvPr id="11" name="TextBox 10"/>
          <p:cNvSpPr txBox="1"/>
          <p:nvPr/>
        </p:nvSpPr>
        <p:spPr>
          <a:xfrm>
            <a:off x="932688" y="4315968"/>
            <a:ext cx="2468880" cy="475488"/>
          </a:xfrm>
          <a:prstGeom prst="rect">
            <a:avLst/>
          </a:prstGeom>
          <a:noFill/>
        </p:spPr>
        <p:txBody>
          <a:bodyPr wrap="square" anchor="t" lIns="18288" rIns="18288" tIns="18288" bIns="18288">
            <a:spAutoFit/>
          </a:bodyPr>
          <a:lstStyle/>
          <a:p>
            <a:pPr algn="ctr">
              <a:spcAft>
                <a:spcPts val="0"/>
              </a:spcAft>
            </a:pPr>
            <a:r>
              <a:rPr sz="1200" b="0">
                <a:solidFill>
                  <a:srgbClr val="5B6372"/>
                </a:solidFill>
                <a:latin typeface="Arial"/>
              </a:rPr>
              <a:t>Template profile</a:t>
            </a:r>
          </a:p>
        </p:txBody>
      </p:sp>
      <p:sp>
        <p:nvSpPr>
          <p:cNvPr id="12" name="Rounded Rectangle 11"/>
          <p:cNvSpPr/>
          <p:nvPr/>
        </p:nvSpPr>
        <p:spPr>
          <a:xfrm>
            <a:off x="3995928" y="1719072"/>
            <a:ext cx="7498079" cy="585216"/>
          </a:xfrm>
          <a:prstGeom prst="roundRect">
            <a:avLst>
              <a:gd name="adj" fmla="val 8000"/>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95928" y="1719072"/>
            <a:ext cx="82296" cy="5852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79392" y="1856231"/>
            <a:ext cx="1536192" cy="182880"/>
          </a:xfrm>
          <a:prstGeom prst="rect">
            <a:avLst/>
          </a:prstGeom>
          <a:noFill/>
        </p:spPr>
        <p:txBody>
          <a:bodyPr wrap="square" anchor="t" lIns="18288" rIns="18288" tIns="18288" bIns="18288">
            <a:spAutoFit/>
          </a:bodyPr>
          <a:lstStyle/>
          <a:p>
            <a:pPr algn="l">
              <a:spcAft>
                <a:spcPts val="0"/>
              </a:spcAft>
            </a:pPr>
            <a:r>
              <a:rPr sz="900" b="1">
                <a:solidFill>
                  <a:srgbClr val="1F6FEB"/>
                </a:solidFill>
                <a:latin typeface="Arial"/>
              </a:rPr>
              <a:t>NAME</a:t>
            </a:r>
          </a:p>
        </p:txBody>
      </p:sp>
      <p:sp>
        <p:nvSpPr>
          <p:cNvPr id="15" name="TextBox 14"/>
          <p:cNvSpPr txBox="1"/>
          <p:nvPr/>
        </p:nvSpPr>
        <p:spPr>
          <a:xfrm>
            <a:off x="5742432" y="1828800"/>
            <a:ext cx="5422392" cy="246888"/>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________________</a:t>
            </a:r>
          </a:p>
        </p:txBody>
      </p:sp>
      <p:sp>
        <p:nvSpPr>
          <p:cNvPr id="16" name="Rounded Rectangle 15"/>
          <p:cNvSpPr/>
          <p:nvPr/>
        </p:nvSpPr>
        <p:spPr>
          <a:xfrm>
            <a:off x="3995928" y="2441448"/>
            <a:ext cx="7498079" cy="585216"/>
          </a:xfrm>
          <a:prstGeom prst="roundRect">
            <a:avLst>
              <a:gd name="adj" fmla="val 8000"/>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95928" y="2441448"/>
            <a:ext cx="82296" cy="5852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79392" y="2578608"/>
            <a:ext cx="1536192" cy="182880"/>
          </a:xfrm>
          <a:prstGeom prst="rect">
            <a:avLst/>
          </a:prstGeom>
          <a:noFill/>
        </p:spPr>
        <p:txBody>
          <a:bodyPr wrap="square" anchor="t" lIns="18288" rIns="18288" tIns="18288" bIns="18288">
            <a:spAutoFit/>
          </a:bodyPr>
          <a:lstStyle/>
          <a:p>
            <a:pPr algn="l">
              <a:spcAft>
                <a:spcPts val="0"/>
              </a:spcAft>
            </a:pPr>
            <a:r>
              <a:rPr sz="900" b="1">
                <a:solidFill>
                  <a:srgbClr val="7C3AED"/>
                </a:solidFill>
                <a:latin typeface="Arial"/>
              </a:rPr>
              <a:t>TITLE / DESIGNATION</a:t>
            </a:r>
          </a:p>
        </p:txBody>
      </p:sp>
      <p:sp>
        <p:nvSpPr>
          <p:cNvPr id="19" name="TextBox 18"/>
          <p:cNvSpPr txBox="1"/>
          <p:nvPr/>
        </p:nvSpPr>
        <p:spPr>
          <a:xfrm>
            <a:off x="5742432" y="2551176"/>
            <a:ext cx="5422392" cy="246888"/>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________________</a:t>
            </a:r>
          </a:p>
        </p:txBody>
      </p:sp>
      <p:sp>
        <p:nvSpPr>
          <p:cNvPr id="20" name="Rounded Rectangle 19"/>
          <p:cNvSpPr/>
          <p:nvPr/>
        </p:nvSpPr>
        <p:spPr>
          <a:xfrm>
            <a:off x="3995928" y="3163824"/>
            <a:ext cx="7498079" cy="585216"/>
          </a:xfrm>
          <a:prstGeom prst="roundRect">
            <a:avLst>
              <a:gd name="adj" fmla="val 8000"/>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995928" y="3163824"/>
            <a:ext cx="82296" cy="5852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79392" y="3300984"/>
            <a:ext cx="1536192" cy="182880"/>
          </a:xfrm>
          <a:prstGeom prst="rect">
            <a:avLst/>
          </a:prstGeom>
          <a:noFill/>
        </p:spPr>
        <p:txBody>
          <a:bodyPr wrap="square" anchor="t" lIns="18288" rIns="18288" tIns="18288" bIns="18288">
            <a:spAutoFit/>
          </a:bodyPr>
          <a:lstStyle/>
          <a:p>
            <a:pPr algn="l">
              <a:spcAft>
                <a:spcPts val="0"/>
              </a:spcAft>
            </a:pPr>
            <a:r>
              <a:rPr sz="900" b="1">
                <a:solidFill>
                  <a:srgbClr val="10B981"/>
                </a:solidFill>
                <a:latin typeface="Arial"/>
              </a:rPr>
              <a:t>QUALIFICATIONS</a:t>
            </a:r>
          </a:p>
        </p:txBody>
      </p:sp>
      <p:sp>
        <p:nvSpPr>
          <p:cNvPr id="23" name="TextBox 22"/>
          <p:cNvSpPr txBox="1"/>
          <p:nvPr/>
        </p:nvSpPr>
        <p:spPr>
          <a:xfrm>
            <a:off x="5742432" y="3273552"/>
            <a:ext cx="5422392" cy="246888"/>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________________</a:t>
            </a:r>
          </a:p>
        </p:txBody>
      </p:sp>
      <p:sp>
        <p:nvSpPr>
          <p:cNvPr id="24" name="Rounded Rectangle 23"/>
          <p:cNvSpPr/>
          <p:nvPr/>
        </p:nvSpPr>
        <p:spPr>
          <a:xfrm>
            <a:off x="3995928" y="3886200"/>
            <a:ext cx="7498079" cy="585216"/>
          </a:xfrm>
          <a:prstGeom prst="roundRect">
            <a:avLst>
              <a:gd name="adj" fmla="val 8000"/>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995928" y="3886200"/>
            <a:ext cx="82296" cy="58521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79392" y="4023360"/>
            <a:ext cx="1536192" cy="182880"/>
          </a:xfrm>
          <a:prstGeom prst="rect">
            <a:avLst/>
          </a:prstGeom>
          <a:noFill/>
        </p:spPr>
        <p:txBody>
          <a:bodyPr wrap="square" anchor="t" lIns="18288" rIns="18288" tIns="18288" bIns="18288">
            <a:spAutoFit/>
          </a:bodyPr>
          <a:lstStyle/>
          <a:p>
            <a:pPr algn="l">
              <a:spcAft>
                <a:spcPts val="0"/>
              </a:spcAft>
            </a:pPr>
            <a:r>
              <a:rPr sz="900" b="1">
                <a:solidFill>
                  <a:srgbClr val="C77600"/>
                </a:solidFill>
                <a:latin typeface="Arial"/>
              </a:rPr>
              <a:t>AREAS OF EXPERTISE</a:t>
            </a:r>
          </a:p>
        </p:txBody>
      </p:sp>
      <p:sp>
        <p:nvSpPr>
          <p:cNvPr id="27" name="TextBox 26"/>
          <p:cNvSpPr txBox="1"/>
          <p:nvPr/>
        </p:nvSpPr>
        <p:spPr>
          <a:xfrm>
            <a:off x="5742432" y="3995928"/>
            <a:ext cx="5422392" cy="246888"/>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________________</a:t>
            </a:r>
          </a:p>
        </p:txBody>
      </p:sp>
      <p:sp>
        <p:nvSpPr>
          <p:cNvPr id="28" name="Rounded Rectangle 27"/>
          <p:cNvSpPr/>
          <p:nvPr/>
        </p:nvSpPr>
        <p:spPr>
          <a:xfrm>
            <a:off x="3995928" y="4608576"/>
            <a:ext cx="7498079" cy="585216"/>
          </a:xfrm>
          <a:prstGeom prst="roundRect">
            <a:avLst>
              <a:gd name="adj" fmla="val 8000"/>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995928" y="4608576"/>
            <a:ext cx="82296" cy="5852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79392" y="4745736"/>
            <a:ext cx="1536192" cy="182880"/>
          </a:xfrm>
          <a:prstGeom prst="rect">
            <a:avLst/>
          </a:prstGeom>
          <a:noFill/>
        </p:spPr>
        <p:txBody>
          <a:bodyPr wrap="square" anchor="t" lIns="18288" rIns="18288" tIns="18288" bIns="18288">
            <a:spAutoFit/>
          </a:bodyPr>
          <a:lstStyle/>
          <a:p>
            <a:pPr algn="l">
              <a:spcAft>
                <a:spcPts val="0"/>
              </a:spcAft>
            </a:pPr>
            <a:r>
              <a:rPr sz="900" b="1">
                <a:solidFill>
                  <a:srgbClr val="1F6FEB"/>
                </a:solidFill>
                <a:latin typeface="Arial"/>
              </a:rPr>
              <a:t>TRAINING EXPERIENCE</a:t>
            </a:r>
          </a:p>
        </p:txBody>
      </p:sp>
      <p:sp>
        <p:nvSpPr>
          <p:cNvPr id="31" name="TextBox 30"/>
          <p:cNvSpPr txBox="1"/>
          <p:nvPr/>
        </p:nvSpPr>
        <p:spPr>
          <a:xfrm>
            <a:off x="5742432" y="4718304"/>
            <a:ext cx="5422392" cy="246888"/>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________________</a:t>
            </a:r>
          </a:p>
        </p:txBody>
      </p:sp>
      <p:sp>
        <p:nvSpPr>
          <p:cNvPr id="32" name="Rounded Rectangle 31"/>
          <p:cNvSpPr/>
          <p:nvPr/>
        </p:nvSpPr>
        <p:spPr>
          <a:xfrm>
            <a:off x="3995928" y="5330952"/>
            <a:ext cx="7498079" cy="585216"/>
          </a:xfrm>
          <a:prstGeom prst="roundRect">
            <a:avLst>
              <a:gd name="adj" fmla="val 8000"/>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95928" y="5330952"/>
            <a:ext cx="82296" cy="5852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79392" y="5468112"/>
            <a:ext cx="1536192" cy="182880"/>
          </a:xfrm>
          <a:prstGeom prst="rect">
            <a:avLst/>
          </a:prstGeom>
          <a:noFill/>
        </p:spPr>
        <p:txBody>
          <a:bodyPr wrap="square" anchor="t" lIns="18288" rIns="18288" tIns="18288" bIns="18288">
            <a:spAutoFit/>
          </a:bodyPr>
          <a:lstStyle/>
          <a:p>
            <a:pPr algn="l">
              <a:spcAft>
                <a:spcPts val="0"/>
              </a:spcAft>
            </a:pPr>
            <a:r>
              <a:rPr sz="900" b="1">
                <a:solidFill>
                  <a:srgbClr val="7C3AED"/>
                </a:solidFill>
                <a:latin typeface="Arial"/>
              </a:rPr>
              <a:t>CONTACT</a:t>
            </a:r>
          </a:p>
        </p:txBody>
      </p:sp>
      <p:sp>
        <p:nvSpPr>
          <p:cNvPr id="35" name="TextBox 34"/>
          <p:cNvSpPr txBox="1"/>
          <p:nvPr/>
        </p:nvSpPr>
        <p:spPr>
          <a:xfrm>
            <a:off x="5742432" y="5440680"/>
            <a:ext cx="5422392" cy="246888"/>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________________</a:t>
            </a:r>
          </a:p>
        </p:txBody>
      </p:sp>
      <p:sp>
        <p:nvSpPr>
          <p:cNvPr id="36" name="TextBox 35"/>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7" name="TextBox 36"/>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8" name="TextBox 37"/>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3</a:t>
            </a:r>
          </a:p>
        </p:txBody>
      </p:sp>
    </p:spTree>
  </p:cSld>
  <p:clrMapOvr>
    <a:masterClrMapping/>
  </p:clrMapOvr>
  <p:transition advClick="1" spd="fast">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COURSE ADMINISTRATION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About the Trainer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19072"/>
            <a:ext cx="3017520" cy="431596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45336" y="2139696"/>
            <a:ext cx="1243584" cy="12435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45336" y="2441448"/>
            <a:ext cx="1243584" cy="411480"/>
          </a:xfrm>
          <a:prstGeom prst="rect">
            <a:avLst/>
          </a:prstGeom>
          <a:noFill/>
        </p:spPr>
        <p:txBody>
          <a:bodyPr wrap="square" anchor="t" lIns="18288" rIns="18288" tIns="18288" bIns="18288">
            <a:spAutoFit/>
          </a:bodyPr>
          <a:lstStyle/>
          <a:p>
            <a:pPr algn="ctr">
              <a:spcAft>
                <a:spcPts val="0"/>
              </a:spcAft>
            </a:pPr>
            <a:r>
              <a:rPr sz="2800" b="1">
                <a:solidFill>
                  <a:srgbClr val="FFFFFF"/>
                </a:solidFill>
                <a:latin typeface="Arial"/>
              </a:rPr>
              <a:t>AA</a:t>
            </a:r>
          </a:p>
        </p:txBody>
      </p:sp>
      <p:sp>
        <p:nvSpPr>
          <p:cNvPr id="10" name="TextBox 9"/>
          <p:cNvSpPr txBox="1"/>
          <p:nvPr/>
        </p:nvSpPr>
        <p:spPr>
          <a:xfrm>
            <a:off x="932688" y="3794760"/>
            <a:ext cx="2468880" cy="438912"/>
          </a:xfrm>
          <a:prstGeom prst="rect">
            <a:avLst/>
          </a:prstGeom>
          <a:noFill/>
        </p:spPr>
        <p:txBody>
          <a:bodyPr wrap="square" anchor="t" lIns="18288" rIns="18288" tIns="18288" bIns="18288">
            <a:spAutoFit/>
          </a:bodyPr>
          <a:lstStyle/>
          <a:p>
            <a:pPr algn="ctr">
              <a:spcAft>
                <a:spcPts val="0"/>
              </a:spcAft>
            </a:pPr>
            <a:r>
              <a:rPr sz="1900" b="1">
                <a:solidFill>
                  <a:srgbClr val="161B26"/>
                </a:solidFill>
                <a:latin typeface="Arial"/>
              </a:rPr>
              <a:t>Dr Alfred Ang</a:t>
            </a:r>
          </a:p>
        </p:txBody>
      </p:sp>
      <p:sp>
        <p:nvSpPr>
          <p:cNvPr id="11" name="TextBox 10"/>
          <p:cNvSpPr txBox="1"/>
          <p:nvPr/>
        </p:nvSpPr>
        <p:spPr>
          <a:xfrm>
            <a:off x="932688" y="4315968"/>
            <a:ext cx="2468880" cy="475488"/>
          </a:xfrm>
          <a:prstGeom prst="rect">
            <a:avLst/>
          </a:prstGeom>
          <a:noFill/>
        </p:spPr>
        <p:txBody>
          <a:bodyPr wrap="square" anchor="t" lIns="18288" rIns="18288" tIns="18288" bIns="18288">
            <a:spAutoFit/>
          </a:bodyPr>
          <a:lstStyle/>
          <a:p>
            <a:pPr algn="ctr">
              <a:spcAft>
                <a:spcPts val="0"/>
              </a:spcAft>
            </a:pPr>
            <a:r>
              <a:rPr sz="1200" b="0">
                <a:solidFill>
                  <a:srgbClr val="5B6372"/>
                </a:solidFill>
                <a:latin typeface="Arial"/>
              </a:rPr>
              <a:t>Lead Trainer · AI and Software Engineering</a:t>
            </a:r>
          </a:p>
        </p:txBody>
      </p:sp>
      <p:sp>
        <p:nvSpPr>
          <p:cNvPr id="12" name="Rounded Rectangle 11"/>
          <p:cNvSpPr/>
          <p:nvPr/>
        </p:nvSpPr>
        <p:spPr>
          <a:xfrm>
            <a:off x="3995928" y="1719072"/>
            <a:ext cx="7498079" cy="585216"/>
          </a:xfrm>
          <a:prstGeom prst="roundRect">
            <a:avLst>
              <a:gd name="adj" fmla="val 8000"/>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95928" y="1719072"/>
            <a:ext cx="82296" cy="5852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79392" y="1856231"/>
            <a:ext cx="1536192" cy="182880"/>
          </a:xfrm>
          <a:prstGeom prst="rect">
            <a:avLst/>
          </a:prstGeom>
          <a:noFill/>
        </p:spPr>
        <p:txBody>
          <a:bodyPr wrap="square" anchor="t" lIns="18288" rIns="18288" tIns="18288" bIns="18288">
            <a:spAutoFit/>
          </a:bodyPr>
          <a:lstStyle/>
          <a:p>
            <a:pPr algn="l">
              <a:spcAft>
                <a:spcPts val="0"/>
              </a:spcAft>
            </a:pPr>
            <a:r>
              <a:rPr sz="900" b="1">
                <a:solidFill>
                  <a:srgbClr val="1F6FEB"/>
                </a:solidFill>
                <a:latin typeface="Arial"/>
              </a:rPr>
              <a:t>ROLE</a:t>
            </a:r>
          </a:p>
        </p:txBody>
      </p:sp>
      <p:sp>
        <p:nvSpPr>
          <p:cNvPr id="15" name="TextBox 14"/>
          <p:cNvSpPr txBox="1"/>
          <p:nvPr/>
        </p:nvSpPr>
        <p:spPr>
          <a:xfrm>
            <a:off x="5742432" y="1828800"/>
            <a:ext cx="5422392" cy="246888"/>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Founder and principal trainer</a:t>
            </a:r>
          </a:p>
        </p:txBody>
      </p:sp>
      <p:sp>
        <p:nvSpPr>
          <p:cNvPr id="16" name="Rounded Rectangle 15"/>
          <p:cNvSpPr/>
          <p:nvPr/>
        </p:nvSpPr>
        <p:spPr>
          <a:xfrm>
            <a:off x="3995928" y="2441448"/>
            <a:ext cx="7498079" cy="585216"/>
          </a:xfrm>
          <a:prstGeom prst="roundRect">
            <a:avLst>
              <a:gd name="adj" fmla="val 8000"/>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95928" y="2441448"/>
            <a:ext cx="82296" cy="5852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79392" y="2578608"/>
            <a:ext cx="1536192" cy="182880"/>
          </a:xfrm>
          <a:prstGeom prst="rect">
            <a:avLst/>
          </a:prstGeom>
          <a:noFill/>
        </p:spPr>
        <p:txBody>
          <a:bodyPr wrap="square" anchor="t" lIns="18288" rIns="18288" tIns="18288" bIns="18288">
            <a:spAutoFit/>
          </a:bodyPr>
          <a:lstStyle/>
          <a:p>
            <a:pPr algn="l">
              <a:spcAft>
                <a:spcPts val="0"/>
              </a:spcAft>
            </a:pPr>
            <a:r>
              <a:rPr sz="900" b="1">
                <a:solidFill>
                  <a:srgbClr val="7C3AED"/>
                </a:solidFill>
                <a:latin typeface="Arial"/>
              </a:rPr>
              <a:t>CERTIFICATION</a:t>
            </a:r>
          </a:p>
        </p:txBody>
      </p:sp>
      <p:sp>
        <p:nvSpPr>
          <p:cNvPr id="19" name="TextBox 18"/>
          <p:cNvSpPr txBox="1"/>
          <p:nvPr/>
        </p:nvSpPr>
        <p:spPr>
          <a:xfrm>
            <a:off x="5742432" y="2551176"/>
            <a:ext cx="5422392" cy="246888"/>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Adult educator and technology specialist</a:t>
            </a:r>
          </a:p>
        </p:txBody>
      </p:sp>
      <p:sp>
        <p:nvSpPr>
          <p:cNvPr id="20" name="Rounded Rectangle 19"/>
          <p:cNvSpPr/>
          <p:nvPr/>
        </p:nvSpPr>
        <p:spPr>
          <a:xfrm>
            <a:off x="3995928" y="3163824"/>
            <a:ext cx="7498079" cy="585216"/>
          </a:xfrm>
          <a:prstGeom prst="roundRect">
            <a:avLst>
              <a:gd name="adj" fmla="val 8000"/>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995928" y="3163824"/>
            <a:ext cx="82296" cy="5852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79392" y="3300984"/>
            <a:ext cx="1536192" cy="182880"/>
          </a:xfrm>
          <a:prstGeom prst="rect">
            <a:avLst/>
          </a:prstGeom>
          <a:noFill/>
        </p:spPr>
        <p:txBody>
          <a:bodyPr wrap="square" anchor="t" lIns="18288" rIns="18288" tIns="18288" bIns="18288">
            <a:spAutoFit/>
          </a:bodyPr>
          <a:lstStyle/>
          <a:p>
            <a:pPr algn="l">
              <a:spcAft>
                <a:spcPts val="0"/>
              </a:spcAft>
            </a:pPr>
            <a:r>
              <a:rPr sz="900" b="1">
                <a:solidFill>
                  <a:srgbClr val="10B981"/>
                </a:solidFill>
                <a:latin typeface="Arial"/>
              </a:rPr>
              <a:t>DELIVERS</a:t>
            </a:r>
          </a:p>
        </p:txBody>
      </p:sp>
      <p:sp>
        <p:nvSpPr>
          <p:cNvPr id="23" name="TextBox 22"/>
          <p:cNvSpPr txBox="1"/>
          <p:nvPr/>
        </p:nvSpPr>
        <p:spPr>
          <a:xfrm>
            <a:off x="5742432" y="3273552"/>
            <a:ext cx="5422392" cy="246888"/>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AI, mobile, cloud and software design programmes</a:t>
            </a:r>
          </a:p>
        </p:txBody>
      </p:sp>
      <p:sp>
        <p:nvSpPr>
          <p:cNvPr id="24" name="Rounded Rectangle 23"/>
          <p:cNvSpPr/>
          <p:nvPr/>
        </p:nvSpPr>
        <p:spPr>
          <a:xfrm>
            <a:off x="3995928" y="3886200"/>
            <a:ext cx="7498079" cy="585216"/>
          </a:xfrm>
          <a:prstGeom prst="roundRect">
            <a:avLst>
              <a:gd name="adj" fmla="val 8000"/>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995928" y="3886200"/>
            <a:ext cx="82296" cy="58521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79392" y="4023360"/>
            <a:ext cx="1536192" cy="182880"/>
          </a:xfrm>
          <a:prstGeom prst="rect">
            <a:avLst/>
          </a:prstGeom>
          <a:noFill/>
        </p:spPr>
        <p:txBody>
          <a:bodyPr wrap="square" anchor="t" lIns="18288" rIns="18288" tIns="18288" bIns="18288">
            <a:spAutoFit/>
          </a:bodyPr>
          <a:lstStyle/>
          <a:p>
            <a:pPr algn="l">
              <a:spcAft>
                <a:spcPts val="0"/>
              </a:spcAft>
            </a:pPr>
            <a:r>
              <a:rPr sz="900" b="1">
                <a:solidFill>
                  <a:srgbClr val="C77600"/>
                </a:solidFill>
                <a:latin typeface="Arial"/>
              </a:rPr>
              <a:t>INDUSTRY FOCUS</a:t>
            </a:r>
          </a:p>
        </p:txBody>
      </p:sp>
      <p:sp>
        <p:nvSpPr>
          <p:cNvPr id="27" name="TextBox 26"/>
          <p:cNvSpPr txBox="1"/>
          <p:nvPr/>
        </p:nvSpPr>
        <p:spPr>
          <a:xfrm>
            <a:off x="5742432" y="3995928"/>
            <a:ext cx="5422392" cy="246888"/>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Applied architecture and product delivery</a:t>
            </a:r>
          </a:p>
        </p:txBody>
      </p:sp>
      <p:sp>
        <p:nvSpPr>
          <p:cNvPr id="28" name="Rounded Rectangle 27"/>
          <p:cNvSpPr/>
          <p:nvPr/>
        </p:nvSpPr>
        <p:spPr>
          <a:xfrm>
            <a:off x="3995928" y="4608576"/>
            <a:ext cx="7498079" cy="585216"/>
          </a:xfrm>
          <a:prstGeom prst="roundRect">
            <a:avLst>
              <a:gd name="adj" fmla="val 8000"/>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995928" y="4608576"/>
            <a:ext cx="82296" cy="5852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79392" y="4745736"/>
            <a:ext cx="1536192" cy="182880"/>
          </a:xfrm>
          <a:prstGeom prst="rect">
            <a:avLst/>
          </a:prstGeom>
          <a:noFill/>
        </p:spPr>
        <p:txBody>
          <a:bodyPr wrap="square" anchor="t" lIns="18288" rIns="18288" tIns="18288" bIns="18288">
            <a:spAutoFit/>
          </a:bodyPr>
          <a:lstStyle/>
          <a:p>
            <a:pPr algn="l">
              <a:spcAft>
                <a:spcPts val="0"/>
              </a:spcAft>
            </a:pPr>
            <a:r>
              <a:rPr sz="900" b="1">
                <a:solidFill>
                  <a:srgbClr val="1F6FEB"/>
                </a:solidFill>
                <a:latin typeface="Arial"/>
              </a:rPr>
              <a:t>TRAINING APPROACH</a:t>
            </a:r>
          </a:p>
        </p:txBody>
      </p:sp>
      <p:sp>
        <p:nvSpPr>
          <p:cNvPr id="31" name="TextBox 30"/>
          <p:cNvSpPr txBox="1"/>
          <p:nvPr/>
        </p:nvSpPr>
        <p:spPr>
          <a:xfrm>
            <a:off x="5742432" y="4718304"/>
            <a:ext cx="5422392" cy="246888"/>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Mechanism-led, evidence-backed practice</a:t>
            </a:r>
          </a:p>
        </p:txBody>
      </p:sp>
      <p:sp>
        <p:nvSpPr>
          <p:cNvPr id="32" name="Rounded Rectangle 31"/>
          <p:cNvSpPr/>
          <p:nvPr/>
        </p:nvSpPr>
        <p:spPr>
          <a:xfrm>
            <a:off x="3995928" y="5330952"/>
            <a:ext cx="7498079" cy="585216"/>
          </a:xfrm>
          <a:prstGeom prst="roundRect">
            <a:avLst>
              <a:gd name="adj" fmla="val 8000"/>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95928" y="5330952"/>
            <a:ext cx="82296" cy="5852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79392" y="5468112"/>
            <a:ext cx="1536192" cy="182880"/>
          </a:xfrm>
          <a:prstGeom prst="rect">
            <a:avLst/>
          </a:prstGeom>
          <a:noFill/>
        </p:spPr>
        <p:txBody>
          <a:bodyPr wrap="square" anchor="t" lIns="18288" rIns="18288" tIns="18288" bIns="18288">
            <a:spAutoFit/>
          </a:bodyPr>
          <a:lstStyle/>
          <a:p>
            <a:pPr algn="l">
              <a:spcAft>
                <a:spcPts val="0"/>
              </a:spcAft>
            </a:pPr>
            <a:r>
              <a:rPr sz="900" b="1">
                <a:solidFill>
                  <a:srgbClr val="7C3AED"/>
                </a:solidFill>
                <a:latin typeface="Arial"/>
              </a:rPr>
              <a:t>CONTACT</a:t>
            </a:r>
          </a:p>
        </p:txBody>
      </p:sp>
      <p:sp>
        <p:nvSpPr>
          <p:cNvPr id="35" name="TextBox 34"/>
          <p:cNvSpPr txBox="1"/>
          <p:nvPr/>
        </p:nvSpPr>
        <p:spPr>
          <a:xfrm>
            <a:off x="5742432" y="5440680"/>
            <a:ext cx="5422392" cy="246888"/>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enquiry@tertiaryinfotech.com</a:t>
            </a:r>
          </a:p>
        </p:txBody>
      </p:sp>
      <p:sp>
        <p:nvSpPr>
          <p:cNvPr id="36" name="TextBox 35"/>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7" name="TextBox 36"/>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8" name="TextBox 37"/>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4</a:t>
            </a:r>
          </a:p>
        </p:txBody>
      </p:sp>
    </p:spTree>
  </p:cSld>
  <p:clrMapOvr>
    <a:masterClrMapping/>
  </p:clrMapOvr>
  <p:transition advClick="1" spd="fast">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COURSE ADMINISTRATION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Learner Introduction</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Experience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Share your Swift, C++ and iOS development background.</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LEARNER</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Outcome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Name one iOS capability you want to design and validate.</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LEARNER</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Evidence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Describe how you currently decide that software works.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LEARNER</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Boundary</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Identify one area where AI assistance needs review.</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LEARNER</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Use the introductions to calibrate examples without changing the regulated learning outcomes.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5</a:t>
            </a:r>
          </a:p>
        </p:txBody>
      </p:sp>
    </p:spTree>
  </p:cSld>
  <p:clrMapOvr>
    <a:masterClrMapping/>
  </p:clrMapOvr>
  <p:transition advClick="1" spd="fast">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GROUND RULES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Working Agreements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Safe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Use mock data; never paste credentials or personal information.</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GOVERNANCE</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Scoped</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Protect unrelated files and approved requirements.</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GOVERNANCE</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Observable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Run checks and retain evidence for material claims.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GOVERNANCE</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Accountable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Human review owns consequential design and release decisions.</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GOVERNANCE</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Ask early when a requirement, permission or acceptance criterion is unclear.</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6</a:t>
            </a:r>
          </a:p>
        </p:txBody>
      </p:sp>
    </p:spTree>
  </p:cSld>
  <p:clrMapOvr>
    <a:masterClrMapping/>
  </p:clrMapOvr>
  <p:transition advClick="1" spd="fast">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THE THROUGH-LINE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Course Architecture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SwiftUI shell</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Apple-native controls, navigation, accessibility and state.</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ARCH-CLEAN</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Objective-C++ adapter</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The single translation seam for types, ownership and errors.</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ARCH-CLEAN</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Portable C++ core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Business invariants, exact values, ports and domain tests.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ARCH-CLEAN</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Evidence pack</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Traceability, tests, ADRs, privacy and deployment checklist.</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ARCH-CLEAN</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Swift supplements the regulated C++ scope; it does not replace it.</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7</a:t>
            </a:r>
          </a:p>
        </p:txBody>
      </p:sp>
    </p:spTree>
  </p:cSld>
  <p:clrMapOvr>
    <a:masterClrMapping/>
  </p:clrMapOvr>
  <p:transition advClick="1" spd="fast">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THE COURSE CONTRACT</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You Specify · AI Generates · Xcode Proves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Specify behaviour</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Generate complete files</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Review and repair</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Build, test and run</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Swift appears as review vocabulary for generated iOS code. Learners own the requirement, protected interfaces, diagnostic and acceptance evidence; Xcode and the Simulator decide whether the proposal works.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8</a:t>
            </a:r>
          </a:p>
        </p:txBody>
      </p:sp>
    </p:spTree>
  </p:cSld>
  <p:clrMapOvr>
    <a:masterClrMapping/>
  </p:clrMapOvr>
  <p:transition advClick="1" spd="fast">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XCODEGEN · XCODE 26 · IOS 17+</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Three Runnable Apps · One Evidence-Driven Journey</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BudgetBuddy</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Regulated portable C++ policy, Objective-C++ seam, Observation state and accessible SwiftUI.</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THREE-APP-JOURNEY</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FocusCards</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Modern SwiftUI flashcard interaction inspired by the legacy course project, generated and tested as a complete app.</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THREE-APP-JOURNEY</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HabitPulse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Stable-identity habit actions that make red → repair → green practice visible in the Simulator.</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THREE-APP-JOURNEY</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Release gate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Every app regenerates from project.yml, builds, tests and launches before any credentialled App Store gate.</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THREE-APP-JOURNEY</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Legacy UIKit examples contribute app concepts only. The learner package uses current SwiftUI, Observation, Swift Testing and XCTest UI automation.</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9</a:t>
            </a:r>
          </a:p>
        </p:txBody>
      </p:sp>
      <p:pic>
        <p:nvPicPr>
          <p:cNvPr id="45" name="Picture 44" descr="BudgetBuddy-AppIcon-1024.png"/>
          <p:cNvPicPr>
            <a:picLocks noChangeAspect="1"/>
          </p:cNvPicPr>
          <p:nvPr/>
        </p:nvPicPr>
        <p:blipFill>
          <a:blip r:embed="rId3"/>
          <a:stretch>
            <a:fillRect/>
          </a:stretch>
        </p:blipFill>
        <p:spPr>
          <a:xfrm>
            <a:off x="832104" y="1856231"/>
            <a:ext cx="530352" cy="530352"/>
          </a:xfrm>
          <a:prstGeom prst="rect">
            <a:avLst/>
          </a:prstGeom>
        </p:spPr>
      </p:pic>
      <p:pic>
        <p:nvPicPr>
          <p:cNvPr id="46" name="Picture 45" descr="FocusCards-AppIcon-1024.png"/>
          <p:cNvPicPr>
            <a:picLocks noChangeAspect="1"/>
          </p:cNvPicPr>
          <p:nvPr/>
        </p:nvPicPr>
        <p:blipFill>
          <a:blip r:embed="rId4"/>
          <a:stretch>
            <a:fillRect/>
          </a:stretch>
        </p:blipFill>
        <p:spPr>
          <a:xfrm>
            <a:off x="3575304" y="1856231"/>
            <a:ext cx="530352" cy="530352"/>
          </a:xfrm>
          <a:prstGeom prst="rect">
            <a:avLst/>
          </a:prstGeom>
        </p:spPr>
      </p:pic>
      <p:pic>
        <p:nvPicPr>
          <p:cNvPr id="47" name="Picture 46" descr="HabitPulse-AppIcon-1024.png"/>
          <p:cNvPicPr>
            <a:picLocks noChangeAspect="1"/>
          </p:cNvPicPr>
          <p:nvPr/>
        </p:nvPicPr>
        <p:blipFill>
          <a:blip r:embed="rId5"/>
          <a:stretch>
            <a:fillRect/>
          </a:stretch>
        </p:blipFill>
        <p:spPr>
          <a:xfrm>
            <a:off x="6318504" y="1856231"/>
            <a:ext cx="530352" cy="530352"/>
          </a:xfrm>
          <a:prstGeom prst="rect">
            <a:avLst/>
          </a:prstGeom>
        </p:spPr>
      </p:pic>
    </p:spTree>
  </p:cSld>
  <p:clrMapOvr>
    <a:masterClrMapping/>
  </p:clrMapOvr>
  <p:transition advClick="1" spd="fast">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PROMPT-DRIVEN ENGINEERING</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Vibe Coding Loop · From Context to Evidence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847088"/>
            <a:ext cx="1956816" cy="3054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847088"/>
            <a:ext cx="195681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59" y="213969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249424"/>
            <a:ext cx="502920" cy="219456"/>
          </a:xfrm>
          <a:prstGeom prst="rect">
            <a:avLst/>
          </a:prstGeom>
          <a:noFill/>
        </p:spPr>
        <p:txBody>
          <a:bodyPr wrap="square" anchor="t" lIns="18288" rIns="18288" tIns="18288" bIns="18288">
            <a:spAutoFit/>
          </a:bodyPr>
          <a:lstStyle/>
          <a:p>
            <a:pPr algn="ctr">
              <a:spcAft>
                <a:spcPts val="0"/>
              </a:spcAft>
            </a:pPr>
            <a:r>
              <a:rPr sz="1600" b="1">
                <a:solidFill>
                  <a:srgbClr val="FFFFFF"/>
                </a:solidFill>
                <a:latin typeface="Arial"/>
              </a:rPr>
              <a:t>1</a:t>
            </a:r>
          </a:p>
        </p:txBody>
      </p:sp>
      <p:sp>
        <p:nvSpPr>
          <p:cNvPr id="11" name="TextBox 10"/>
          <p:cNvSpPr txBox="1"/>
          <p:nvPr/>
        </p:nvSpPr>
        <p:spPr>
          <a:xfrm>
            <a:off x="1426464" y="2194560"/>
            <a:ext cx="987552"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BASELINE</a:t>
            </a:r>
          </a:p>
        </p:txBody>
      </p:sp>
      <p:sp>
        <p:nvSpPr>
          <p:cNvPr id="12" name="TextBox 11"/>
          <p:cNvSpPr txBox="1"/>
          <p:nvPr/>
        </p:nvSpPr>
        <p:spPr>
          <a:xfrm>
            <a:off x="841247" y="2907792"/>
            <a:ext cx="1591056" cy="141732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Capture the current build or failing test before generation.</a:t>
            </a:r>
          </a:p>
        </p:txBody>
      </p:sp>
      <p:sp>
        <p:nvSpPr>
          <p:cNvPr id="13" name="Rounded Rectangle 12"/>
          <p:cNvSpPr/>
          <p:nvPr/>
        </p:nvSpPr>
        <p:spPr>
          <a:xfrm>
            <a:off x="2880360" y="1847088"/>
            <a:ext cx="1956816" cy="3054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0360" y="1847088"/>
            <a:ext cx="195681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044952" y="213969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44952" y="2249424"/>
            <a:ext cx="502920" cy="219456"/>
          </a:xfrm>
          <a:prstGeom prst="rect">
            <a:avLst/>
          </a:prstGeom>
          <a:noFill/>
        </p:spPr>
        <p:txBody>
          <a:bodyPr wrap="square" anchor="t" lIns="18288" rIns="18288" tIns="18288" bIns="18288">
            <a:spAutoFit/>
          </a:bodyPr>
          <a:lstStyle/>
          <a:p>
            <a:pPr algn="ctr">
              <a:spcAft>
                <a:spcPts val="0"/>
              </a:spcAft>
            </a:pPr>
            <a:r>
              <a:rPr sz="1600" b="1">
                <a:solidFill>
                  <a:srgbClr val="FFFFFF"/>
                </a:solidFill>
                <a:latin typeface="Arial"/>
              </a:rPr>
              <a:t>2</a:t>
            </a:r>
          </a:p>
        </p:txBody>
      </p:sp>
      <p:sp>
        <p:nvSpPr>
          <p:cNvPr id="17" name="TextBox 16"/>
          <p:cNvSpPr txBox="1"/>
          <p:nvPr/>
        </p:nvSpPr>
        <p:spPr>
          <a:xfrm>
            <a:off x="3648456" y="2194560"/>
            <a:ext cx="987552" cy="219456"/>
          </a:xfrm>
          <a:prstGeom prst="rect">
            <a:avLst/>
          </a:prstGeom>
          <a:noFill/>
        </p:spPr>
        <p:txBody>
          <a:bodyPr wrap="square" anchor="t" lIns="18288" rIns="18288" tIns="18288" bIns="18288">
            <a:spAutoFit/>
          </a:bodyPr>
          <a:lstStyle/>
          <a:p>
            <a:pPr algn="l">
              <a:spcAft>
                <a:spcPts val="0"/>
              </a:spcAft>
            </a:pPr>
            <a:r>
              <a:rPr sz="1100" b="1">
                <a:solidFill>
                  <a:srgbClr val="7C3AED"/>
                </a:solidFill>
                <a:latin typeface="Arial"/>
              </a:rPr>
              <a:t>PROMPT</a:t>
            </a:r>
          </a:p>
        </p:txBody>
      </p:sp>
      <p:sp>
        <p:nvSpPr>
          <p:cNvPr id="18" name="TextBox 17"/>
          <p:cNvSpPr txBox="1"/>
          <p:nvPr/>
        </p:nvSpPr>
        <p:spPr>
          <a:xfrm>
            <a:off x="3063240" y="2907792"/>
            <a:ext cx="1591056" cy="141732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Name the exact files, protected interfaces and observable finish condition.</a:t>
            </a:r>
          </a:p>
        </p:txBody>
      </p:sp>
      <p:sp>
        <p:nvSpPr>
          <p:cNvPr id="19" name="Rounded Rectangle 18"/>
          <p:cNvSpPr/>
          <p:nvPr/>
        </p:nvSpPr>
        <p:spPr>
          <a:xfrm>
            <a:off x="5102352" y="1847088"/>
            <a:ext cx="1956816" cy="3054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02352" y="1847088"/>
            <a:ext cx="195681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266944" y="213969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66944" y="2249424"/>
            <a:ext cx="502920" cy="219456"/>
          </a:xfrm>
          <a:prstGeom prst="rect">
            <a:avLst/>
          </a:prstGeom>
          <a:noFill/>
        </p:spPr>
        <p:txBody>
          <a:bodyPr wrap="square" anchor="t" lIns="18288" rIns="18288" tIns="18288" bIns="18288">
            <a:spAutoFit/>
          </a:bodyPr>
          <a:lstStyle/>
          <a:p>
            <a:pPr algn="ctr">
              <a:spcAft>
                <a:spcPts val="0"/>
              </a:spcAft>
            </a:pPr>
            <a:r>
              <a:rPr sz="1600" b="1">
                <a:solidFill>
                  <a:srgbClr val="FFFFFF"/>
                </a:solidFill>
                <a:latin typeface="Arial"/>
              </a:rPr>
              <a:t>3</a:t>
            </a:r>
          </a:p>
        </p:txBody>
      </p:sp>
      <p:sp>
        <p:nvSpPr>
          <p:cNvPr id="23" name="TextBox 22"/>
          <p:cNvSpPr txBox="1"/>
          <p:nvPr/>
        </p:nvSpPr>
        <p:spPr>
          <a:xfrm>
            <a:off x="5870448" y="2194560"/>
            <a:ext cx="987552" cy="219456"/>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REVIEW</a:t>
            </a:r>
          </a:p>
        </p:txBody>
      </p:sp>
      <p:sp>
        <p:nvSpPr>
          <p:cNvPr id="24" name="TextBox 23"/>
          <p:cNvSpPr txBox="1"/>
          <p:nvPr/>
        </p:nvSpPr>
        <p:spPr>
          <a:xfrm>
            <a:off x="5285232" y="2907792"/>
            <a:ext cx="1591056" cy="141732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Inspect complete-file output and the diff for boundary or contract drift.</a:t>
            </a:r>
          </a:p>
        </p:txBody>
      </p:sp>
      <p:sp>
        <p:nvSpPr>
          <p:cNvPr id="25" name="Rounded Rectangle 24"/>
          <p:cNvSpPr/>
          <p:nvPr/>
        </p:nvSpPr>
        <p:spPr>
          <a:xfrm>
            <a:off x="7324344" y="1847088"/>
            <a:ext cx="1956816" cy="3054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4344" y="1847088"/>
            <a:ext cx="1956816"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488936" y="2139696"/>
            <a:ext cx="502920" cy="502920"/>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88936" y="2249424"/>
            <a:ext cx="502920" cy="219456"/>
          </a:xfrm>
          <a:prstGeom prst="rect">
            <a:avLst/>
          </a:prstGeom>
          <a:noFill/>
        </p:spPr>
        <p:txBody>
          <a:bodyPr wrap="square" anchor="t" lIns="18288" rIns="18288" tIns="18288" bIns="18288">
            <a:spAutoFit/>
          </a:bodyPr>
          <a:lstStyle/>
          <a:p>
            <a:pPr algn="ctr">
              <a:spcAft>
                <a:spcPts val="0"/>
              </a:spcAft>
            </a:pPr>
            <a:r>
              <a:rPr sz="1600" b="1">
                <a:solidFill>
                  <a:srgbClr val="FFFFFF"/>
                </a:solidFill>
                <a:latin typeface="Arial"/>
              </a:rPr>
              <a:t>4</a:t>
            </a:r>
          </a:p>
        </p:txBody>
      </p:sp>
      <p:sp>
        <p:nvSpPr>
          <p:cNvPr id="29" name="TextBox 28"/>
          <p:cNvSpPr txBox="1"/>
          <p:nvPr/>
        </p:nvSpPr>
        <p:spPr>
          <a:xfrm>
            <a:off x="8092440" y="2194560"/>
            <a:ext cx="987552" cy="219456"/>
          </a:xfrm>
          <a:prstGeom prst="rect">
            <a:avLst/>
          </a:prstGeom>
          <a:noFill/>
        </p:spPr>
        <p:txBody>
          <a:bodyPr wrap="square" anchor="t" lIns="18288" rIns="18288" tIns="18288" bIns="18288">
            <a:spAutoFit/>
          </a:bodyPr>
          <a:lstStyle/>
          <a:p>
            <a:pPr algn="l">
              <a:spcAft>
                <a:spcPts val="0"/>
              </a:spcAft>
            </a:pPr>
            <a:r>
              <a:rPr sz="1100" b="1">
                <a:solidFill>
                  <a:srgbClr val="C77600"/>
                </a:solidFill>
                <a:latin typeface="Arial"/>
              </a:rPr>
              <a:t>REPAIR</a:t>
            </a:r>
          </a:p>
        </p:txBody>
      </p:sp>
      <p:sp>
        <p:nvSpPr>
          <p:cNvPr id="30" name="TextBox 29"/>
          <p:cNvSpPr txBox="1"/>
          <p:nvPr/>
        </p:nvSpPr>
        <p:spPr>
          <a:xfrm>
            <a:off x="7507223" y="2907792"/>
            <a:ext cx="1591056" cy="141732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Feed back the first causal diagnostic. Request the smallest patch.</a:t>
            </a:r>
          </a:p>
        </p:txBody>
      </p:sp>
      <p:sp>
        <p:nvSpPr>
          <p:cNvPr id="31" name="Rounded Rectangle 30"/>
          <p:cNvSpPr/>
          <p:nvPr/>
        </p:nvSpPr>
        <p:spPr>
          <a:xfrm>
            <a:off x="9546336" y="1847088"/>
            <a:ext cx="1956816" cy="3054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46336" y="1847088"/>
            <a:ext cx="195681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710928" y="213969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10928" y="2249424"/>
            <a:ext cx="502920" cy="219456"/>
          </a:xfrm>
          <a:prstGeom prst="rect">
            <a:avLst/>
          </a:prstGeom>
          <a:noFill/>
        </p:spPr>
        <p:txBody>
          <a:bodyPr wrap="square" anchor="t" lIns="18288" rIns="18288" tIns="18288" bIns="18288">
            <a:spAutoFit/>
          </a:bodyPr>
          <a:lstStyle/>
          <a:p>
            <a:pPr algn="ctr">
              <a:spcAft>
                <a:spcPts val="0"/>
              </a:spcAft>
            </a:pPr>
            <a:r>
              <a:rPr sz="1600" b="1">
                <a:solidFill>
                  <a:srgbClr val="FFFFFF"/>
                </a:solidFill>
                <a:latin typeface="Arial"/>
              </a:rPr>
              <a:t>5</a:t>
            </a:r>
          </a:p>
        </p:txBody>
      </p:sp>
      <p:sp>
        <p:nvSpPr>
          <p:cNvPr id="35" name="TextBox 34"/>
          <p:cNvSpPr txBox="1"/>
          <p:nvPr/>
        </p:nvSpPr>
        <p:spPr>
          <a:xfrm>
            <a:off x="10314432" y="2194560"/>
            <a:ext cx="987552"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GREEN</a:t>
            </a:r>
          </a:p>
        </p:txBody>
      </p:sp>
      <p:sp>
        <p:nvSpPr>
          <p:cNvPr id="36" name="TextBox 35"/>
          <p:cNvSpPr txBox="1"/>
          <p:nvPr/>
        </p:nvSpPr>
        <p:spPr>
          <a:xfrm>
            <a:off x="9729215" y="2907792"/>
            <a:ext cx="1591056" cy="141732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Run focused, layer and cross-layer checks. Retain the evidence.</a:t>
            </a:r>
          </a:p>
        </p:txBody>
      </p:sp>
      <p:sp>
        <p:nvSpPr>
          <p:cNvPr id="37" name="Rounded Rectangle 36"/>
          <p:cNvSpPr/>
          <p:nvPr/>
        </p:nvSpPr>
        <p:spPr>
          <a:xfrm>
            <a:off x="658368" y="5212080"/>
            <a:ext cx="10835640" cy="658368"/>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404104"/>
            <a:ext cx="10296144" cy="256032"/>
          </a:xfrm>
          <a:prstGeom prst="rect">
            <a:avLst/>
          </a:prstGeom>
          <a:noFill/>
        </p:spPr>
        <p:txBody>
          <a:bodyPr wrap="square" anchor="t" lIns="18288" rIns="18288" tIns="18288" bIns="18288">
            <a:spAutoFit/>
          </a:bodyPr>
          <a:lstStyle/>
          <a:p>
            <a:pPr algn="l">
              <a:spcAft>
                <a:spcPts val="0"/>
              </a:spcAft>
            </a:pPr>
            <a:r>
              <a:rPr sz="1200" b="1">
                <a:solidFill>
                  <a:srgbClr val="D2E4FF"/>
                </a:solidFill>
                <a:latin typeface="Arial"/>
              </a:rPr>
              <a:t>Prompt output contract: FILE: relative/path, then complete code. No ellipses, TODOs, placeholders or unverified run claims.</a:t>
            </a:r>
          </a:p>
        </p:txBody>
      </p:sp>
      <p:sp>
        <p:nvSpPr>
          <p:cNvPr id="39" name="TextBox 38"/>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0" name="TextBox 39"/>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1" name="TextBox 40"/>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10</a:t>
            </a:r>
          </a:p>
        </p:txBody>
      </p:sp>
    </p:spTree>
  </p:cSld>
  <p:clrMapOvr>
    <a:masterClrMapping/>
  </p:clrMapOvr>
  <p:transition advClick="1" spd="fast">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COPY / ADAPT / VERIFY</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Prompt Anatomy · A Bounded Code-Generation Contract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Context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BudgetBuddy slice, current files and first failing evidence.</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AI-PROMPT-CONTRACT</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Contract</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Exact paths, complete files, no omitted imports or placeholder code.</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AI-PROMPT-CONTRACT</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Guardrails</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 stays portable; Objective-C++ owns translation; Swift uses @Observable.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AI-PROMPT-CONTRACT</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Proof</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CMake/CTest, Swift Testing, XCTest/XCUIAutomation and retained observations.</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AI-PROMPT-CONTRACT</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A useful prompt constrains the change and defines evidence. The assistant proposes code; the learner verifies behaviour and owns acceptance.</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11</a:t>
            </a:r>
          </a:p>
        </p:txBody>
      </p:sp>
    </p:spTree>
  </p:cSld>
  <p:clrMapOvr>
    <a:masterClrMapping/>
  </p:clrMapOvr>
  <p:transition advClick="1" spd="fast">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TWO-DAY ROADMAP</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Course Outline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Topic 1</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Requirements and the Portable Component Boundary</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COURSE-MAP</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Topic 2</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Vibe-Generated Portable Logic and Quality Gates</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COURSE-MAP</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Topic 3</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AI-Generated SwiftUI App Shell and Controls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COURSE-MAP</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Topic 4</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iOS Interoperability, Persistence and Validation</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COURSE-MAP</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Topic 5 completes the evidence and deployment thread; ten Activities progressively build BudgetBuddy.</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12</a:t>
            </a:r>
          </a:p>
        </p:txBody>
      </p:sp>
    </p:spTree>
  </p:cSld>
  <p:clrMapOvr>
    <a:masterClrMapping/>
  </p:clrMapOvr>
  <p:transition advClick="1" spd="fast">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8 CONTACT HOURS · LUNCH 13:00–14:00</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Lesson Plan · Day 1</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09:30–11:00</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Requirements, component boundaries and Activity 1.</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SCHEDULE</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11:00–13:00</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Portable C++ design and Activity 2.</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SCHEDULE</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14:00–16:00</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 methods, tools and AI-assisted TDD.</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SCHEDULE</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16:00–18:30</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Activities 3–4, reflection and evidence review.</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SCHEDULE</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Detailed timings, methods and slide references are in the Lesson Plan.</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13</a:t>
            </a:r>
          </a:p>
        </p:txBody>
      </p:sp>
    </p:spTree>
  </p:cSld>
  <p:clrMapOvr>
    <a:masterClrMapping/>
  </p:clrMapOvr>
  <p:transition advClick="1" spd="fast">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8 CONTACT HOURS · LUNCH 13:00–14:00</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Lesson Plan · Day 2</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09:30–11:15</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SwiftUI controls and Objective-C++ interoperability.</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SCHEDULE</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11:15–13:00</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Activities 5–6 and state validation.</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SCHEDULE</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14:00–16:30</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Activities 7–10, documentation and release evidence.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SCHEDULE</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16:30–18:30</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Written Assessment 1 h · Practical Performance 1 h.</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SCHEDULE</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Both assessments retain the approved one-hour duration.</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14</a:t>
            </a:r>
          </a:p>
        </p:txBody>
      </p:sp>
    </p:spTree>
  </p:cSld>
  <p:clrMapOvr>
    <a:masterClrMapping/>
  </p:clrMapOvr>
  <p:transition advClick="1" spd="fast">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SOFTWARE DESIGN 3</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Regulated Learning Outcomes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LO1</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Determine basic software components using C++ methodologies to meet functional specifications.</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LO1-LO4</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LO2</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Apply C++ methodologies and tools for software creation.</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LO1-LO4</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LO3</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Select essential C++ controls and features to meet software design requirements.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LO1-LO4</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LO4</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Examine the interoperability and functionality of C++ software components.</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LO1-LO4</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LO5: Generate C++ design documentation aligned with user specifications.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15</a:t>
            </a:r>
          </a:p>
        </p:txBody>
      </p:sp>
    </p:spTree>
  </p:cSld>
  <p:clrMapOvr>
    <a:masterClrMapping/>
  </p:clrMapOvr>
  <p:transition advClick="1" spd="fast">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TSC TRACEABILITY</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Knowledge and Ability Pairing</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K1 / A1</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Design requirements for simple, basic software components. Apply through the corresponding Activity evidence.</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K/A-MAP</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K2 / A2</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Basic software design tools and techniques. Apply through the corresponding Activity evidence.</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K/A-MAP</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K3 / A3</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Types of controls, elements and features in software. Apply through the corresponding Activity evidence.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K/A-MAP</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K4 / A4</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Indicators of software functionality and interoperability. Apply through the corresponding Activity evidence.</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K/A-MAP</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K5 / A5: Documentation of design details. Produce detailed design documentation mapped to user specifications.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16</a:t>
            </a:r>
          </a:p>
        </p:txBody>
      </p:sp>
    </p:spTree>
  </p:cSld>
  <p:clrMapOvr>
    <a:masterClrMapping/>
  </p:clrMapOvr>
  <p:transition advClick="1" spd="fast">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READ BEFORE ASSESSMENT</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Briefing for Assessment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Written Assessment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Five open-ended questions · K1–K5 · 1 hour.</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ASSESSMENT</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Practical Performance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Three coherent tasks · A1–A5 · 1 hour.</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ASSESSMENT</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Submission</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Complete the provided document and upload it to the LMS.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ASSESSMENT</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Decision</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Competent or Not Yet Competent, based on stated criteria.</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ASSESSMENT</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Candidate papers contain instructions and grading on page 2; questions and scenario begin on page 3.</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17</a:t>
            </a:r>
          </a:p>
        </p:txBody>
      </p:sp>
    </p:spTree>
  </p:cSld>
  <p:clrMapOvr>
    <a:masterClrMapping/>
  </p:clrMapOvr>
  <p:transition advClick="1" spd="fast">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COURSE ADMINISTRATION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Assessment and Funding</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Attendance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Meet the required attendance threshold and complete TRAQOM.</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ASSESSMENT</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Evidence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Submit both assessment instruments through the LMS.</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ASSESSMENT</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Authenticity</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Complete individual work and explain your implementation.</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ASSESSMENT</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Support</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Ask the assessor to clarify instructions, not supply answers.</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ASSESSMENT</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Assessment answer keys are trainer-only and never linked from learner channels.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18</a:t>
            </a:r>
          </a:p>
        </p:txBody>
      </p:sp>
    </p:spTree>
  </p:cSld>
  <p:clrMapOvr>
    <a:masterClrMapping/>
  </p:clrMapOvr>
  <p:transition advClick="1" spd="fast">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LEARNER MATERIALS · GITHUB</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Access the Course Activities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Clone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Use Git when you want version history and can run a terminal command.</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ACTIVITY-ACCESS</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Download ZIP</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Use Code → Download ZIP when Git is not available on the learner device.</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ACTIVITY-ACCESS</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Verify identity</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Confirm the repository name and course code TGS-2023037545 before using files.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ACTIVITY-ACCESS</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Use the guides</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Open activities/README.md, then enter the matching numbered Activity folder.</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ACTIVITY-ACCESS</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Clone: git clone https://github.com/tertiarycourses/TGS-2023037545-AI-Vibe-Coding-for-iOS-Mobile-Apps-Development.git</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19</a:t>
            </a:r>
          </a:p>
        </p:txBody>
      </p:sp>
      <p:sp>
        <p:nvSpPr>
          <p:cNvPr id="45" name="TextBox 44"/>
          <p:cNvSpPr txBox="1"/>
          <p:nvPr/>
        </p:nvSpPr>
        <p:spPr>
          <a:xfrm>
            <a:off x="1993392" y="5843016"/>
            <a:ext cx="8183879" cy="256032"/>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hlinkClick r:id="rId3"/>
              </a:rPr>
              <a:t>https://github.com/tertiarycourses/TGS-2023037545-AI-Vibe-Coding-for-iOS-Mobile-Apps-Development</a:t>
            </a:r>
          </a:p>
        </p:txBody>
      </p:sp>
    </p:spTree>
  </p:cSld>
  <p:clrMapOvr>
    <a:masterClrMapping/>
  </p:clrMapOvr>
  <p:transition advClick="1" spd="fast">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ASSESSMENT ADMINISTRATION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Assessment Flow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74519"/>
            <a:ext cx="1874519" cy="288036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39595" y="22585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39595" y="2414016"/>
            <a:ext cx="749808" cy="320040"/>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41832" y="3319272"/>
            <a:ext cx="1545336" cy="749808"/>
          </a:xfrm>
          <a:prstGeom prst="rect">
            <a:avLst/>
          </a:prstGeom>
          <a:noFill/>
        </p:spPr>
        <p:txBody>
          <a:bodyPr wrap="square" anchor="ctr" lIns="18288" rIns="18288" tIns="18288" bIns="18288">
            <a:spAutoFit/>
          </a:bodyPr>
          <a:lstStyle/>
          <a:p>
            <a:pPr algn="ctr">
              <a:spcAft>
                <a:spcPts val="0"/>
              </a:spcAft>
            </a:pPr>
            <a:r>
              <a:rPr sz="1300" b="1">
                <a:solidFill>
                  <a:srgbClr val="161B26"/>
                </a:solidFill>
                <a:latin typeface="Arial"/>
              </a:rPr>
              <a:t>TRAQOM</a:t>
            </a:r>
          </a:p>
        </p:txBody>
      </p:sp>
      <p:cxnSp>
        <p:nvCxnSpPr>
          <p:cNvPr id="12" name="Connector 11"/>
          <p:cNvCxnSpPr/>
          <p:nvPr/>
        </p:nvCxnSpPr>
        <p:spPr>
          <a:xfrm>
            <a:off x="2651760" y="3246120"/>
            <a:ext cx="310896"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62656" y="1874519"/>
            <a:ext cx="1874519" cy="288036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874519"/>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5012" y="22585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5012" y="2414016"/>
            <a:ext cx="749808" cy="320040"/>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127248" y="3319272"/>
            <a:ext cx="1545336" cy="749808"/>
          </a:xfrm>
          <a:prstGeom prst="rect">
            <a:avLst/>
          </a:prstGeom>
          <a:noFill/>
        </p:spPr>
        <p:txBody>
          <a:bodyPr wrap="square" anchor="ctr" lIns="18288" rIns="18288" tIns="18288" bIns="18288">
            <a:spAutoFit/>
          </a:bodyPr>
          <a:lstStyle/>
          <a:p>
            <a:pPr algn="ctr">
              <a:spcAft>
                <a:spcPts val="0"/>
              </a:spcAft>
            </a:pPr>
            <a:r>
              <a:rPr sz="1300" b="1">
                <a:solidFill>
                  <a:srgbClr val="161B26"/>
                </a:solidFill>
                <a:latin typeface="Arial"/>
              </a:rPr>
              <a:t>Assessment
attendance</a:t>
            </a:r>
          </a:p>
        </p:txBody>
      </p:sp>
      <p:cxnSp>
        <p:nvCxnSpPr>
          <p:cNvPr id="18" name="Connector 17"/>
          <p:cNvCxnSpPr/>
          <p:nvPr/>
        </p:nvCxnSpPr>
        <p:spPr>
          <a:xfrm>
            <a:off x="4837176" y="3246120"/>
            <a:ext cx="320040"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57216" y="1874519"/>
            <a:ext cx="1874519" cy="288036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7216" y="1874519"/>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2" y="22585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2" y="2414016"/>
            <a:ext cx="749808" cy="320040"/>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5321807" y="3319272"/>
            <a:ext cx="1545336" cy="749808"/>
          </a:xfrm>
          <a:prstGeom prst="rect">
            <a:avLst/>
          </a:prstGeom>
          <a:noFill/>
        </p:spPr>
        <p:txBody>
          <a:bodyPr wrap="square" anchor="ctr" lIns="18288" rIns="18288" tIns="18288" bIns="18288">
            <a:spAutoFit/>
          </a:bodyPr>
          <a:lstStyle/>
          <a:p>
            <a:pPr algn="ctr">
              <a:spcAft>
                <a:spcPts val="0"/>
              </a:spcAft>
            </a:pPr>
            <a:r>
              <a:rPr sz="1300" b="1">
                <a:solidFill>
                  <a:srgbClr val="161B26"/>
                </a:solidFill>
                <a:latin typeface="Arial"/>
              </a:rPr>
              <a:t>WA then PP</a:t>
            </a:r>
          </a:p>
        </p:txBody>
      </p:sp>
      <p:cxnSp>
        <p:nvCxnSpPr>
          <p:cNvPr id="24" name="Connector 23"/>
          <p:cNvCxnSpPr/>
          <p:nvPr/>
        </p:nvCxnSpPr>
        <p:spPr>
          <a:xfrm>
            <a:off x="7031736" y="3246120"/>
            <a:ext cx="310895"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42631" y="1874519"/>
            <a:ext cx="1874519" cy="288036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2631"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258568"/>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14016"/>
            <a:ext cx="749808" cy="320040"/>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7507223" y="3319272"/>
            <a:ext cx="1545336" cy="749808"/>
          </a:xfrm>
          <a:prstGeom prst="rect">
            <a:avLst/>
          </a:prstGeom>
          <a:noFill/>
        </p:spPr>
        <p:txBody>
          <a:bodyPr wrap="square" anchor="ctr" lIns="18288" rIns="18288" tIns="18288" bIns="18288">
            <a:spAutoFit/>
          </a:bodyPr>
          <a:lstStyle/>
          <a:p>
            <a:pPr algn="ctr">
              <a:spcAft>
                <a:spcPts val="0"/>
              </a:spcAft>
            </a:pPr>
            <a:r>
              <a:rPr sz="1300" b="1">
                <a:solidFill>
                  <a:srgbClr val="161B26"/>
                </a:solidFill>
                <a:latin typeface="Arial"/>
              </a:rPr>
              <a:t>Submit on
the LMS</a:t>
            </a:r>
          </a:p>
        </p:txBody>
      </p:sp>
      <p:cxnSp>
        <p:nvCxnSpPr>
          <p:cNvPr id="30" name="Connector 29"/>
          <p:cNvCxnSpPr/>
          <p:nvPr/>
        </p:nvCxnSpPr>
        <p:spPr>
          <a:xfrm>
            <a:off x="9217151" y="3246120"/>
            <a:ext cx="320041" cy="0"/>
          </a:xfrm>
          <a:prstGeom prst="line">
            <a:avLst/>
          </a:prstGeom>
          <a:ln w="25400">
            <a:solidFill>
              <a:srgbClr val="C77600"/>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37192" y="1874519"/>
            <a:ext cx="1874519" cy="288036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719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9548" y="22585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9548" y="2414016"/>
            <a:ext cx="749808" cy="320040"/>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5</a:t>
            </a:r>
          </a:p>
        </p:txBody>
      </p:sp>
      <p:sp>
        <p:nvSpPr>
          <p:cNvPr id="35" name="TextBox 34"/>
          <p:cNvSpPr txBox="1"/>
          <p:nvPr/>
        </p:nvSpPr>
        <p:spPr>
          <a:xfrm>
            <a:off x="9701784" y="3319272"/>
            <a:ext cx="1545336" cy="749808"/>
          </a:xfrm>
          <a:prstGeom prst="rect">
            <a:avLst/>
          </a:prstGeom>
          <a:noFill/>
        </p:spPr>
        <p:txBody>
          <a:bodyPr wrap="square" anchor="ctr" lIns="18288" rIns="18288" tIns="18288" bIns="18288">
            <a:spAutoFit/>
          </a:bodyPr>
          <a:lstStyle/>
          <a:p>
            <a:pPr algn="ctr">
              <a:spcAft>
                <a:spcPts val="0"/>
              </a:spcAft>
            </a:pPr>
            <a:r>
              <a:rPr sz="1300" b="1">
                <a:solidFill>
                  <a:srgbClr val="161B26"/>
                </a:solidFill>
                <a:latin typeface="Arial"/>
              </a:rPr>
              <a:t>Sign the
ASR</a:t>
            </a:r>
          </a:p>
        </p:txBody>
      </p:sp>
      <p:sp>
        <p:nvSpPr>
          <p:cNvPr id="36" name="Rounded Rectangle 35"/>
          <p:cNvSpPr/>
          <p:nvPr/>
        </p:nvSpPr>
        <p:spPr>
          <a:xfrm>
            <a:off x="777240" y="5047488"/>
            <a:ext cx="10634472" cy="6126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5840" y="5230368"/>
            <a:ext cx="10104120"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ASR = Assessment Summary Record · complete the sign-off only after both instruments are submitted.</a:t>
            </a:r>
          </a:p>
        </p:txBody>
      </p:sp>
      <p:sp>
        <p:nvSpPr>
          <p:cNvPr id="38" name="TextBox 37"/>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9" name="TextBox 38"/>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0" name="TextBox 39"/>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20</a:t>
            </a:r>
          </a:p>
        </p:txBody>
      </p:sp>
    </p:spTree>
  </p:cSld>
  <p:clrMapOvr>
    <a:masterClrMapping/>
  </p:clrMapOvr>
  <p:transition advClick="1" spd="fast">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737360"/>
            <a:ext cx="10835640" cy="329184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28016" cy="3291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48840"/>
            <a:ext cx="7680960" cy="310896"/>
          </a:xfrm>
          <a:prstGeom prst="rect">
            <a:avLst/>
          </a:prstGeom>
          <a:noFill/>
        </p:spPr>
        <p:txBody>
          <a:bodyPr wrap="square" anchor="t" lIns="18288" rIns="18288" tIns="18288" bIns="18288">
            <a:spAutoFit/>
          </a:bodyPr>
          <a:lstStyle/>
          <a:p>
            <a:pPr algn="l">
              <a:spcAft>
                <a:spcPts val="0"/>
              </a:spcAft>
            </a:pPr>
            <a:r>
              <a:rPr sz="1500" b="1">
                <a:solidFill>
                  <a:srgbClr val="1F6FEB"/>
                </a:solidFill>
                <a:latin typeface="Arial"/>
              </a:rPr>
              <a:t>TOPIC 1 · LO1 · K1 · A1</a:t>
            </a:r>
          </a:p>
        </p:txBody>
      </p:sp>
      <p:sp>
        <p:nvSpPr>
          <p:cNvPr id="6" name="TextBox 5"/>
          <p:cNvSpPr txBox="1"/>
          <p:nvPr/>
        </p:nvSpPr>
        <p:spPr>
          <a:xfrm>
            <a:off x="1280160" y="2606040"/>
            <a:ext cx="8732520" cy="932688"/>
          </a:xfrm>
          <a:prstGeom prst="rect">
            <a:avLst/>
          </a:prstGeom>
          <a:noFill/>
        </p:spPr>
        <p:txBody>
          <a:bodyPr wrap="square" anchor="ctr" lIns="18288" rIns="18288" tIns="18288" bIns="18288">
            <a:spAutoFit/>
          </a:bodyPr>
          <a:lstStyle/>
          <a:p>
            <a:pPr algn="l">
              <a:spcAft>
                <a:spcPts val="0"/>
              </a:spcAft>
            </a:pPr>
            <a:r>
              <a:rPr sz="3400" b="1">
                <a:solidFill>
                  <a:srgbClr val="161B26"/>
                </a:solidFill>
                <a:latin typeface="Arial"/>
              </a:rPr>
              <a:t>Requirements and the Portable Component Boundary</a:t>
            </a:r>
          </a:p>
        </p:txBody>
      </p:sp>
      <p:sp>
        <p:nvSpPr>
          <p:cNvPr id="7" name="TextBox 6"/>
          <p:cNvSpPr txBox="1"/>
          <p:nvPr/>
        </p:nvSpPr>
        <p:spPr>
          <a:xfrm>
            <a:off x="1280160" y="3767328"/>
            <a:ext cx="8732520" cy="658368"/>
          </a:xfrm>
          <a:prstGeom prst="rect">
            <a:avLst/>
          </a:prstGeom>
          <a:noFill/>
        </p:spPr>
        <p:txBody>
          <a:bodyPr wrap="square" anchor="t" lIns="18288" rIns="18288" tIns="18288" bIns="18288">
            <a:spAutoFit/>
          </a:bodyPr>
          <a:lstStyle/>
          <a:p>
            <a:pPr algn="l">
              <a:spcAft>
                <a:spcPts val="0"/>
              </a:spcAft>
            </a:pPr>
            <a:r>
              <a:rPr sz="1400" b="0">
                <a:solidFill>
                  <a:srgbClr val="5B6372"/>
                </a:solidFill>
                <a:latin typeface="Arial"/>
              </a:rPr>
              <a:t>LO1: Determine basic software components using C++ methodologies to meet functional specifications.</a:t>
            </a:r>
          </a:p>
        </p:txBody>
      </p:sp>
      <p:sp>
        <p:nvSpPr>
          <p:cNvPr id="8" name="TextBox 7"/>
          <p:cNvSpPr txBox="1"/>
          <p:nvPr/>
        </p:nvSpPr>
        <p:spPr>
          <a:xfrm>
            <a:off x="9674352" y="658368"/>
            <a:ext cx="1417320" cy="658368"/>
          </a:xfrm>
          <a:prstGeom prst="rect">
            <a:avLst/>
          </a:prstGeom>
          <a:noFill/>
        </p:spPr>
        <p:txBody>
          <a:bodyPr wrap="square" anchor="t" lIns="18288" rIns="18288" tIns="18288" bIns="18288">
            <a:spAutoFit/>
          </a:bodyPr>
          <a:lstStyle/>
          <a:p>
            <a:pPr algn="r">
              <a:spcAft>
                <a:spcPts val="0"/>
              </a:spcAft>
            </a:pPr>
            <a:r>
              <a:rPr sz="5400" b="1">
                <a:solidFill>
                  <a:srgbClr val="D7E0EA"/>
                </a:solidFill>
                <a:latin typeface="Arial"/>
              </a:rPr>
              <a:t>01</a:t>
            </a:r>
          </a:p>
        </p:txBody>
      </p:sp>
      <p:sp>
        <p:nvSpPr>
          <p:cNvPr id="9" name="TextBox 8"/>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0" name="TextBox 9"/>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11" name="TextBox 10"/>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21</a:t>
            </a:r>
          </a:p>
        </p:txBody>
      </p:sp>
    </p:spTree>
  </p:cSld>
  <p:clrMapOvr>
    <a:masterClrMapping/>
  </p:clrMapOvr>
  <p:transition advClick="1" spd="med">
    <p:push dir="l"/>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1 · LO1 · K1 · A1</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Functional requirements become contracts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Elicit need</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actor</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TSC-K1</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State invariant</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input</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TSC-K1</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Define interface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rule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TSC-K1</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Write acceptance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output</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TSC-K1</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Translate each user story into an invariant and testable acceptance criterion.</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22</a:t>
            </a:r>
          </a:p>
        </p:txBody>
      </p:sp>
    </p:spTree>
  </p:cSld>
  <p:clrMapOvr>
    <a:masterClrMapping/>
  </p:clrMapOvr>
  <p:transition advClick="1" spd="fast">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1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Functional requirements become contracts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Elicit need</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State invariant</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Define interface</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Write acceptance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 prompt says build an app but never defines observable success. Control: Translate each user story into an invariant and testable acceptance criterion.</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23</a:t>
            </a:r>
          </a:p>
        </p:txBody>
      </p:sp>
    </p:spTree>
  </p:cSld>
  <p:clrMapOvr>
    <a:masterClrMapping/>
  </p:clrMapOvr>
  <p:transition advClick="1" spd="fast">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Functional requirements become contracts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struct Requirement { std::string id; bool testable; };</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actor</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input</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rule</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output</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Accepted behaviours / specified behaviours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24</a:t>
            </a:r>
          </a:p>
        </p:txBody>
      </p:sp>
    </p:spTree>
  </p:cSld>
  <p:clrMapOvr>
    <a:masterClrMapping/>
  </p:clrMapOvr>
  <p:transition advClick="1" spd="fast">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1 · LO1 · K1 · A1</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Separate business rules from the iOS shell</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SwiftUI event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View</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CPP-BOUNDARY</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Adapter call</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Bridge</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CPP-BOUNDARY</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 rule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Domain</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CPP-BOUNDARY</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Value result</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Result</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CPP-BOUNDARY</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Keep portable policy in C++; keep presentation and Apple frameworks in Swift.</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25</a:t>
            </a:r>
          </a:p>
        </p:txBody>
      </p:sp>
    </p:spTree>
  </p:cSld>
  <p:clrMapOvr>
    <a:masterClrMapping/>
  </p:clrMapOvr>
  <p:transition advClick="1" spd="fast">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1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Separate business rules from the iOS shell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SwiftUI event</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Adapter call</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 rule</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Value result</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Rules leak into View bodies and cannot be reused or isolated. Control: Keep portable policy in C++; keep presentation and Apple frameworks in Swift.</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26</a:t>
            </a:r>
          </a:p>
        </p:txBody>
      </p:sp>
    </p:spTree>
  </p:cSld>
  <p:clrMapOvr>
    <a:masterClrMapping/>
  </p:clrMapOvr>
  <p:transition advClick="1" spd="fast">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Separate business rules from the iOS shell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class BudgetPolicy { public: Decision evaluate(const Input&amp;) const; };</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View</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Bridge</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Domain</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Result</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Domain tests runnable without Simulator</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27</a:t>
            </a:r>
          </a:p>
        </p:txBody>
      </p:sp>
    </p:spTree>
  </p:cSld>
  <p:clrMapOvr>
    <a:masterClrMapping/>
  </p:clrMapOvr>
  <p:transition advClick="1" spd="fast">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1 · LO1 · K1 · A1</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Define a narrow C ABI seam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Choose values</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int64_t</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OBJCXX-ABI</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Stabilise types</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const char*</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OBJCXX-ABI</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Expose function</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opaque handle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OBJCXX-ABI</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Wrap in Swift</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status code</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OBJCXX-ABI</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Expose C-compatible data at the boundary; hide implementation behind the adapter.</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28</a:t>
            </a:r>
          </a:p>
        </p:txBody>
      </p:sp>
    </p:spTree>
  </p:cSld>
  <p:clrMapOvr>
    <a:masterClrMapping/>
  </p:clrMapOvr>
  <p:transition advClick="1" spd="fast">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1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Define a narrow C ABI seam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Choose values</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Stabilise types</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Expose function</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Wrap in Swift</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C++ templates or STL containers cross directly into Swift. Control: Expose C-compatible data at the boundary; hide implementation behind the adapter.</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29</a:t>
            </a:r>
          </a:p>
        </p:txBody>
      </p:sp>
    </p:spTree>
  </p:cSld>
  <p:clrMapOvr>
    <a:masterClrMapping/>
  </p:clrMapOvr>
  <p:transition advClick="1" spd="fast">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Define a narrow C ABI seam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extern "C" BudgetResult budget_evaluate(BudgetInput input);</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int64_t</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const char*</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opaque handle</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status code</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Boundary surface measured in stable operations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30</a:t>
            </a:r>
          </a:p>
        </p:txBody>
      </p:sp>
    </p:spTree>
  </p:cSld>
  <p:clrMapOvr>
    <a:masterClrMapping/>
  </p:clrMapOvr>
  <p:transition advClick="1" spd="fast">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1 · LO1 · K1 · A1</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Model money without floating-point drift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Accept decimal</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minor units</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CPP-VALUE</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Convert to cents</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currency</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CPP-VALUE</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Compute in integer</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rounding</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CPP-VALUE</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Format for UI</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display</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CPP-VALUE</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Represent monetary amounts as signed 64-bit minor units in the domain.</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31</a:t>
            </a:r>
          </a:p>
        </p:txBody>
      </p:sp>
    </p:spTree>
  </p:cSld>
  <p:clrMapOvr>
    <a:masterClrMapping/>
  </p:clrMapOvr>
  <p:transition advClick="1" spd="fast">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1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Model money without floating-point drift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Accept decimal</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Convert to cents</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Compute in integer</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Format for UI</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Binary floating point creates a one-cent mismatch. Control: Represent monetary amounts as signed 64-bit minor units in the domain.</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32</a:t>
            </a:r>
          </a:p>
        </p:txBody>
      </p:sp>
    </p:spTree>
  </p:cSld>
  <p:clrMapOvr>
    <a:masterClrMapping/>
  </p:clrMapOvr>
  <p:transition advClick="1" spd="fast">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Model money without floating-point drift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struct Money { std::int64_t cents; };</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minor units</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currency</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rounding</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display</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Exact equality for ledger totals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33</a:t>
            </a:r>
          </a:p>
        </p:txBody>
      </p:sp>
    </p:spTree>
  </p:cSld>
  <p:clrMapOvr>
    <a:masterClrMapping/>
  </p:clrMapOvr>
  <p:transition advClick="1" spd="fast">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1 · LO1 · K1 · A1</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Design immutable value objects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Validate input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invariant</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CPP-OOP</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Construct value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constructor</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CPP-OOP</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Pass by const ref</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const</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CPP-OOP</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Return new value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equality</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CPP-OOP</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Make invariants constructor-level and expose values through read-only accessors.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34</a:t>
            </a:r>
          </a:p>
        </p:txBody>
      </p:sp>
    </p:spTree>
  </p:cSld>
  <p:clrMapOvr>
    <a:masterClrMapping/>
  </p:clrMapOvr>
  <p:transition advClick="1" spd="fast">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1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Design immutable value objects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Validate input</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Construct value</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Pass by const ref</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Return new value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Partially initialised objects travel through the system. Control: Make invariants constructor-level and expose values through read-only accessors.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35</a:t>
            </a:r>
          </a:p>
        </p:txBody>
      </p:sp>
    </p:spTree>
  </p:cSld>
  <p:clrMapOvr>
    <a:masterClrMapping/>
  </p:clrMapOvr>
  <p:transition advClick="1" spd="fast">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Design immutable value objects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class Category { std::string value_; public: explicit Category(std::string); };</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invariant</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constructor</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const</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equality</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Invalid states rejected at construction</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36</a:t>
            </a:r>
          </a:p>
        </p:txBody>
      </p:sp>
    </p:spTree>
  </p:cSld>
  <p:clrMapOvr>
    <a:masterClrMapping/>
  </p:clrMapOvr>
  <p:transition advClick="1" spd="fast">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1 · LO1 · K1 · A1</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Map a user story to an interface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Read story</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story</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TSC-A1</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Find verb</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command</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TSC-A1</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Name operation</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query</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TSC-A1</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Specify result</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error</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TSC-A1</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Name operations after domain decisions, then let SwiftUI adapt them.</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37</a:t>
            </a:r>
          </a:p>
        </p:txBody>
      </p:sp>
    </p:spTree>
  </p:cSld>
  <p:clrMapOvr>
    <a:masterClrMapping/>
  </p:clrMapOvr>
  <p:transition advClick="1" spd="fast">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1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Map a user story to an interface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Read story</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Find verb</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Name operation</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Specify result</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The API mirrors screen widgets instead of business intent. Control: Name operations after domain decisions, then let SwiftUI adapt them.</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38</a:t>
            </a:r>
          </a:p>
        </p:txBody>
      </p:sp>
    </p:spTree>
  </p:cSld>
  <p:clrMapOvr>
    <a:masterClrMapping/>
  </p:clrMapOvr>
  <p:transition advClick="1" spd="fast">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Map a user story to an interface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virtual AddResult addExpense(const ExpenseDraft&amp;) = 0;</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story</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command</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query</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error</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Traceable story-to-operation mapping</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39</a:t>
            </a:r>
          </a:p>
        </p:txBody>
      </p:sp>
    </p:spTree>
  </p:cSld>
  <p:clrMapOvr>
    <a:masterClrMapping/>
  </p:clrMapOvr>
  <p:transition advClick="1" spd="fast">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1 · LO1 · K1 · A1</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Use acceptance criteria as design pressure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Given state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precondition</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REQ-TRACE</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When action</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trigger</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REQ-TRACE</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Then outcome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postcondition</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REQ-TRACE</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And evidence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artifact</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REQ-TRACE</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Write externally observable outcomes before selecting controls or tools.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40</a:t>
            </a:r>
          </a:p>
        </p:txBody>
      </p:sp>
    </p:spTree>
  </p:cSld>
  <p:clrMapOvr>
    <a:masterClrMapping/>
  </p:clrMapOvr>
  <p:transition advClick="1" spd="fast">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1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Use acceptance criteria as design pressure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Given state</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When action</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Then outcome</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And evidence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Acceptance criteria describe implementation steps rather than outcomes. Control: Write externally observable outcomes before selecting controls or tools.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41</a:t>
            </a:r>
          </a:p>
        </p:txBody>
      </p:sp>
    </p:spTree>
  </p:cSld>
  <p:clrMapOvr>
    <a:masterClrMapping/>
  </p:clrMapOvr>
  <p:transition advClick="1" spd="fast">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Use acceptance criteria as design pressure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 Given valid draft, when added, then total increases by exact cents.</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precondition</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trigger</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postcondition</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artifact</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Criteria with deterministic evidence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42</a:t>
            </a:r>
          </a:p>
        </p:txBody>
      </p:sp>
    </p:spTree>
  </p:cSld>
  <p:clrMapOvr>
    <a:masterClrMapping/>
  </p:clrMapOvr>
  <p:transition advClick="1" spd="fast">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1 · LO1 · K1 · A1</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Choose component granularity</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Find responsibility</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responsibility</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ARCH-CLEAN</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Measure cohesion</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cohesion</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ARCH-CLEAN</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Inspect coupling</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dependency</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ARCH-CLEAN</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Cut boundary</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contract</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ARCH-CLEAN</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Partition by responsibility and dependency direction, not by file-count targets.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43</a:t>
            </a:r>
          </a:p>
        </p:txBody>
      </p:sp>
    </p:spTree>
  </p:cSld>
  <p:clrMapOvr>
    <a:masterClrMapping/>
  </p:clrMapOvr>
  <p:transition advClick="1" spd="fast">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1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Choose component granularity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Find responsibility</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Measure cohesion</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Inspect coupling</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Cut boundary</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 single Manager object owns UI, persistence, validation and policy. Control: Partition by responsibility and dependency direction, not by file-count targets.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44</a:t>
            </a:r>
          </a:p>
        </p:txBody>
      </p:sp>
    </p:spTree>
  </p:cSld>
  <p:clrMapOvr>
    <a:masterClrMapping/>
  </p:clrMapOvr>
  <p:transition advClick="1" spd="fast">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Choose component granularity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ExpenseService -&gt; ExpenseRepository; ViewModel -&gt; ExpenseService;</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responsibility</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cohesion</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dependency</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contract</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Reasons-to-change per component</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45</a:t>
            </a:r>
          </a:p>
        </p:txBody>
      </p:sp>
    </p:spTree>
  </p:cSld>
  <p:clrMapOvr>
    <a:masterClrMapping/>
  </p:clrMapOvr>
  <p:transition advClick="1" spd="fast">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1 · LO1 · K1 · A1</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Express failure in the contract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Enumerate faults</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validation</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CPP-ERROR</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Classify recoverability</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storage</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CPP-ERROR</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Create result type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bridge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CPP-ERROR</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Map to message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unexpected</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CPP-ERROR</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Use typed errors in C++; translate them once at the Objective-C++ edge.</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46</a:t>
            </a:r>
          </a:p>
        </p:txBody>
      </p:sp>
    </p:spTree>
  </p:cSld>
  <p:clrMapOvr>
    <a:masterClrMapping/>
  </p:clrMapOvr>
  <p:transition advClick="1" spd="fast">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1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Express failure in the contract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Enumerate faults</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Classify recoverability</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Create result type</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Map to message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 Boolean failure discards the cause and repair path. Control: Use typed errors in C++; translate them once at the Objective-C++ edge.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47</a:t>
            </a:r>
          </a:p>
        </p:txBody>
      </p:sp>
    </p:spTree>
  </p:cSld>
  <p:clrMapOvr>
    <a:masterClrMapping/>
  </p:clrMapOvr>
  <p:transition advClick="1" spd="fast">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Express failure in the contract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using AddResult = std::variant&lt;ExpenseId, DomainError&gt;;</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validation</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storage</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bridge</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unexpected</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Failure variants handled explicitly</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48</a:t>
            </a:r>
          </a:p>
        </p:txBody>
      </p:sp>
    </p:spTree>
  </p:cSld>
  <p:clrMapOvr>
    <a:masterClrMapping/>
  </p:clrMapOvr>
  <p:transition advClick="1" spd="fast">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1 · LO1 · K1 · A1</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Estimate before implementation</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Slice capability</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must</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DESIGN-TOOL</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Expose unknowns</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should</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DESIGN-TOOL</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Prototype seam</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risk</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DESIGN-TOOL</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Commit scope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spike</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DESIGN-TOOL</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Time-box an Objective-C++ seam spike before committing the architecture.</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49</a:t>
            </a:r>
          </a:p>
        </p:txBody>
      </p:sp>
    </p:spTree>
  </p:cSld>
  <p:clrMapOvr>
    <a:masterClrMapping/>
  </p:clrMapOvr>
  <p:transition advClick="1" spd="fast">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1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Estimate before implementation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Slice capability</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Expose unknowns</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Prototype seam</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Commit scope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The hardest bridge uncertainty appears late in the capstone. Control: Time-box an Objective-C++ seam spike before committing the architecture.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50</a:t>
            </a:r>
          </a:p>
        </p:txBody>
      </p:sp>
    </p:spTree>
  </p:cSld>
  <p:clrMapOvr>
    <a:masterClrMapping/>
  </p:clrMapOvr>
  <p:transition advClick="1" spd="fast">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Estimate before implementation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 Spike: Swift -&gt; ObjC++ -&gt; C++ -&gt; immutable result</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must</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should</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risk</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spike</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Unknowns retired before full build</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51</a:t>
            </a:r>
          </a:p>
        </p:txBody>
      </p:sp>
    </p:spTree>
  </p:cSld>
  <p:clrMapOvr>
    <a:masterClrMapping/>
  </p:clrMapOvr>
  <p:transition advClick="1" spd="fast">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1 · LO1 · K1 · A1</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Requirements baseline and change control</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Version baseline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requirement id</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GOV-AI</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Record decision</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version</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GOV-AI</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Link change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rationale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GOV-AI</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Re-run impact</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affected tests</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GOV-AI</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Treat AI output as a proposal against a versioned baseline.</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52</a:t>
            </a:r>
          </a:p>
        </p:txBody>
      </p:sp>
    </p:spTree>
  </p:cSld>
  <p:clrMapOvr>
    <a:masterClrMapping/>
  </p:clrMapOvr>
  <p:transition advClick="1" spd="fast">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1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Requirements baseline and change control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Version baseline</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Record decision</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Link change</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Re-run impact</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 model-generated change silently alters an approved requirement. Control: Treat AI output as a proposal against a versioned baseline.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53</a:t>
            </a:r>
          </a:p>
        </p:txBody>
      </p:sp>
    </p:spTree>
  </p:cSld>
  <p:clrMapOvr>
    <a:masterClrMapping/>
  </p:clrMapOvr>
  <p:transition advClick="1" spd="fast">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Requirements baseline and change control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struct Change { std::string requirementId; std::string rationale; };</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requirement id</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version</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rationale</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affected tests</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Changes with explicit downstream impact</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54</a:t>
            </a:r>
          </a:p>
        </p:txBody>
      </p:sp>
    </p:spTree>
  </p:cSld>
  <p:clrMapOvr>
    <a:masterClrMapping/>
  </p:clrMapOvr>
  <p:transition advClick="1" spd="fast">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C77600"/>
                </a:solidFill>
                <a:latin typeface="Arial"/>
              </a:rPr>
              <a:t>TOPIC 1 · NATIVE POWERPOINT CHART</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Topic 1 · Evidence Coverage by Layer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41248" y="1773936"/>
          <a:ext cx="717804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302752" y="1773936"/>
            <a:ext cx="3191256" cy="388620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77072" y="2048256"/>
            <a:ext cx="2651760" cy="228600"/>
          </a:xfrm>
          <a:prstGeom prst="rect">
            <a:avLst/>
          </a:prstGeom>
          <a:noFill/>
        </p:spPr>
        <p:txBody>
          <a:bodyPr wrap="square" anchor="t" lIns="18288" rIns="18288" tIns="18288" bIns="18288">
            <a:spAutoFit/>
          </a:bodyPr>
          <a:lstStyle/>
          <a:p>
            <a:pPr algn="l">
              <a:spcAft>
                <a:spcPts val="0"/>
              </a:spcAft>
            </a:pPr>
            <a:r>
              <a:rPr sz="1100" b="1">
                <a:solidFill>
                  <a:srgbClr val="C77600"/>
                </a:solidFill>
                <a:latin typeface="Arial"/>
              </a:rPr>
              <a:t>WHAT THE DATA SHOWS</a:t>
            </a:r>
          </a:p>
        </p:txBody>
      </p:sp>
      <p:sp>
        <p:nvSpPr>
          <p:cNvPr id="10" name="TextBox 9"/>
          <p:cNvSpPr txBox="1"/>
          <p:nvPr/>
        </p:nvSpPr>
        <p:spPr>
          <a:xfrm>
            <a:off x="8577072" y="2542032"/>
            <a:ext cx="2578608" cy="2231136"/>
          </a:xfrm>
          <a:prstGeom prst="rect">
            <a:avLst/>
          </a:prstGeom>
          <a:noFill/>
        </p:spPr>
        <p:txBody>
          <a:bodyPr wrap="square" anchor="ctr" lIns="18288" rIns="18288" tIns="18288" bIns="18288">
            <a:spAutoFit/>
          </a:bodyPr>
          <a:lstStyle/>
          <a:p>
            <a:pPr algn="l">
              <a:spcAft>
                <a:spcPts val="0"/>
              </a:spcAft>
            </a:pPr>
            <a:r>
              <a:rPr sz="1600" b="1">
                <a:solidFill>
                  <a:srgbClr val="161B26"/>
                </a:solidFill>
                <a:latin typeface="Arial"/>
              </a:rPr>
              <a:t>Coverage should form a connected chain. A polished UI cannot compensate for untested invariants or an undocumented seam.</a:t>
            </a:r>
          </a:p>
        </p:txBody>
      </p:sp>
      <p:sp>
        <p:nvSpPr>
          <p:cNvPr id="11" name="TextBox 10"/>
          <p:cNvSpPr txBox="1"/>
          <p:nvPr/>
        </p:nvSpPr>
        <p:spPr>
          <a:xfrm>
            <a:off x="8577072" y="5010912"/>
            <a:ext cx="2578608" cy="384048"/>
          </a:xfrm>
          <a:prstGeom prst="rect">
            <a:avLst/>
          </a:prstGeom>
          <a:noFill/>
        </p:spPr>
        <p:txBody>
          <a:bodyPr wrap="square" anchor="t" lIns="18288" rIns="18288" tIns="18288" bIns="18288">
            <a:spAutoFit/>
          </a:bodyPr>
          <a:lstStyle/>
          <a:p>
            <a:pPr algn="l">
              <a:spcAft>
                <a:spcPts val="0"/>
              </a:spcAft>
            </a:pPr>
            <a:r>
              <a:rPr sz="1000" b="0">
                <a:solidFill>
                  <a:srgbClr val="5B6372"/>
                </a:solidFill>
                <a:latin typeface="Arial"/>
              </a:rPr>
              <a:t>Editable chart · values are instructional thresholds, not production benchmarks</a:t>
            </a:r>
          </a:p>
        </p:txBody>
      </p:sp>
      <p:sp>
        <p:nvSpPr>
          <p:cNvPr id="12" name="TextBox 1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3" name="TextBox 1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14" name="TextBox 1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55</a:t>
            </a:r>
          </a:p>
        </p:txBody>
      </p:sp>
    </p:spTree>
  </p:cSld>
  <p:clrMapOvr>
    <a:masterClrMapping/>
  </p:clrMapOvr>
  <p:transition advClick="1" spd="fast">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HANDS-ON ACTIVITY · 70 MIN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1: Requirements and Component Boundary</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812280" cy="1874519"/>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84248"/>
            <a:ext cx="1554480" cy="219456"/>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CHALLENGE</a:t>
            </a:r>
          </a:p>
        </p:txBody>
      </p:sp>
      <p:sp>
        <p:nvSpPr>
          <p:cNvPr id="9" name="TextBox 8"/>
          <p:cNvSpPr txBox="1"/>
          <p:nvPr/>
        </p:nvSpPr>
        <p:spPr>
          <a:xfrm>
            <a:off x="932688" y="2377440"/>
            <a:ext cx="6254496" cy="804672"/>
          </a:xfrm>
          <a:prstGeom prst="rect">
            <a:avLst/>
          </a:prstGeom>
          <a:noFill/>
        </p:spPr>
        <p:txBody>
          <a:bodyPr wrap="square" anchor="t" lIns="18288" rIns="18288" tIns="18288" bIns="18288">
            <a:spAutoFit/>
          </a:bodyPr>
          <a:lstStyle/>
          <a:p>
            <a:pPr algn="l">
              <a:spcAft>
                <a:spcPts val="0"/>
              </a:spcAft>
            </a:pPr>
            <a:r>
              <a:rPr sz="1700" b="1">
                <a:solidFill>
                  <a:srgbClr val="161B26"/>
                </a:solidFill>
                <a:latin typeface="Arial"/>
              </a:rPr>
              <a:t>Convert stakeholder needs into testable requirements and design the SwiftUI–Objective-C++–C++ boundary.</a:t>
            </a:r>
          </a:p>
        </p:txBody>
      </p:sp>
      <p:sp>
        <p:nvSpPr>
          <p:cNvPr id="10" name="Rounded Rectangle 9"/>
          <p:cNvSpPr/>
          <p:nvPr/>
        </p:nvSpPr>
        <p:spPr>
          <a:xfrm>
            <a:off x="7744968" y="1737360"/>
            <a:ext cx="3749039" cy="1874519"/>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19288" y="1984248"/>
            <a:ext cx="2560320" cy="219456"/>
          </a:xfrm>
          <a:prstGeom prst="rect">
            <a:avLst/>
          </a:prstGeom>
          <a:noFill/>
        </p:spPr>
        <p:txBody>
          <a:bodyPr wrap="square" anchor="t" lIns="18288" rIns="18288" tIns="18288" bIns="18288">
            <a:spAutoFit/>
          </a:bodyPr>
          <a:lstStyle/>
          <a:p>
            <a:pPr algn="l">
              <a:spcAft>
                <a:spcPts val="0"/>
              </a:spcAft>
            </a:pPr>
            <a:r>
              <a:rPr sz="1100" b="1">
                <a:solidFill>
                  <a:srgbClr val="7C3AED"/>
                </a:solidFill>
                <a:latin typeface="Arial"/>
              </a:rPr>
              <a:t>REGULATED MAPPING</a:t>
            </a:r>
          </a:p>
        </p:txBody>
      </p:sp>
      <p:sp>
        <p:nvSpPr>
          <p:cNvPr id="12" name="TextBox 11"/>
          <p:cNvSpPr txBox="1"/>
          <p:nvPr/>
        </p:nvSpPr>
        <p:spPr>
          <a:xfrm>
            <a:off x="8019288" y="2423160"/>
            <a:ext cx="2560320" cy="502920"/>
          </a:xfrm>
          <a:prstGeom prst="rect">
            <a:avLst/>
          </a:prstGeom>
          <a:noFill/>
        </p:spPr>
        <p:txBody>
          <a:bodyPr wrap="square" anchor="t" lIns="18288" rIns="18288" tIns="18288" bIns="18288">
            <a:spAutoFit/>
          </a:bodyPr>
          <a:lstStyle/>
          <a:p>
            <a:pPr algn="l">
              <a:spcAft>
                <a:spcPts val="0"/>
              </a:spcAft>
            </a:pPr>
            <a:r>
              <a:rPr sz="2600" b="1">
                <a:solidFill>
                  <a:srgbClr val="7C3AED"/>
                </a:solidFill>
                <a:latin typeface="Arial"/>
              </a:rPr>
              <a:t>K1, A1</a:t>
            </a:r>
          </a:p>
        </p:txBody>
      </p:sp>
      <p:sp>
        <p:nvSpPr>
          <p:cNvPr id="13" name="Rounded Rectangle 12"/>
          <p:cNvSpPr/>
          <p:nvPr/>
        </p:nvSpPr>
        <p:spPr>
          <a:xfrm>
            <a:off x="658368" y="3913632"/>
            <a:ext cx="10835640" cy="12984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4133087"/>
            <a:ext cx="2011680"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YOU WILL PRODUCE</a:t>
            </a:r>
          </a:p>
        </p:txBody>
      </p:sp>
      <p:sp>
        <p:nvSpPr>
          <p:cNvPr id="15" name="TextBox 14"/>
          <p:cNvSpPr txBox="1"/>
          <p:nvPr/>
        </p:nvSpPr>
        <p:spPr>
          <a:xfrm>
            <a:off x="932688" y="4517136"/>
            <a:ext cx="6766560" cy="502920"/>
          </a:xfrm>
          <a:prstGeom prst="rect">
            <a:avLst/>
          </a:prstGeom>
          <a:noFill/>
        </p:spPr>
        <p:txBody>
          <a:bodyPr wrap="square" anchor="t" lIns="18288" rIns="18288" tIns="18288" bIns="18288">
            <a:spAutoFit/>
          </a:bodyPr>
          <a:lstStyle/>
          <a:p>
            <a:pPr algn="l">
              <a:spcAft>
                <a:spcPts val="0"/>
              </a:spcAft>
            </a:pPr>
            <a:r>
              <a:rPr sz="1600" b="1">
                <a:solidFill>
                  <a:srgbClr val="161B26"/>
                </a:solidFill>
                <a:latin typeface="Arial"/>
              </a:rPr>
              <a:t>Requirement matrix, boundary diagram and acceptance criteria</a:t>
            </a:r>
          </a:p>
        </p:txBody>
      </p:sp>
      <p:sp>
        <p:nvSpPr>
          <p:cNvPr id="16" name="TextBox 15"/>
          <p:cNvSpPr txBox="1"/>
          <p:nvPr/>
        </p:nvSpPr>
        <p:spPr>
          <a:xfrm>
            <a:off x="7909560" y="4352544"/>
            <a:ext cx="3182112" cy="502920"/>
          </a:xfrm>
          <a:prstGeom prst="rect">
            <a:avLst/>
          </a:prstGeom>
          <a:noFill/>
        </p:spPr>
        <p:txBody>
          <a:bodyPr wrap="square" anchor="t" lIns="18288" rIns="18288" tIns="18288" bIns="18288">
            <a:spAutoFit/>
          </a:bodyPr>
          <a:lstStyle/>
          <a:p>
            <a:pPr algn="l">
              <a:spcAft>
                <a:spcPts val="0"/>
              </a:spcAft>
            </a:pPr>
            <a:r>
              <a:rPr sz="1100" b="0">
                <a:solidFill>
                  <a:srgbClr val="5B6372"/>
                </a:solidFill>
                <a:latin typeface="Arial"/>
              </a:rPr>
              <a:t>Markdown, diagrams.net or PowerPoint, JSON fixture</a:t>
            </a:r>
          </a:p>
        </p:txBody>
      </p:sp>
      <p:sp>
        <p:nvSpPr>
          <p:cNvPr id="17" name="Rounded Rectangle 16"/>
          <p:cNvSpPr/>
          <p:nvPr/>
        </p:nvSpPr>
        <p:spPr>
          <a:xfrm>
            <a:off x="658368" y="5468112"/>
            <a:ext cx="10835640" cy="576072"/>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641848"/>
            <a:ext cx="10149840" cy="219456"/>
          </a:xfrm>
          <a:prstGeom prst="rect">
            <a:avLst/>
          </a:prstGeom>
          <a:noFill/>
        </p:spPr>
        <p:txBody>
          <a:bodyPr wrap="square" anchor="t" lIns="18288" rIns="18288" tIns="18288" bIns="18288">
            <a:spAutoFit/>
          </a:bodyPr>
          <a:lstStyle/>
          <a:p>
            <a:pPr algn="l">
              <a:spcAft>
                <a:spcPts val="0"/>
              </a:spcAft>
            </a:pPr>
            <a:r>
              <a:rPr sz="1200" b="1">
                <a:solidFill>
                  <a:srgbClr val="FFFFFF"/>
                </a:solidFill>
                <a:latin typeface="Arial"/>
              </a:rPr>
              <a:t>Detailed procedures: Learner Guide and activities/01-requirements-component-boundary/README.md</a:t>
            </a:r>
          </a:p>
        </p:txBody>
      </p:sp>
      <p:sp>
        <p:nvSpPr>
          <p:cNvPr id="19" name="TextBox 18"/>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0" name="TextBox 19"/>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1" name="TextBox 20"/>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56</a:t>
            </a:r>
          </a:p>
        </p:txBody>
      </p:sp>
    </p:spTree>
  </p:cSld>
  <p:clrMapOvr>
    <a:masterClrMapping/>
  </p:clrMapOvr>
  <p:transition advClick="1" spd="fast">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ACTIVITY MECHANISM</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1 · Delivery Workflow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Frame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Inspect the BudgetBuddy scenario and identify actors, inputs, rules and outcomes.</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K1, A1</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Build</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Write five uniquely identified functional requirements and three non-functional constraints.</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K1, A1</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Connect</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Draw the SwiftUI shell, Objective-C++ adapter and portable C++ domain core as separate responsibilities.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K1, A1</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Verify</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Every requirement links to one interface operation and one observable acceptance criterion.</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K1, A1</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The slide communicates the workflow; the Learner Guide carries the detailed procedure and commands.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57</a:t>
            </a:r>
          </a:p>
        </p:txBody>
      </p:sp>
    </p:spTree>
  </p:cSld>
  <p:clrMapOvr>
    <a:masterClrMapping/>
  </p:clrMapOvr>
  <p:transition advClick="1" spd="fast">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COPY / PASTE PROMPT · BUDGETBUDDY</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1 · Vibe Coding Generation Prompt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82496"/>
            <a:ext cx="6976872" cy="4425696"/>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82496"/>
            <a:ext cx="91440" cy="44256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874519"/>
            <a:ext cx="2157984" cy="201168"/>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GENERATION PROMPT</a:t>
            </a:r>
          </a:p>
        </p:txBody>
      </p:sp>
      <p:sp>
        <p:nvSpPr>
          <p:cNvPr id="10" name="TextBox 9"/>
          <p:cNvSpPr txBox="1"/>
          <p:nvPr/>
        </p:nvSpPr>
        <p:spPr>
          <a:xfrm>
            <a:off x="941832" y="2212848"/>
            <a:ext cx="6364224" cy="3502152"/>
          </a:xfrm>
          <a:prstGeom prst="rect">
            <a:avLst/>
          </a:prstGeom>
          <a:noFill/>
        </p:spPr>
        <p:txBody>
          <a:bodyPr wrap="square" anchor="t" lIns="18288" rIns="18288" tIns="18288" bIns="18288">
            <a:spAutoFit/>
          </a:bodyPr>
          <a:lstStyle/>
          <a:p>
            <a:pPr algn="l">
              <a:spcAft>
                <a:spcPts val="0"/>
              </a:spcAft>
            </a:pPr>
            <a:r>
              <a:rPr sz="1150" b="0">
                <a:solidFill>
                  <a:srgbClr val="D2E4FF"/>
                </a:solidFill>
                <a:latin typeface="Courier New"/>
              </a:rPr>
              <a:t>BudgetBuddy requirements only. Generate REQ-001..REQ-005 with actor, input, integer-cent invariant, observable result, negative case and evidence. Then create the inward dependency boundary from SwiftUI through BudgetViewModel, BudgetEvaluating, BudgetBridge.h/.mm and portable C++. Output each exact path plus the complete file. Do not generate UI code. Verify all IDs, cent units and boundary layers with rg.</a:t>
            </a:r>
          </a:p>
        </p:txBody>
      </p:sp>
      <p:sp>
        <p:nvSpPr>
          <p:cNvPr id="11" name="Rounded Rectangle 10"/>
          <p:cNvSpPr/>
          <p:nvPr/>
        </p:nvSpPr>
        <p:spPr>
          <a:xfrm>
            <a:off x="7909560" y="1682496"/>
            <a:ext cx="3584448" cy="120700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74736" y="1892807"/>
            <a:ext cx="2926080" cy="182880"/>
          </a:xfrm>
          <a:prstGeom prst="rect">
            <a:avLst/>
          </a:prstGeom>
          <a:noFill/>
        </p:spPr>
        <p:txBody>
          <a:bodyPr wrap="square" anchor="t" lIns="18288" rIns="18288" tIns="18288" bIns="18288">
            <a:spAutoFit/>
          </a:bodyPr>
          <a:lstStyle/>
          <a:p>
            <a:pPr algn="l">
              <a:spcAft>
                <a:spcPts val="0"/>
              </a:spcAft>
            </a:pPr>
            <a:r>
              <a:rPr sz="900" b="1">
                <a:solidFill>
                  <a:srgbClr val="1F6FEB"/>
                </a:solidFill>
                <a:latin typeface="Arial"/>
              </a:rPr>
              <a:t>PROTECTED FILE SCOPE</a:t>
            </a:r>
          </a:p>
        </p:txBody>
      </p:sp>
      <p:sp>
        <p:nvSpPr>
          <p:cNvPr id="13" name="TextBox 12"/>
          <p:cNvSpPr txBox="1"/>
          <p:nvPr/>
        </p:nvSpPr>
        <p:spPr>
          <a:xfrm>
            <a:off x="8174736" y="2212848"/>
            <a:ext cx="2926080" cy="621792"/>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requirements-working.txt; boundary-working.txt; acceptance-review.txt</a:t>
            </a:r>
          </a:p>
        </p:txBody>
      </p:sp>
      <p:sp>
        <p:nvSpPr>
          <p:cNvPr id="14" name="Rounded Rectangle 13"/>
          <p:cNvSpPr/>
          <p:nvPr/>
        </p:nvSpPr>
        <p:spPr>
          <a:xfrm>
            <a:off x="7909560" y="3136392"/>
            <a:ext cx="3584448" cy="1435608"/>
          </a:xfrm>
          <a:prstGeom prst="roundRect">
            <a:avLst>
              <a:gd name="adj" fmla="val 8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4736" y="3355848"/>
            <a:ext cx="2057400" cy="182880"/>
          </a:xfrm>
          <a:prstGeom prst="rect">
            <a:avLst/>
          </a:prstGeom>
          <a:noFill/>
        </p:spPr>
        <p:txBody>
          <a:bodyPr wrap="square" anchor="t" lIns="18288" rIns="18288" tIns="18288" bIns="18288">
            <a:spAutoFit/>
          </a:bodyPr>
          <a:lstStyle/>
          <a:p>
            <a:pPr algn="l">
              <a:spcAft>
                <a:spcPts val="0"/>
              </a:spcAft>
            </a:pPr>
            <a:r>
              <a:rPr sz="900" b="1">
                <a:solidFill>
                  <a:srgbClr val="10B981"/>
                </a:solidFill>
                <a:latin typeface="Arial"/>
              </a:rPr>
              <a:t>EXPECTED GREEN</a:t>
            </a:r>
          </a:p>
        </p:txBody>
      </p:sp>
      <p:sp>
        <p:nvSpPr>
          <p:cNvPr id="16" name="TextBox 15"/>
          <p:cNvSpPr txBox="1"/>
          <p:nvPr/>
        </p:nvSpPr>
        <p:spPr>
          <a:xfrm>
            <a:off x="8174736" y="3666744"/>
            <a:ext cx="2926080" cy="621792"/>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`rg -n 'REQ-00[1-5]|SwiftUI|BudgetBridge|C\+\+|cents' requirements-working.txt boundary-working.txt` shows all five requirements and each boundary layer.</a:t>
            </a:r>
          </a:p>
        </p:txBody>
      </p:sp>
      <p:sp>
        <p:nvSpPr>
          <p:cNvPr id="17" name="Rounded Rectangle 16"/>
          <p:cNvSpPr/>
          <p:nvPr/>
        </p:nvSpPr>
        <p:spPr>
          <a:xfrm>
            <a:off x="7909560" y="4828032"/>
            <a:ext cx="3584448" cy="1261872"/>
          </a:xfrm>
          <a:prstGeom prst="roundRect">
            <a:avLst>
              <a:gd name="adj" fmla="val 8000"/>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4736" y="5029200"/>
            <a:ext cx="2057400" cy="182880"/>
          </a:xfrm>
          <a:prstGeom prst="rect">
            <a:avLst/>
          </a:prstGeom>
          <a:noFill/>
        </p:spPr>
        <p:txBody>
          <a:bodyPr wrap="square" anchor="t" lIns="18288" rIns="18288" tIns="18288" bIns="18288">
            <a:spAutoFit/>
          </a:bodyPr>
          <a:lstStyle/>
          <a:p>
            <a:pPr algn="l">
              <a:spcAft>
                <a:spcPts val="0"/>
              </a:spcAft>
            </a:pPr>
            <a:r>
              <a:rPr sz="900" b="1">
                <a:solidFill>
                  <a:srgbClr val="C2413A"/>
                </a:solidFill>
                <a:latin typeface="Arial"/>
              </a:rPr>
              <a:t>REVIEW / REPAIR</a:t>
            </a:r>
          </a:p>
        </p:txBody>
      </p:sp>
      <p:sp>
        <p:nvSpPr>
          <p:cNvPr id="19" name="TextBox 18"/>
          <p:cNvSpPr txBox="1"/>
          <p:nvPr/>
        </p:nvSpPr>
        <p:spPr>
          <a:xfrm>
            <a:off x="8174736" y="5330952"/>
            <a:ext cx="2926080" cy="493776"/>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Use the paired review prompt in the Activity guide. Fix the first causal failure, preserve tests, then rerun focused and full checks.</a:t>
            </a:r>
          </a:p>
        </p:txBody>
      </p:sp>
      <p:sp>
        <p:nvSpPr>
          <p:cNvPr id="20" name="TextBox 19"/>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1" name="TextBox 20"/>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58</a:t>
            </a:r>
          </a:p>
        </p:txBody>
      </p:sp>
    </p:spTree>
  </p:cSld>
  <p:clrMapOvr>
    <a:masterClrMapping/>
  </p:clrMapOvr>
  <p:transition advClick="1" spd="fast">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VERIFY BEFORE MOVING ON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1 · Evidence Contract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Artifact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Requirement matrix, boundary diagram and acceptance criteria</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K1, A1</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Acceptance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Every requirement links to one interface operation and one observable acceptance criterion.</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K1, A1</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Failure signal</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If the boundary follows screen widgets, restate each operation as a business verb before redrawing.</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K1, A1</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Cleanup</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Retain the versioned design artifacts; remove only disposable sketches.</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K1, A1</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Evidence is a retrievable artifact or test result, not a statement that the activity was completed.</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59</a:t>
            </a:r>
          </a:p>
        </p:txBody>
      </p:sp>
    </p:spTree>
  </p:cSld>
  <p:clrMapOvr>
    <a:masterClrMapping/>
  </p:clrMapOvr>
  <p:transition advClick="1" spd="fast">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TEST IT</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1 · Verification Gate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52760" cy="1828800"/>
          </a:xfrm>
          <a:prstGeom prst="roundRect">
            <a:avLst>
              <a:gd name="adj" fmla="val 8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057400"/>
            <a:ext cx="1828800" cy="237744"/>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PASS WHEN</a:t>
            </a:r>
          </a:p>
        </p:txBody>
      </p:sp>
      <p:sp>
        <p:nvSpPr>
          <p:cNvPr id="9" name="TextBox 8"/>
          <p:cNvSpPr txBox="1"/>
          <p:nvPr/>
        </p:nvSpPr>
        <p:spPr>
          <a:xfrm>
            <a:off x="1078992" y="2542032"/>
            <a:ext cx="9646920" cy="566928"/>
          </a:xfrm>
          <a:prstGeom prst="rect">
            <a:avLst/>
          </a:prstGeom>
          <a:noFill/>
        </p:spPr>
        <p:txBody>
          <a:bodyPr wrap="square" anchor="ctr" lIns="18288" rIns="18288" tIns="18288" bIns="18288">
            <a:spAutoFit/>
          </a:bodyPr>
          <a:lstStyle/>
          <a:p>
            <a:pPr algn="l">
              <a:spcAft>
                <a:spcPts val="0"/>
              </a:spcAft>
            </a:pPr>
            <a:r>
              <a:rPr sz="2000" b="1">
                <a:solidFill>
                  <a:srgbClr val="161B26"/>
                </a:solidFill>
                <a:latin typeface="Arial"/>
              </a:rPr>
              <a:t>Every requirement links to one interface operation and one observable acceptance criterion.</a:t>
            </a:r>
          </a:p>
        </p:txBody>
      </p:sp>
      <p:sp>
        <p:nvSpPr>
          <p:cNvPr id="10" name="Rounded Rectangle 9"/>
          <p:cNvSpPr/>
          <p:nvPr/>
        </p:nvSpPr>
        <p:spPr>
          <a:xfrm>
            <a:off x="749808" y="3913632"/>
            <a:ext cx="5129784" cy="1298448"/>
          </a:xfrm>
          <a:prstGeom prst="roundRect">
            <a:avLst>
              <a:gd name="adj" fmla="val 8000"/>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151376"/>
            <a:ext cx="1645920" cy="219456"/>
          </a:xfrm>
          <a:prstGeom prst="rect">
            <a:avLst/>
          </a:prstGeom>
          <a:noFill/>
        </p:spPr>
        <p:txBody>
          <a:bodyPr wrap="square" anchor="t" lIns="18288" rIns="18288" tIns="18288" bIns="18288">
            <a:spAutoFit/>
          </a:bodyPr>
          <a:lstStyle/>
          <a:p>
            <a:pPr algn="l">
              <a:spcAft>
                <a:spcPts val="0"/>
              </a:spcAft>
            </a:pPr>
            <a:r>
              <a:rPr sz="1100" b="1">
                <a:solidFill>
                  <a:srgbClr val="C2413A"/>
                </a:solidFill>
                <a:latin typeface="Arial"/>
              </a:rPr>
              <a:t>IF IT FAILS</a:t>
            </a:r>
          </a:p>
        </p:txBody>
      </p:sp>
      <p:sp>
        <p:nvSpPr>
          <p:cNvPr id="12" name="TextBox 11"/>
          <p:cNvSpPr txBox="1"/>
          <p:nvPr/>
        </p:nvSpPr>
        <p:spPr>
          <a:xfrm>
            <a:off x="1033271" y="4517136"/>
            <a:ext cx="4498848" cy="475488"/>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If the boundary follows screen widgets, restate each operation as a business verb before redrawing.</a:t>
            </a:r>
          </a:p>
        </p:txBody>
      </p:sp>
      <p:sp>
        <p:nvSpPr>
          <p:cNvPr id="13" name="Rounded Rectangle 12"/>
          <p:cNvSpPr/>
          <p:nvPr/>
        </p:nvSpPr>
        <p:spPr>
          <a:xfrm>
            <a:off x="6181344" y="3913632"/>
            <a:ext cx="5221224" cy="12984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4151376"/>
            <a:ext cx="2194560"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LEAVE THE WORKSPACE</a:t>
            </a:r>
          </a:p>
        </p:txBody>
      </p:sp>
      <p:sp>
        <p:nvSpPr>
          <p:cNvPr id="15" name="TextBox 14"/>
          <p:cNvSpPr txBox="1"/>
          <p:nvPr/>
        </p:nvSpPr>
        <p:spPr>
          <a:xfrm>
            <a:off x="6464808" y="4517136"/>
            <a:ext cx="4590288" cy="475488"/>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Retain the versioned design artifacts; remove only disposable sketches.</a:t>
            </a:r>
          </a:p>
        </p:txBody>
      </p:sp>
      <p:sp>
        <p:nvSpPr>
          <p:cNvPr id="16" name="TextBox 15"/>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7" name="TextBox 16"/>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18" name="TextBox 17"/>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60</a:t>
            </a:r>
          </a:p>
        </p:txBody>
      </p:sp>
    </p:spTree>
  </p:cSld>
  <p:clrMapOvr>
    <a:masterClrMapping/>
  </p:clrMapOvr>
  <p:transition advClick="1" spd="fast">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HANDS-ON ACTIVITY · 85 MIN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2: Portable C++ Domain Core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812280" cy="1874519"/>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84248"/>
            <a:ext cx="1554480" cy="219456"/>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CHALLENGE</a:t>
            </a:r>
          </a:p>
        </p:txBody>
      </p:sp>
      <p:sp>
        <p:nvSpPr>
          <p:cNvPr id="9" name="TextBox 8"/>
          <p:cNvSpPr txBox="1"/>
          <p:nvPr/>
        </p:nvSpPr>
        <p:spPr>
          <a:xfrm>
            <a:off x="932688" y="2377440"/>
            <a:ext cx="6254496" cy="804672"/>
          </a:xfrm>
          <a:prstGeom prst="rect">
            <a:avLst/>
          </a:prstGeom>
          <a:noFill/>
        </p:spPr>
        <p:txBody>
          <a:bodyPr wrap="square" anchor="t" lIns="18288" rIns="18288" tIns="18288" bIns="18288">
            <a:spAutoFit/>
          </a:bodyPr>
          <a:lstStyle/>
          <a:p>
            <a:pPr algn="l">
              <a:spcAft>
                <a:spcPts val="0"/>
              </a:spcAft>
            </a:pPr>
            <a:r>
              <a:rPr sz="1700" b="1">
                <a:solidFill>
                  <a:srgbClr val="161B26"/>
                </a:solidFill>
                <a:latin typeface="Arial"/>
              </a:rPr>
              <a:t>Implement exact-cent value objects and a small budget policy as a standalone CMake library.</a:t>
            </a:r>
          </a:p>
        </p:txBody>
      </p:sp>
      <p:sp>
        <p:nvSpPr>
          <p:cNvPr id="10" name="Rounded Rectangle 9"/>
          <p:cNvSpPr/>
          <p:nvPr/>
        </p:nvSpPr>
        <p:spPr>
          <a:xfrm>
            <a:off x="7744968" y="1737360"/>
            <a:ext cx="3749039" cy="1874519"/>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19288" y="1984248"/>
            <a:ext cx="2560320" cy="219456"/>
          </a:xfrm>
          <a:prstGeom prst="rect">
            <a:avLst/>
          </a:prstGeom>
          <a:noFill/>
        </p:spPr>
        <p:txBody>
          <a:bodyPr wrap="square" anchor="t" lIns="18288" rIns="18288" tIns="18288" bIns="18288">
            <a:spAutoFit/>
          </a:bodyPr>
          <a:lstStyle/>
          <a:p>
            <a:pPr algn="l">
              <a:spcAft>
                <a:spcPts val="0"/>
              </a:spcAft>
            </a:pPr>
            <a:r>
              <a:rPr sz="1100" b="1">
                <a:solidFill>
                  <a:srgbClr val="7C3AED"/>
                </a:solidFill>
                <a:latin typeface="Arial"/>
              </a:rPr>
              <a:t>REGULATED MAPPING</a:t>
            </a:r>
          </a:p>
        </p:txBody>
      </p:sp>
      <p:sp>
        <p:nvSpPr>
          <p:cNvPr id="12" name="TextBox 11"/>
          <p:cNvSpPr txBox="1"/>
          <p:nvPr/>
        </p:nvSpPr>
        <p:spPr>
          <a:xfrm>
            <a:off x="8019288" y="2423160"/>
            <a:ext cx="2560320" cy="502920"/>
          </a:xfrm>
          <a:prstGeom prst="rect">
            <a:avLst/>
          </a:prstGeom>
          <a:noFill/>
        </p:spPr>
        <p:txBody>
          <a:bodyPr wrap="square" anchor="t" lIns="18288" rIns="18288" tIns="18288" bIns="18288">
            <a:spAutoFit/>
          </a:bodyPr>
          <a:lstStyle/>
          <a:p>
            <a:pPr algn="l">
              <a:spcAft>
                <a:spcPts val="0"/>
              </a:spcAft>
            </a:pPr>
            <a:r>
              <a:rPr sz="2600" b="1">
                <a:solidFill>
                  <a:srgbClr val="7C3AED"/>
                </a:solidFill>
                <a:latin typeface="Arial"/>
              </a:rPr>
              <a:t>K1, A1</a:t>
            </a:r>
          </a:p>
        </p:txBody>
      </p:sp>
      <p:sp>
        <p:nvSpPr>
          <p:cNvPr id="13" name="Rounded Rectangle 12"/>
          <p:cNvSpPr/>
          <p:nvPr/>
        </p:nvSpPr>
        <p:spPr>
          <a:xfrm>
            <a:off x="658368" y="3913632"/>
            <a:ext cx="10835640" cy="12984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4133087"/>
            <a:ext cx="2011680"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YOU WILL PRODUCE</a:t>
            </a:r>
          </a:p>
        </p:txBody>
      </p:sp>
      <p:sp>
        <p:nvSpPr>
          <p:cNvPr id="15" name="TextBox 14"/>
          <p:cNvSpPr txBox="1"/>
          <p:nvPr/>
        </p:nvSpPr>
        <p:spPr>
          <a:xfrm>
            <a:off x="932688" y="4517136"/>
            <a:ext cx="6766560" cy="502920"/>
          </a:xfrm>
          <a:prstGeom prst="rect">
            <a:avLst/>
          </a:prstGeom>
          <a:noFill/>
        </p:spPr>
        <p:txBody>
          <a:bodyPr wrap="square" anchor="t" lIns="18288" rIns="18288" tIns="18288" bIns="18288">
            <a:spAutoFit/>
          </a:bodyPr>
          <a:lstStyle/>
          <a:p>
            <a:pPr algn="l">
              <a:spcAft>
                <a:spcPts val="0"/>
              </a:spcAft>
            </a:pPr>
            <a:r>
              <a:rPr sz="1600" b="1">
                <a:solidFill>
                  <a:srgbClr val="161B26"/>
                </a:solidFill>
                <a:latin typeface="Arial"/>
              </a:rPr>
              <a:t>Compiling C++20 library and domain tests</a:t>
            </a:r>
          </a:p>
        </p:txBody>
      </p:sp>
      <p:sp>
        <p:nvSpPr>
          <p:cNvPr id="16" name="TextBox 15"/>
          <p:cNvSpPr txBox="1"/>
          <p:nvPr/>
        </p:nvSpPr>
        <p:spPr>
          <a:xfrm>
            <a:off x="7909560" y="4352544"/>
            <a:ext cx="3182112" cy="502920"/>
          </a:xfrm>
          <a:prstGeom prst="rect">
            <a:avLst/>
          </a:prstGeom>
          <a:noFill/>
        </p:spPr>
        <p:txBody>
          <a:bodyPr wrap="square" anchor="t" lIns="18288" rIns="18288" tIns="18288" bIns="18288">
            <a:spAutoFit/>
          </a:bodyPr>
          <a:lstStyle/>
          <a:p>
            <a:pPr algn="l">
              <a:spcAft>
                <a:spcPts val="0"/>
              </a:spcAft>
            </a:pPr>
            <a:r>
              <a:rPr sz="1100" b="0">
                <a:solidFill>
                  <a:srgbClr val="5B6372"/>
                </a:solidFill>
                <a:latin typeface="Arial"/>
              </a:rPr>
              <a:t>C++20, CMake, CTest</a:t>
            </a:r>
          </a:p>
        </p:txBody>
      </p:sp>
      <p:sp>
        <p:nvSpPr>
          <p:cNvPr id="17" name="Rounded Rectangle 16"/>
          <p:cNvSpPr/>
          <p:nvPr/>
        </p:nvSpPr>
        <p:spPr>
          <a:xfrm>
            <a:off x="658368" y="5468112"/>
            <a:ext cx="10835640" cy="576072"/>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641848"/>
            <a:ext cx="10149840" cy="219456"/>
          </a:xfrm>
          <a:prstGeom prst="rect">
            <a:avLst/>
          </a:prstGeom>
          <a:noFill/>
        </p:spPr>
        <p:txBody>
          <a:bodyPr wrap="square" anchor="t" lIns="18288" rIns="18288" tIns="18288" bIns="18288">
            <a:spAutoFit/>
          </a:bodyPr>
          <a:lstStyle/>
          <a:p>
            <a:pPr algn="l">
              <a:spcAft>
                <a:spcPts val="0"/>
              </a:spcAft>
            </a:pPr>
            <a:r>
              <a:rPr sz="1200" b="1">
                <a:solidFill>
                  <a:srgbClr val="FFFFFF"/>
                </a:solidFill>
                <a:latin typeface="Arial"/>
              </a:rPr>
              <a:t>Detailed procedures: Learner Guide and activities/02-portable-cpp-domain-core/README.md</a:t>
            </a:r>
          </a:p>
        </p:txBody>
      </p:sp>
      <p:sp>
        <p:nvSpPr>
          <p:cNvPr id="19" name="TextBox 18"/>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0" name="TextBox 19"/>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1" name="TextBox 20"/>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61</a:t>
            </a:r>
          </a:p>
        </p:txBody>
      </p:sp>
    </p:spTree>
  </p:cSld>
  <p:clrMapOvr>
    <a:masterClrMapping/>
  </p:clrMapOvr>
  <p:transition advClick="1" spd="fast">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ACTIVITY MECHANISM</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2 · Delivery Workflow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Frame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Configure the starter with CMake in an out-of-tree build folder.</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K1, A1</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Build</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Implement Money and ExpenseDraft invariants using integer minor units.</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K1, A1</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Connect</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Add tests for valid, zero, negative and over-budget cases.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K1, A1</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Verify</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CTest reports all domain tests passed and the public header contains no Objective-C or Swift constructs.</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K1, A1</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The slide communicates the workflow; the Learner Guide carries the detailed procedure and commands.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62</a:t>
            </a:r>
          </a:p>
        </p:txBody>
      </p:sp>
    </p:spTree>
  </p:cSld>
  <p:clrMapOvr>
    <a:masterClrMapping/>
  </p:clrMapOvr>
  <p:transition advClick="1" spd="fast">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COPY / PASTE PROMPT · BUDGETBUDDY</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2 · Vibe Coding Generation Prompt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82496"/>
            <a:ext cx="6976872" cy="4425696"/>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82496"/>
            <a:ext cx="91440" cy="44256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874519"/>
            <a:ext cx="2157984" cy="201168"/>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GENERATION PROMPT</a:t>
            </a:r>
          </a:p>
        </p:txBody>
      </p:sp>
      <p:sp>
        <p:nvSpPr>
          <p:cNvPr id="10" name="TextBox 9"/>
          <p:cNvSpPr txBox="1"/>
          <p:nvPr/>
        </p:nvSpPr>
        <p:spPr>
          <a:xfrm>
            <a:off x="941832" y="2212848"/>
            <a:ext cx="6364224" cy="3502152"/>
          </a:xfrm>
          <a:prstGeom prst="rect">
            <a:avLst/>
          </a:prstGeom>
          <a:noFill/>
        </p:spPr>
        <p:txBody>
          <a:bodyPr wrap="square" anchor="t" lIns="18288" rIns="18288" tIns="18288" bIns="18288">
            <a:spAutoFit/>
          </a:bodyPr>
          <a:lstStyle/>
          <a:p>
            <a:pPr algn="l">
              <a:spcAft>
                <a:spcPts val="0"/>
              </a:spcAft>
            </a:pPr>
            <a:r>
              <a:rPr sz="1150" b="0">
                <a:solidFill>
                  <a:srgbClr val="D2E4FF"/>
                </a:solidFill>
                <a:latin typeface="Courier New"/>
              </a:rPr>
              <a:t>Generate complete C++20 Money, ExpenseDraft, Decision, DomainError and BudgetPolicy files plus CMake and tests. Preserve std::int64_t cents and the approved evaluate signature. Reject invalid, overflow and overspend cases without Apple imports. Output exact path then complete code, with no TODOs. Verify a clean configure/build/CTest run and an empty Apple-framework scan.</a:t>
            </a:r>
          </a:p>
        </p:txBody>
      </p:sp>
      <p:sp>
        <p:nvSpPr>
          <p:cNvPr id="11" name="Rounded Rectangle 10"/>
          <p:cNvSpPr/>
          <p:nvPr/>
        </p:nvSpPr>
        <p:spPr>
          <a:xfrm>
            <a:off x="7909560" y="1682496"/>
            <a:ext cx="3584448" cy="120700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74736" y="1892807"/>
            <a:ext cx="2926080" cy="182880"/>
          </a:xfrm>
          <a:prstGeom prst="rect">
            <a:avLst/>
          </a:prstGeom>
          <a:noFill/>
        </p:spPr>
        <p:txBody>
          <a:bodyPr wrap="square" anchor="t" lIns="18288" rIns="18288" tIns="18288" bIns="18288">
            <a:spAutoFit/>
          </a:bodyPr>
          <a:lstStyle/>
          <a:p>
            <a:pPr algn="l">
              <a:spcAft>
                <a:spcPts val="0"/>
              </a:spcAft>
            </a:pPr>
            <a:r>
              <a:rPr sz="900" b="1">
                <a:solidFill>
                  <a:srgbClr val="1F6FEB"/>
                </a:solidFill>
                <a:latin typeface="Arial"/>
              </a:rPr>
              <a:t>PROTECTED FILE SCOPE</a:t>
            </a:r>
          </a:p>
        </p:txBody>
      </p:sp>
      <p:sp>
        <p:nvSpPr>
          <p:cNvPr id="13" name="TextBox 12"/>
          <p:cNvSpPr txBox="1"/>
          <p:nvPr/>
        </p:nvSpPr>
        <p:spPr>
          <a:xfrm>
            <a:off x="8174736" y="2212848"/>
            <a:ext cx="2926080" cy="621792"/>
          </a:xfrm>
          <a:prstGeom prst="rect">
            <a:avLst/>
          </a:prstGeom>
          <a:noFill/>
        </p:spPr>
        <p:txBody>
          <a:bodyPr wrap="square" anchor="t" lIns="18288" rIns="18288" tIns="18288" bIns="18288">
            <a:spAutoFit/>
          </a:bodyPr>
          <a:lstStyle/>
          <a:p>
            <a:pPr algn="l">
              <a:spcAft>
                <a:spcPts val="0"/>
              </a:spcAft>
            </a:pPr>
            <a:r>
              <a:rPr sz="900" b="1">
                <a:solidFill>
                  <a:srgbClr val="161B26"/>
                </a:solidFill>
                <a:latin typeface="Arial"/>
              </a:rPr>
              <a:t>workspace/CMakeLists.txt; workspace/include/BudgetPolicy.hpp; workspace/src/BudgetPolicy.cpp; workspace/tests/BudgetPolicyTests.cpp</a:t>
            </a:r>
          </a:p>
        </p:txBody>
      </p:sp>
      <p:sp>
        <p:nvSpPr>
          <p:cNvPr id="14" name="Rounded Rectangle 13"/>
          <p:cNvSpPr/>
          <p:nvPr/>
        </p:nvSpPr>
        <p:spPr>
          <a:xfrm>
            <a:off x="7909560" y="3136392"/>
            <a:ext cx="3584448" cy="1435608"/>
          </a:xfrm>
          <a:prstGeom prst="roundRect">
            <a:avLst>
              <a:gd name="adj" fmla="val 8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4736" y="3355848"/>
            <a:ext cx="2057400" cy="182880"/>
          </a:xfrm>
          <a:prstGeom prst="rect">
            <a:avLst/>
          </a:prstGeom>
          <a:noFill/>
        </p:spPr>
        <p:txBody>
          <a:bodyPr wrap="square" anchor="t" lIns="18288" rIns="18288" tIns="18288" bIns="18288">
            <a:spAutoFit/>
          </a:bodyPr>
          <a:lstStyle/>
          <a:p>
            <a:pPr algn="l">
              <a:spcAft>
                <a:spcPts val="0"/>
              </a:spcAft>
            </a:pPr>
            <a:r>
              <a:rPr sz="900" b="1">
                <a:solidFill>
                  <a:srgbClr val="10B981"/>
                </a:solidFill>
                <a:latin typeface="Arial"/>
              </a:rPr>
              <a:t>EXPECTED GREEN</a:t>
            </a:r>
          </a:p>
        </p:txBody>
      </p:sp>
      <p:sp>
        <p:nvSpPr>
          <p:cNvPr id="16" name="TextBox 15"/>
          <p:cNvSpPr txBox="1"/>
          <p:nvPr/>
        </p:nvSpPr>
        <p:spPr>
          <a:xfrm>
            <a:off x="8174736" y="3666744"/>
            <a:ext cx="2926080" cy="621792"/>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`cmake -S workspace -B workspace/build &amp;&amp; cmake --build workspace/build &amp;&amp; ctest --test-dir workspace/build --output-on-failure`; all tests pass and Apple import scan is empty.</a:t>
            </a:r>
          </a:p>
        </p:txBody>
      </p:sp>
      <p:sp>
        <p:nvSpPr>
          <p:cNvPr id="17" name="Rounded Rectangle 16"/>
          <p:cNvSpPr/>
          <p:nvPr/>
        </p:nvSpPr>
        <p:spPr>
          <a:xfrm>
            <a:off x="7909560" y="4828032"/>
            <a:ext cx="3584448" cy="1261872"/>
          </a:xfrm>
          <a:prstGeom prst="roundRect">
            <a:avLst>
              <a:gd name="adj" fmla="val 8000"/>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4736" y="5029200"/>
            <a:ext cx="2057400" cy="182880"/>
          </a:xfrm>
          <a:prstGeom prst="rect">
            <a:avLst/>
          </a:prstGeom>
          <a:noFill/>
        </p:spPr>
        <p:txBody>
          <a:bodyPr wrap="square" anchor="t" lIns="18288" rIns="18288" tIns="18288" bIns="18288">
            <a:spAutoFit/>
          </a:bodyPr>
          <a:lstStyle/>
          <a:p>
            <a:pPr algn="l">
              <a:spcAft>
                <a:spcPts val="0"/>
              </a:spcAft>
            </a:pPr>
            <a:r>
              <a:rPr sz="900" b="1">
                <a:solidFill>
                  <a:srgbClr val="C2413A"/>
                </a:solidFill>
                <a:latin typeface="Arial"/>
              </a:rPr>
              <a:t>REVIEW / REPAIR</a:t>
            </a:r>
          </a:p>
        </p:txBody>
      </p:sp>
      <p:sp>
        <p:nvSpPr>
          <p:cNvPr id="19" name="TextBox 18"/>
          <p:cNvSpPr txBox="1"/>
          <p:nvPr/>
        </p:nvSpPr>
        <p:spPr>
          <a:xfrm>
            <a:off x="8174736" y="5330952"/>
            <a:ext cx="2926080" cy="493776"/>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Use the paired review prompt in the Activity guide. Fix the first causal failure, preserve tests, then rerun focused and full checks.</a:t>
            </a:r>
          </a:p>
        </p:txBody>
      </p:sp>
      <p:sp>
        <p:nvSpPr>
          <p:cNvPr id="20" name="TextBox 19"/>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1" name="TextBox 20"/>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63</a:t>
            </a:r>
          </a:p>
        </p:txBody>
      </p:sp>
    </p:spTree>
  </p:cSld>
  <p:clrMapOvr>
    <a:masterClrMapping/>
  </p:clrMapOvr>
  <p:transition advClick="1" spd="fast">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VERIFY BEFORE MOVING ON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2 · Evidence Contract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Artifact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Compiling C++20 library and domain tests</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K1, A1</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Acceptance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CTest reports all domain tests passed and the public header contains no Objective-C or Swift constructs.</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K1, A1</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Failure signal</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Delete only the local build directory and reconfigure; inspect the first compiler diagnostic, not the last.</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K1, A1</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Cleanup</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Remove build/; keep source, headers and tests.</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K1, A1</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Evidence is a retrievable artifact or test result, not a statement that the activity was completed.</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64</a:t>
            </a:r>
          </a:p>
        </p:txBody>
      </p:sp>
    </p:spTree>
  </p:cSld>
  <p:clrMapOvr>
    <a:masterClrMapping/>
  </p:clrMapOvr>
  <p:transition advClick="1" spd="fast">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TEST IT</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2 · Verification Gate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52760" cy="1828800"/>
          </a:xfrm>
          <a:prstGeom prst="roundRect">
            <a:avLst>
              <a:gd name="adj" fmla="val 8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057400"/>
            <a:ext cx="1828800" cy="237744"/>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PASS WHEN</a:t>
            </a:r>
          </a:p>
        </p:txBody>
      </p:sp>
      <p:sp>
        <p:nvSpPr>
          <p:cNvPr id="9" name="TextBox 8"/>
          <p:cNvSpPr txBox="1"/>
          <p:nvPr/>
        </p:nvSpPr>
        <p:spPr>
          <a:xfrm>
            <a:off x="1078992" y="2542032"/>
            <a:ext cx="9646920" cy="566928"/>
          </a:xfrm>
          <a:prstGeom prst="rect">
            <a:avLst/>
          </a:prstGeom>
          <a:noFill/>
        </p:spPr>
        <p:txBody>
          <a:bodyPr wrap="square" anchor="ctr" lIns="18288" rIns="18288" tIns="18288" bIns="18288">
            <a:spAutoFit/>
          </a:bodyPr>
          <a:lstStyle/>
          <a:p>
            <a:pPr algn="l">
              <a:spcAft>
                <a:spcPts val="0"/>
              </a:spcAft>
            </a:pPr>
            <a:r>
              <a:rPr sz="2000" b="1">
                <a:solidFill>
                  <a:srgbClr val="161B26"/>
                </a:solidFill>
                <a:latin typeface="Arial"/>
              </a:rPr>
              <a:t>CTest reports all domain tests passed and the public header contains no Objective-C or Swift constructs.</a:t>
            </a:r>
          </a:p>
        </p:txBody>
      </p:sp>
      <p:sp>
        <p:nvSpPr>
          <p:cNvPr id="10" name="Rounded Rectangle 9"/>
          <p:cNvSpPr/>
          <p:nvPr/>
        </p:nvSpPr>
        <p:spPr>
          <a:xfrm>
            <a:off x="749808" y="3913632"/>
            <a:ext cx="5129784" cy="1298448"/>
          </a:xfrm>
          <a:prstGeom prst="roundRect">
            <a:avLst>
              <a:gd name="adj" fmla="val 8000"/>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151376"/>
            <a:ext cx="1645920" cy="219456"/>
          </a:xfrm>
          <a:prstGeom prst="rect">
            <a:avLst/>
          </a:prstGeom>
          <a:noFill/>
        </p:spPr>
        <p:txBody>
          <a:bodyPr wrap="square" anchor="t" lIns="18288" rIns="18288" tIns="18288" bIns="18288">
            <a:spAutoFit/>
          </a:bodyPr>
          <a:lstStyle/>
          <a:p>
            <a:pPr algn="l">
              <a:spcAft>
                <a:spcPts val="0"/>
              </a:spcAft>
            </a:pPr>
            <a:r>
              <a:rPr sz="1100" b="1">
                <a:solidFill>
                  <a:srgbClr val="C2413A"/>
                </a:solidFill>
                <a:latin typeface="Arial"/>
              </a:rPr>
              <a:t>IF IT FAILS</a:t>
            </a:r>
          </a:p>
        </p:txBody>
      </p:sp>
      <p:sp>
        <p:nvSpPr>
          <p:cNvPr id="12" name="TextBox 11"/>
          <p:cNvSpPr txBox="1"/>
          <p:nvPr/>
        </p:nvSpPr>
        <p:spPr>
          <a:xfrm>
            <a:off x="1033271" y="4517136"/>
            <a:ext cx="4498848" cy="475488"/>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Delete only the local build directory and reconfigure; inspect the first compiler diagnostic, not the last.</a:t>
            </a:r>
          </a:p>
        </p:txBody>
      </p:sp>
      <p:sp>
        <p:nvSpPr>
          <p:cNvPr id="13" name="Rounded Rectangle 12"/>
          <p:cNvSpPr/>
          <p:nvPr/>
        </p:nvSpPr>
        <p:spPr>
          <a:xfrm>
            <a:off x="6181344" y="3913632"/>
            <a:ext cx="5221224" cy="12984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4151376"/>
            <a:ext cx="2194560"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LEAVE THE WORKSPACE</a:t>
            </a:r>
          </a:p>
        </p:txBody>
      </p:sp>
      <p:sp>
        <p:nvSpPr>
          <p:cNvPr id="15" name="TextBox 14"/>
          <p:cNvSpPr txBox="1"/>
          <p:nvPr/>
        </p:nvSpPr>
        <p:spPr>
          <a:xfrm>
            <a:off x="6464808" y="4517136"/>
            <a:ext cx="4590288" cy="475488"/>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Remove build/; keep source, headers and tests.</a:t>
            </a:r>
          </a:p>
        </p:txBody>
      </p:sp>
      <p:sp>
        <p:nvSpPr>
          <p:cNvPr id="16" name="TextBox 15"/>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7" name="TextBox 16"/>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18" name="TextBox 17"/>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65</a:t>
            </a:r>
          </a:p>
        </p:txBody>
      </p:sp>
    </p:spTree>
  </p:cSld>
  <p:clrMapOvr>
    <a:masterClrMapping/>
  </p:clrMapOvr>
  <p:transition advClick="1" spd="fast">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RETRIEVAL PRACTICE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Topic 1 · Review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Explain</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LO1: Determine basic software components using C++ methodologies to meet functional specifications.</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LO1 · K1 · A1</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Demonstrate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Show the Activity evidence that operationalises the outcome.</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LO1 · K1 · A1</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Diagnose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Name the failure signal and the layer where it originates.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LO1 · K1 · A1</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Trace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Connect LO1 · K1 · A1 to the assessment and evidence pack.</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LO1 · K1 · A1</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Do not advance on confidence alone; point to the artifact or test result that supports the answer.</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66</a:t>
            </a:r>
          </a:p>
        </p:txBody>
      </p:sp>
    </p:spTree>
  </p:cSld>
  <p:clrMapOvr>
    <a:masterClrMapping/>
  </p:clrMapOvr>
  <p:transition advClick="1" spd="fast">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737360"/>
            <a:ext cx="10835640" cy="329184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28016" cy="3291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48840"/>
            <a:ext cx="7680960" cy="310896"/>
          </a:xfrm>
          <a:prstGeom prst="rect">
            <a:avLst/>
          </a:prstGeom>
          <a:noFill/>
        </p:spPr>
        <p:txBody>
          <a:bodyPr wrap="square" anchor="t" lIns="18288" rIns="18288" tIns="18288" bIns="18288">
            <a:spAutoFit/>
          </a:bodyPr>
          <a:lstStyle/>
          <a:p>
            <a:pPr algn="l">
              <a:spcAft>
                <a:spcPts val="0"/>
              </a:spcAft>
            </a:pPr>
            <a:r>
              <a:rPr sz="1500" b="1">
                <a:solidFill>
                  <a:srgbClr val="1F6FEB"/>
                </a:solidFill>
                <a:latin typeface="Arial"/>
              </a:rPr>
              <a:t>TOPIC 2 · LO2 · K2 · A2</a:t>
            </a:r>
          </a:p>
        </p:txBody>
      </p:sp>
      <p:sp>
        <p:nvSpPr>
          <p:cNvPr id="6" name="TextBox 5"/>
          <p:cNvSpPr txBox="1"/>
          <p:nvPr/>
        </p:nvSpPr>
        <p:spPr>
          <a:xfrm>
            <a:off x="1280160" y="2606040"/>
            <a:ext cx="8732520" cy="932688"/>
          </a:xfrm>
          <a:prstGeom prst="rect">
            <a:avLst/>
          </a:prstGeom>
          <a:noFill/>
        </p:spPr>
        <p:txBody>
          <a:bodyPr wrap="square" anchor="ctr" lIns="18288" rIns="18288" tIns="18288" bIns="18288">
            <a:spAutoFit/>
          </a:bodyPr>
          <a:lstStyle/>
          <a:p>
            <a:pPr algn="l">
              <a:spcAft>
                <a:spcPts val="0"/>
              </a:spcAft>
            </a:pPr>
            <a:r>
              <a:rPr sz="3400" b="1">
                <a:solidFill>
                  <a:srgbClr val="161B26"/>
                </a:solidFill>
                <a:latin typeface="Arial"/>
              </a:rPr>
              <a:t>Vibe-Generated Portable Logic and Quality Gates</a:t>
            </a:r>
          </a:p>
        </p:txBody>
      </p:sp>
      <p:sp>
        <p:nvSpPr>
          <p:cNvPr id="7" name="TextBox 6"/>
          <p:cNvSpPr txBox="1"/>
          <p:nvPr/>
        </p:nvSpPr>
        <p:spPr>
          <a:xfrm>
            <a:off x="1280160" y="3767328"/>
            <a:ext cx="8732520" cy="658368"/>
          </a:xfrm>
          <a:prstGeom prst="rect">
            <a:avLst/>
          </a:prstGeom>
          <a:noFill/>
        </p:spPr>
        <p:txBody>
          <a:bodyPr wrap="square" anchor="t" lIns="18288" rIns="18288" tIns="18288" bIns="18288">
            <a:spAutoFit/>
          </a:bodyPr>
          <a:lstStyle/>
          <a:p>
            <a:pPr algn="l">
              <a:spcAft>
                <a:spcPts val="0"/>
              </a:spcAft>
            </a:pPr>
            <a:r>
              <a:rPr sz="1400" b="0">
                <a:solidFill>
                  <a:srgbClr val="5B6372"/>
                </a:solidFill>
                <a:latin typeface="Arial"/>
              </a:rPr>
              <a:t>LO2: Apply C++ methodologies and tools for software creation.</a:t>
            </a:r>
          </a:p>
        </p:txBody>
      </p:sp>
      <p:sp>
        <p:nvSpPr>
          <p:cNvPr id="8" name="TextBox 7"/>
          <p:cNvSpPr txBox="1"/>
          <p:nvPr/>
        </p:nvSpPr>
        <p:spPr>
          <a:xfrm>
            <a:off x="9674352" y="658368"/>
            <a:ext cx="1417320" cy="658368"/>
          </a:xfrm>
          <a:prstGeom prst="rect">
            <a:avLst/>
          </a:prstGeom>
          <a:noFill/>
        </p:spPr>
        <p:txBody>
          <a:bodyPr wrap="square" anchor="t" lIns="18288" rIns="18288" tIns="18288" bIns="18288">
            <a:spAutoFit/>
          </a:bodyPr>
          <a:lstStyle/>
          <a:p>
            <a:pPr algn="r">
              <a:spcAft>
                <a:spcPts val="0"/>
              </a:spcAft>
            </a:pPr>
            <a:r>
              <a:rPr sz="5400" b="1">
                <a:solidFill>
                  <a:srgbClr val="D7E0EA"/>
                </a:solidFill>
                <a:latin typeface="Arial"/>
              </a:rPr>
              <a:t>02</a:t>
            </a:r>
          </a:p>
        </p:txBody>
      </p:sp>
      <p:sp>
        <p:nvSpPr>
          <p:cNvPr id="9" name="TextBox 8"/>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0" name="TextBox 9"/>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11" name="TextBox 10"/>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67</a:t>
            </a:r>
          </a:p>
        </p:txBody>
      </p:sp>
    </p:spTree>
  </p:cSld>
  <p:clrMapOvr>
    <a:masterClrMapping/>
  </p:clrMapOvr>
  <p:transition advClick="1" spd="med">
    <p:push dir="l"/>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2 · LO2 · K2 · A2</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CMake defines a portable build graph</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Declare target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library</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CPP-CMAKE</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Set standard</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C++20</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CPP-CMAKE</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Attach tests</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CTest</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CPP-CMAKE</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Build out-of-tree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build dir</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CPP-CMAKE</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Make the core buildable with CMake and add it to Xcode as an explicit dependency.</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68</a:t>
            </a:r>
          </a:p>
        </p:txBody>
      </p:sp>
    </p:spTree>
  </p:cSld>
  <p:clrMapOvr>
    <a:masterClrMapping/>
  </p:clrMapOvr>
  <p:transition advClick="1" spd="fast">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2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CMake defines a portable build graph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Declare target</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Set standard</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Attach tests</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Build out-of-tree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Xcode-only configuration hides a broken standalone core. Control: Make the core buildable with CMake and add it to Xcode as an explicit dependency.</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69</a:t>
            </a:r>
          </a:p>
        </p:txBody>
      </p:sp>
    </p:spTree>
  </p:cSld>
  <p:clrMapOvr>
    <a:masterClrMapping/>
  </p:clrMapOvr>
  <p:transition advClick="1" spd="fast">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CMake defines a portable build graph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add_library(DomainCore STATIC src/Budget.cpp)</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library</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C++20</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CTest</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build dir</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Reproducible build from clean checkout</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70</a:t>
            </a:r>
          </a:p>
        </p:txBody>
      </p:sp>
    </p:spTree>
  </p:cSld>
  <p:clrMapOvr>
    <a:masterClrMapping/>
  </p:clrMapOvr>
  <p:transition advClick="1" spd="fast">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2 · LO2 · K2 · A2</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Use Red-Green-Refactor with AI</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Write failing test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red</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AI-TDD</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Ask for minimal patch</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minimal</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AI-TDD</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Run test</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green</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AI-TDD</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Refactor with suite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cleanup</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AI-TDD</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Freeze expected behaviour first and demand the smallest causal patch.</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71</a:t>
            </a:r>
          </a:p>
        </p:txBody>
      </p:sp>
    </p:spTree>
  </p:cSld>
  <p:clrMapOvr>
    <a:masterClrMapping/>
  </p:clrMapOvr>
  <p:transition advClick="1" spd="fast">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2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Use Red-Green-Refactor with AI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Write failing test</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Ask for minimal patch</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Run test</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Refactor with suite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The assistant writes implementation and tests that merely echo it. Control: Freeze expected behaviour first and demand the smallest causal patch.</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72</a:t>
            </a:r>
          </a:p>
        </p:txBody>
      </p:sp>
    </p:spTree>
  </p:cSld>
  <p:clrMapOvr>
    <a:masterClrMapping/>
  </p:clrMapOvr>
  <p:transition advClick="1" spd="fast">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Use Red-Green-Refactor with AI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TEST(BudgetPolicy, RejectsNegativeLimit) { EXPECT_THROW(...); }</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red</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minimal</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green</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cleanup</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Every production change preceded by a meaningful failure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73</a:t>
            </a:r>
          </a:p>
        </p:txBody>
      </p:sp>
    </p:spTree>
  </p:cSld>
  <p:clrMapOvr>
    <a:masterClrMapping/>
  </p:clrMapOvr>
  <p:transition advClick="1" spd="fast">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2 · LO2 · K2 · A2</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Prompt context is an engineering input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State contract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goal</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AI-PROMPT</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Attach relevant files</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context</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AI-PROMPT</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Set constraints</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boundary</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AI-PROMPT</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Define done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checks</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AI-PROMPT</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Name protected interfaces and exact verification commands.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74</a:t>
            </a:r>
          </a:p>
        </p:txBody>
      </p:sp>
    </p:spTree>
  </p:cSld>
  <p:clrMapOvr>
    <a:masterClrMapping/>
  </p:clrMapOvr>
  <p:transition advClick="1" spd="fast">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2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Prompt context is an engineering input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State contract</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Attach relevant files</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Set constraints</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Define done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 broad prompt invites API churn and unrelated edits. Control: Name protected interfaces and exact verification commands.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75</a:t>
            </a:r>
          </a:p>
        </p:txBody>
      </p:sp>
    </p:spTree>
  </p:cSld>
  <p:clrMapOvr>
    <a:masterClrMapping/>
  </p:clrMapOvr>
  <p:transition advClick="1" spd="fast">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Prompt context is an engineering input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Goal: implement evaluate(). Preserve BudgetPolicy.hpp. Run ctest.</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goal</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context</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boundary</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checks</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Acceptance checks passed on first review</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76</a:t>
            </a:r>
          </a:p>
        </p:txBody>
      </p:sp>
    </p:spTree>
  </p:cSld>
  <p:clrMapOvr>
    <a:masterClrMapping/>
  </p:clrMapOvr>
  <p:transition advClick="1" spd="fast">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2 · LO2 · K2 · A2</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Select types to encode invariants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Inspect range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int64_t</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CPP-TYPES</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Choose signedness</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enum class</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CPP-TYPES</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Name unit</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chrono</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CPP-TYPES</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Guard conversion</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optional</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CPP-TYPES</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Prefer domain types, scoped enumerations and explicit optional values.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77</a:t>
            </a:r>
          </a:p>
        </p:txBody>
      </p:sp>
    </p:spTree>
  </p:cSld>
  <p:clrMapOvr>
    <a:masterClrMapping/>
  </p:clrMapOvr>
  <p:transition advClick="1" spd="fast">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2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Select types to encode invariants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Inspect range</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Choose signedness</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Name unit</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Guard conversion</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Primitive strings and doubles hide units and optionality. Control: Prefer domain types, scoped enumerations and explicit optional values.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78</a:t>
            </a:r>
          </a:p>
        </p:txBody>
      </p:sp>
    </p:spTree>
  </p:cSld>
  <p:clrMapOvr>
    <a:masterClrMapping/>
  </p:clrMapOvr>
  <p:transition advClick="1" spd="fast">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Select types to encode invariants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enum class ExpenseKind : std::uint8_t { food, travel, other };</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int64_t</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enum class</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chrono</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optional</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Invalid conversions detected at boundaries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79</a:t>
            </a:r>
          </a:p>
        </p:txBody>
      </p:sp>
    </p:spTree>
  </p:cSld>
  <p:clrMapOvr>
    <a:masterClrMapping/>
  </p:clrMapOvr>
  <p:transition advClick="1" spd="fast">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2 · LO2 · K2 · A2</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Functions expose intention</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Name verb</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command</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CPP-FUNCTION</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Limit parameters</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query</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CPP-FUNCTION</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Return value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const</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CPP-FUNCTION</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Keep pure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nodiscard</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CPP-FUNCTION</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Return data or typed errors; inject side effects through interfaces.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80</a:t>
            </a:r>
          </a:p>
        </p:txBody>
      </p:sp>
    </p:spTree>
  </p:cSld>
  <p:clrMapOvr>
    <a:masterClrMapping/>
  </p:clrMapOvr>
  <p:transition advClick="1" spd="fast">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2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Functions expose intention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Name verb</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Limit parameters</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Return value</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Keep pure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 function mutates globals and communicates failure by logging. Control: Return data or typed errors; inject side effects through interfaces.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81</a:t>
            </a:r>
          </a:p>
        </p:txBody>
      </p:sp>
    </p:spTree>
  </p:cSld>
  <p:clrMapOvr>
    <a:masterClrMapping/>
  </p:clrMapOvr>
  <p:transition advClick="1" spd="fast">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Functions expose intention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[[nodiscard]] Money remaining(Money limit, Money spent);</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command</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query</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const</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nodiscard</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Pure functions covered by deterministic tests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82</a:t>
            </a:r>
          </a:p>
        </p:txBody>
      </p:sp>
    </p:spTree>
  </p:cSld>
  <p:clrMapOvr>
    <a:masterClrMapping/>
  </p:clrMapOvr>
  <p:transition advClick="1" spd="fast">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2 · LO2 · K2 · A2</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Control flow should reveal policy</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Guard invalid</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guard clause</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CPP-CONTROL</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Select case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switch</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CPP-CONTROL</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Apply rule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loop</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CPP-CONTROL</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Return result</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result</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CPP-CONTROL</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Use guards and small policy functions; reserve loops for collections.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83</a:t>
            </a:r>
          </a:p>
        </p:txBody>
      </p:sp>
    </p:spTree>
  </p:cSld>
  <p:clrMapOvr>
    <a:masterClrMapping/>
  </p:clrMapOvr>
  <p:transition advClick="1" spd="fast">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2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Control flow should reveal policy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Guard invalid</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Select case</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Apply rule</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Return result</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Deep nesting obscures which condition owns a decision. Control: Use guards and small policy functions; reserve loops for collections.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84</a:t>
            </a:r>
          </a:p>
        </p:txBody>
      </p:sp>
    </p:spTree>
  </p:cSld>
  <p:clrMapOvr>
    <a:masterClrMapping/>
  </p:clrMapOvr>
  <p:transition advClick="1" spd="fast">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Control flow should reveal policy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if (draft.amount.cents &lt;= 0) return DomainError::invalidAmount;</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guard clause</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switch</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loop</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result</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Cyclomatic paths each have a named test</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85</a:t>
            </a:r>
          </a:p>
        </p:txBody>
      </p:sp>
    </p:spTree>
  </p:cSld>
  <p:clrMapOvr>
    <a:masterClrMapping/>
  </p:clrMapOvr>
  <p:transition advClick="1" spd="fast">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2 · LO2 · K2 · A2</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RAII makes ownership visible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Acquire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unique_ptr</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CPP-RAII</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Bind to object</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vector</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CPP-RAII</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Use safely</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fstream</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CPP-RAII</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Release by scope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destructor</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CPP-RAII</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Keep RAII inside C++; cross the boundary using copied value snapshots.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86</a:t>
            </a:r>
          </a:p>
        </p:txBody>
      </p:sp>
    </p:spTree>
  </p:cSld>
  <p:clrMapOvr>
    <a:masterClrMapping/>
  </p:clrMapOvr>
  <p:transition advClick="1" spd="fast">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2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RAII makes ownership visible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Acquire</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Bind to object</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Use safely</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Release by scope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Raw ownership crosses the bridge and leaks on an error path. Control: Keep RAII inside C++; cross the boundary using copied value snapshots.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87</a:t>
            </a:r>
          </a:p>
        </p:txBody>
      </p:sp>
    </p:spTree>
  </p:cSld>
  <p:clrMapOvr>
    <a:masterClrMapping/>
  </p:clrMapOvr>
  <p:transition advClick="1" spd="fast">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RAII makes ownership visible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auto repo = std::make_unique&lt;JsonExpenseRepository&gt;(path);</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unique_ptr</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vector</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fstream</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destructor</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Zero manual delete paths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88</a:t>
            </a:r>
          </a:p>
        </p:txBody>
      </p:sp>
    </p:spTree>
  </p:cSld>
  <p:clrMapOvr>
    <a:masterClrMapping/>
  </p:clrMapOvr>
  <p:transition advClick="1" spd="fast">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2 · LO2 · K2 · A2</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Dependency injection enables substitution</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Define port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interface</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ARCH-DI</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Inject implementation</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constructor</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ARCH-DI</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Exercise fake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fake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ARCH-DI</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Swap adapter</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production</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ARCH-DI</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Inject repositories and clocks through narrow abstract ports.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89</a:t>
            </a:r>
          </a:p>
        </p:txBody>
      </p:sp>
    </p:spTree>
  </p:cSld>
  <p:clrMapOvr>
    <a:masterClrMapping/>
  </p:clrMapOvr>
  <p:transition advClick="1" spd="fast">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2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Dependency injection enables substitution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Define port</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Inject implementation</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Exercise fake</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Swap adapter</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 singleton couples rules to persistence and time. Control: Inject repositories and clocks through narrow abstract ports.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90</a:t>
            </a:r>
          </a:p>
        </p:txBody>
      </p:sp>
    </p:spTree>
  </p:cSld>
  <p:clrMapOvr>
    <a:masterClrMapping/>
  </p:clrMapOvr>
  <p:transition advClick="1" spd="fast">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Dependency injection enables substitution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ExpenseService(ExpenseRepository&amp; repo, Clock&amp; clock);</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interface</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constructor</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fake</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production</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Core tests run without disk or iOS runtime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91</a:t>
            </a:r>
          </a:p>
        </p:txBody>
      </p:sp>
    </p:spTree>
  </p:cSld>
  <p:clrMapOvr>
    <a:masterClrMapping/>
  </p:clrMapOvr>
  <p:transition advClick="1" spd="fast">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2 · LO2 · K2 · A2</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Compiler diagnostics are design feedback</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Enable warnings</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-Wall</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CPP-TOOLCHAIN</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Treat as errors</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-Wextra</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CPP-TOOLCHAIN</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Read locus</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-Werror</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CPP-TOOLCHAIN</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Repair cause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sanitizer</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CPP-TOOLCHAIN</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Use strict warnings and sanitizers during development; document platform differences.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92</a:t>
            </a:r>
          </a:p>
        </p:txBody>
      </p:sp>
    </p:spTree>
  </p:cSld>
  <p:clrMapOvr>
    <a:masterClrMapping/>
  </p:clrMapOvr>
  <p:transition advClick="1" spd="fast">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2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Compiler diagnostics are design feedback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Enable warnings</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Treat as errors</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Read locus</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Repair cause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Generated code compiles only under permissive defaults. Control: Use strict warnings and sanitizers during development; document platform differences.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93</a:t>
            </a:r>
          </a:p>
        </p:txBody>
      </p:sp>
    </p:spTree>
  </p:cSld>
  <p:clrMapOvr>
    <a:masterClrMapping/>
  </p:clrMapOvr>
  <p:transition advClick="1" spd="fast">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Compiler diagnostics are design feedback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target_compile_options(DomainCore PRIVATE -Wall -Wextra -Werror)</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-Wall</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-Wextra</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-Werror</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sanitizer</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Zero warnings in clean build</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94</a:t>
            </a:r>
          </a:p>
        </p:txBody>
      </p:sp>
    </p:spTree>
  </p:cSld>
  <p:clrMapOvr>
    <a:masterClrMapping/>
  </p:clrMapOvr>
  <p:transition advClick="1" spd="fast">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2 · LO2 · K2 · A2</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Review AI diffs semantically</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Check contract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API</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AI-REVIEW</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Trace data</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invariant</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AI-REVIEW</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Inspect lifetime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ownership</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AI-REVIEW</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Run regression</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tests</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AI-REVIEW</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Review data representation and lifetimes before style.</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95</a:t>
            </a:r>
          </a:p>
        </p:txBody>
      </p:sp>
    </p:spTree>
  </p:cSld>
  <p:clrMapOvr>
    <a:masterClrMapping/>
  </p:clrMapOvr>
  <p:transition advClick="1" spd="fast">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2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Review AI diffs semantically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Check contract</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Trace data</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Inspect lifetime</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Run regression</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 plausible patch introduces silent truncation or ownership ambiguity. Control: Review data representation and lifetimes before style.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96</a:t>
            </a:r>
          </a:p>
        </p:txBody>
      </p:sp>
    </p:spTree>
  </p:cSld>
  <p:clrMapOvr>
    <a:masterClrMapping/>
  </p:clrMapOvr>
  <p:transition advClick="1" spd="fast">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Review AI diffs semantically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 Review: conversion from Swift Int to int32_t may overflow.</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API</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invariant</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ownership</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tests</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Review findings resolved before merge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97</a:t>
            </a:r>
          </a:p>
        </p:txBody>
      </p:sp>
    </p:spTree>
  </p:cSld>
  <p:clrMapOvr>
    <a:masterClrMapping/>
  </p:clrMapOvr>
  <p:transition advClick="1" spd="fast">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SCENARIO EVIDENCE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AI Code Review · Evidence before Acceptance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i-code-review-v1.png"/>
          <p:cNvPicPr>
            <a:picLocks noChangeAspect="1"/>
          </p:cNvPicPr>
          <p:nvPr/>
        </p:nvPicPr>
        <p:blipFill>
          <a:blip r:embed="rId2"/>
          <a:stretch>
            <a:fillRect/>
          </a:stretch>
        </p:blipFill>
        <p:spPr>
          <a:xfrm>
            <a:off x="658368" y="1737360"/>
            <a:ext cx="6720840" cy="4315968"/>
          </a:xfrm>
          <a:prstGeom prst="rect">
            <a:avLst/>
          </a:prstGeom>
        </p:spPr>
      </p:pic>
      <p:sp>
        <p:nvSpPr>
          <p:cNvPr id="8" name="Rounded Rectangle 7"/>
          <p:cNvSpPr/>
          <p:nvPr/>
        </p:nvSpPr>
        <p:spPr>
          <a:xfrm>
            <a:off x="7662672" y="1737360"/>
            <a:ext cx="3831336" cy="96012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62672" y="1737360"/>
            <a:ext cx="82296"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79" y="1901952"/>
            <a:ext cx="365760" cy="329184"/>
          </a:xfrm>
          <a:prstGeom prst="rect">
            <a:avLst/>
          </a:prstGeom>
          <a:noFill/>
        </p:spPr>
        <p:txBody>
          <a:bodyPr wrap="square" anchor="t" lIns="18288" rIns="18288" tIns="18288" bIns="18288">
            <a:spAutoFit/>
          </a:bodyPr>
          <a:lstStyle/>
          <a:p>
            <a:pPr algn="l">
              <a:spcAft>
                <a:spcPts val="0"/>
              </a:spcAft>
            </a:pPr>
            <a:r>
              <a:rPr sz="1400" b="1">
                <a:solidFill>
                  <a:srgbClr val="1F6FEB"/>
                </a:solidFill>
                <a:latin typeface="Arial"/>
              </a:rPr>
              <a:t>1</a:t>
            </a:r>
          </a:p>
        </p:txBody>
      </p:sp>
      <p:sp>
        <p:nvSpPr>
          <p:cNvPr id="11" name="TextBox 10"/>
          <p:cNvSpPr txBox="1"/>
          <p:nvPr/>
        </p:nvSpPr>
        <p:spPr>
          <a:xfrm>
            <a:off x="8412480" y="1901952"/>
            <a:ext cx="2724912" cy="621792"/>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Locate the claim in code.</a:t>
            </a:r>
          </a:p>
        </p:txBody>
      </p:sp>
      <p:sp>
        <p:nvSpPr>
          <p:cNvPr id="12" name="Rounded Rectangle 11"/>
          <p:cNvSpPr/>
          <p:nvPr/>
        </p:nvSpPr>
        <p:spPr>
          <a:xfrm>
            <a:off x="7662672" y="2880360"/>
            <a:ext cx="3831336" cy="96012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62672" y="2880360"/>
            <a:ext cx="82296" cy="960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79" y="3044952"/>
            <a:ext cx="365760" cy="329184"/>
          </a:xfrm>
          <a:prstGeom prst="rect">
            <a:avLst/>
          </a:prstGeom>
          <a:noFill/>
        </p:spPr>
        <p:txBody>
          <a:bodyPr wrap="square" anchor="t" lIns="18288" rIns="18288" tIns="18288" bIns="18288">
            <a:spAutoFit/>
          </a:bodyPr>
          <a:lstStyle/>
          <a:p>
            <a:pPr algn="l">
              <a:spcAft>
                <a:spcPts val="0"/>
              </a:spcAft>
            </a:pPr>
            <a:r>
              <a:rPr sz="1400" b="1">
                <a:solidFill>
                  <a:srgbClr val="7C3AED"/>
                </a:solidFill>
                <a:latin typeface="Arial"/>
              </a:rPr>
              <a:t>2</a:t>
            </a:r>
          </a:p>
        </p:txBody>
      </p:sp>
      <p:sp>
        <p:nvSpPr>
          <p:cNvPr id="15" name="TextBox 14"/>
          <p:cNvSpPr txBox="1"/>
          <p:nvPr/>
        </p:nvSpPr>
        <p:spPr>
          <a:xfrm>
            <a:off x="8412480" y="3044952"/>
            <a:ext cx="2724912" cy="621792"/>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Reproduce material findings.</a:t>
            </a:r>
          </a:p>
        </p:txBody>
      </p:sp>
      <p:sp>
        <p:nvSpPr>
          <p:cNvPr id="16" name="Rounded Rectangle 15"/>
          <p:cNvSpPr/>
          <p:nvPr/>
        </p:nvSpPr>
        <p:spPr>
          <a:xfrm>
            <a:off x="7662672" y="4023360"/>
            <a:ext cx="3831336" cy="96012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62672" y="4023360"/>
            <a:ext cx="82296"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79" y="4187952"/>
            <a:ext cx="365760" cy="329184"/>
          </a:xfrm>
          <a:prstGeom prst="rect">
            <a:avLst/>
          </a:prstGeom>
          <a:noFill/>
        </p:spPr>
        <p:txBody>
          <a:bodyPr wrap="square" anchor="t" lIns="18288" rIns="18288" tIns="18288" bIns="18288">
            <a:spAutoFit/>
          </a:bodyPr>
          <a:lstStyle/>
          <a:p>
            <a:pPr algn="l">
              <a:spcAft>
                <a:spcPts val="0"/>
              </a:spcAft>
            </a:pPr>
            <a:r>
              <a:rPr sz="1400" b="1">
                <a:solidFill>
                  <a:srgbClr val="10B981"/>
                </a:solidFill>
                <a:latin typeface="Arial"/>
              </a:rPr>
              <a:t>3</a:t>
            </a:r>
          </a:p>
        </p:txBody>
      </p:sp>
      <p:sp>
        <p:nvSpPr>
          <p:cNvPr id="19" name="TextBox 18"/>
          <p:cNvSpPr txBox="1"/>
          <p:nvPr/>
        </p:nvSpPr>
        <p:spPr>
          <a:xfrm>
            <a:off x="8412480" y="4187952"/>
            <a:ext cx="2724912" cy="621792"/>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Classify severity and owner.</a:t>
            </a:r>
          </a:p>
        </p:txBody>
      </p:sp>
      <p:sp>
        <p:nvSpPr>
          <p:cNvPr id="20" name="Rounded Rectangle 19"/>
          <p:cNvSpPr/>
          <p:nvPr/>
        </p:nvSpPr>
        <p:spPr>
          <a:xfrm>
            <a:off x="7662672" y="5166360"/>
            <a:ext cx="3831336" cy="96012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662672" y="5166360"/>
            <a:ext cx="82296" cy="96012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79" y="5330952"/>
            <a:ext cx="365760" cy="329184"/>
          </a:xfrm>
          <a:prstGeom prst="rect">
            <a:avLst/>
          </a:prstGeom>
          <a:noFill/>
        </p:spPr>
        <p:txBody>
          <a:bodyPr wrap="square" anchor="t" lIns="18288" rIns="18288" tIns="18288" bIns="18288">
            <a:spAutoFit/>
          </a:bodyPr>
          <a:lstStyle/>
          <a:p>
            <a:pPr algn="l">
              <a:spcAft>
                <a:spcPts val="0"/>
              </a:spcAft>
            </a:pPr>
            <a:r>
              <a:rPr sz="1400" b="1">
                <a:solidFill>
                  <a:srgbClr val="C77600"/>
                </a:solidFill>
                <a:latin typeface="Arial"/>
              </a:rPr>
              <a:t>4</a:t>
            </a:r>
          </a:p>
        </p:txBody>
      </p:sp>
      <p:sp>
        <p:nvSpPr>
          <p:cNvPr id="23" name="TextBox 22"/>
          <p:cNvSpPr txBox="1"/>
          <p:nvPr/>
        </p:nvSpPr>
        <p:spPr>
          <a:xfrm>
            <a:off x="8412480" y="5330952"/>
            <a:ext cx="2724912" cy="621792"/>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Run focused and regression checks.</a:t>
            </a:r>
          </a:p>
        </p:txBody>
      </p:sp>
      <p:sp>
        <p:nvSpPr>
          <p:cNvPr id="24" name="TextBox 23"/>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5" name="TextBox 24"/>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98</a:t>
            </a:r>
          </a:p>
        </p:txBody>
      </p:sp>
    </p:spTree>
  </p:cSld>
  <p:clrMapOvr>
    <a:masterClrMapping/>
  </p:clrMapOvr>
  <p:transition advClick="1" spd="fast">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2 · LO2 · K2 · A2</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Organisational practice is executable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Write convention</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format</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TSC-A2</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Automate check</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lint</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TSC-A2</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Run locally</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tests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TSC-A2</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Enforce in CI</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evidence</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TSC-A2</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Translate practices into formatter, compiler and test configuration.</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99</a:t>
            </a:r>
          </a:p>
        </p:txBody>
      </p:sp>
    </p:spTree>
  </p:cSld>
  <p:clrMapOvr>
    <a:masterClrMapping/>
  </p:clrMapOvr>
  <p:transition advClick="1" spd="fast">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2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Organisational practice is executable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Write convention</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Automate check</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Run locally</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Enforce in CI</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 design principle remains prose and is ignored under time pressure. Control: Translate practices into formatter, compiler and test configuration.</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100</a:t>
            </a:r>
          </a:p>
        </p:txBody>
      </p:sp>
    </p:spTree>
  </p:cSld>
  <p:clrMapOvr>
    <a:masterClrMapping/>
  </p:clrMapOvr>
  <p:transition advClick="1" spd="fast">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Organisational practice is executable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cmake --build build &amp;&amp; ctest --test-dir build --output-on-failure</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format</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lint</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tests</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evidence</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Same checks locally and in CI</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101</a:t>
            </a:r>
          </a:p>
        </p:txBody>
      </p:sp>
    </p:spTree>
  </p:cSld>
  <p:clrMapOvr>
    <a:masterClrMapping/>
  </p:clrMapOvr>
  <p:transition advClick="1" spd="fast">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C77600"/>
                </a:solidFill>
                <a:latin typeface="Arial"/>
              </a:rPr>
              <a:t>TOPIC 2 · NATIVE POWERPOINT CHART</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Topic 2 · Evidence Coverage by Layer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41248" y="1773936"/>
          <a:ext cx="717804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302752" y="1773936"/>
            <a:ext cx="3191256" cy="388620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77072" y="2048256"/>
            <a:ext cx="2651760" cy="228600"/>
          </a:xfrm>
          <a:prstGeom prst="rect">
            <a:avLst/>
          </a:prstGeom>
          <a:noFill/>
        </p:spPr>
        <p:txBody>
          <a:bodyPr wrap="square" anchor="t" lIns="18288" rIns="18288" tIns="18288" bIns="18288">
            <a:spAutoFit/>
          </a:bodyPr>
          <a:lstStyle/>
          <a:p>
            <a:pPr algn="l">
              <a:spcAft>
                <a:spcPts val="0"/>
              </a:spcAft>
            </a:pPr>
            <a:r>
              <a:rPr sz="1100" b="1">
                <a:solidFill>
                  <a:srgbClr val="C77600"/>
                </a:solidFill>
                <a:latin typeface="Arial"/>
              </a:rPr>
              <a:t>WHAT THE DATA SHOWS</a:t>
            </a:r>
          </a:p>
        </p:txBody>
      </p:sp>
      <p:sp>
        <p:nvSpPr>
          <p:cNvPr id="10" name="TextBox 9"/>
          <p:cNvSpPr txBox="1"/>
          <p:nvPr/>
        </p:nvSpPr>
        <p:spPr>
          <a:xfrm>
            <a:off x="8577072" y="2542032"/>
            <a:ext cx="2578608" cy="2231136"/>
          </a:xfrm>
          <a:prstGeom prst="rect">
            <a:avLst/>
          </a:prstGeom>
          <a:noFill/>
        </p:spPr>
        <p:txBody>
          <a:bodyPr wrap="square" anchor="ctr" lIns="18288" rIns="18288" tIns="18288" bIns="18288">
            <a:spAutoFit/>
          </a:bodyPr>
          <a:lstStyle/>
          <a:p>
            <a:pPr algn="l">
              <a:spcAft>
                <a:spcPts val="0"/>
              </a:spcAft>
            </a:pPr>
            <a:r>
              <a:rPr sz="1600" b="1">
                <a:solidFill>
                  <a:srgbClr val="161B26"/>
                </a:solidFill>
                <a:latin typeface="Arial"/>
              </a:rPr>
              <a:t>Coverage should form a connected chain. A polished UI cannot compensate for untested invariants or an undocumented seam.</a:t>
            </a:r>
          </a:p>
        </p:txBody>
      </p:sp>
      <p:sp>
        <p:nvSpPr>
          <p:cNvPr id="11" name="TextBox 10"/>
          <p:cNvSpPr txBox="1"/>
          <p:nvPr/>
        </p:nvSpPr>
        <p:spPr>
          <a:xfrm>
            <a:off x="8577072" y="5010912"/>
            <a:ext cx="2578608" cy="384048"/>
          </a:xfrm>
          <a:prstGeom prst="rect">
            <a:avLst/>
          </a:prstGeom>
          <a:noFill/>
        </p:spPr>
        <p:txBody>
          <a:bodyPr wrap="square" anchor="t" lIns="18288" rIns="18288" tIns="18288" bIns="18288">
            <a:spAutoFit/>
          </a:bodyPr>
          <a:lstStyle/>
          <a:p>
            <a:pPr algn="l">
              <a:spcAft>
                <a:spcPts val="0"/>
              </a:spcAft>
            </a:pPr>
            <a:r>
              <a:rPr sz="1000" b="0">
                <a:solidFill>
                  <a:srgbClr val="5B6372"/>
                </a:solidFill>
                <a:latin typeface="Arial"/>
              </a:rPr>
              <a:t>Editable chart · values are instructional thresholds, not production benchmarks</a:t>
            </a:r>
          </a:p>
        </p:txBody>
      </p:sp>
      <p:sp>
        <p:nvSpPr>
          <p:cNvPr id="12" name="TextBox 1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3" name="TextBox 1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14" name="TextBox 1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102</a:t>
            </a:r>
          </a:p>
        </p:txBody>
      </p:sp>
    </p:spTree>
  </p:cSld>
  <p:clrMapOvr>
    <a:masterClrMapping/>
  </p:clrMapOvr>
  <p:transition advClick="1" spd="fast">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HANDS-ON ACTIVITY · 75 MIN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3: AI-Assisted TDD for C++</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812280" cy="1874519"/>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84248"/>
            <a:ext cx="1554480" cy="219456"/>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CHALLENGE</a:t>
            </a:r>
          </a:p>
        </p:txBody>
      </p:sp>
      <p:sp>
        <p:nvSpPr>
          <p:cNvPr id="9" name="TextBox 8"/>
          <p:cNvSpPr txBox="1"/>
          <p:nvPr/>
        </p:nvSpPr>
        <p:spPr>
          <a:xfrm>
            <a:off x="932688" y="2377440"/>
            <a:ext cx="6254496" cy="804672"/>
          </a:xfrm>
          <a:prstGeom prst="rect">
            <a:avLst/>
          </a:prstGeom>
          <a:noFill/>
        </p:spPr>
        <p:txBody>
          <a:bodyPr wrap="square" anchor="t" lIns="18288" rIns="18288" tIns="18288" bIns="18288">
            <a:spAutoFit/>
          </a:bodyPr>
          <a:lstStyle/>
          <a:p>
            <a:pPr algn="l">
              <a:spcAft>
                <a:spcPts val="0"/>
              </a:spcAft>
            </a:pPr>
            <a:r>
              <a:rPr sz="1700" b="1">
                <a:solidFill>
                  <a:srgbClr val="161B26"/>
                </a:solidFill>
                <a:latin typeface="Arial"/>
              </a:rPr>
              <a:t>Use an evidence-bound AI prompt to implement a rule through Red-Green-Refactor.</a:t>
            </a:r>
          </a:p>
        </p:txBody>
      </p:sp>
      <p:sp>
        <p:nvSpPr>
          <p:cNvPr id="10" name="Rounded Rectangle 9"/>
          <p:cNvSpPr/>
          <p:nvPr/>
        </p:nvSpPr>
        <p:spPr>
          <a:xfrm>
            <a:off x="7744968" y="1737360"/>
            <a:ext cx="3749039" cy="1874519"/>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19288" y="1984248"/>
            <a:ext cx="2560320" cy="219456"/>
          </a:xfrm>
          <a:prstGeom prst="rect">
            <a:avLst/>
          </a:prstGeom>
          <a:noFill/>
        </p:spPr>
        <p:txBody>
          <a:bodyPr wrap="square" anchor="t" lIns="18288" rIns="18288" tIns="18288" bIns="18288">
            <a:spAutoFit/>
          </a:bodyPr>
          <a:lstStyle/>
          <a:p>
            <a:pPr algn="l">
              <a:spcAft>
                <a:spcPts val="0"/>
              </a:spcAft>
            </a:pPr>
            <a:r>
              <a:rPr sz="1100" b="1">
                <a:solidFill>
                  <a:srgbClr val="7C3AED"/>
                </a:solidFill>
                <a:latin typeface="Arial"/>
              </a:rPr>
              <a:t>REGULATED MAPPING</a:t>
            </a:r>
          </a:p>
        </p:txBody>
      </p:sp>
      <p:sp>
        <p:nvSpPr>
          <p:cNvPr id="12" name="TextBox 11"/>
          <p:cNvSpPr txBox="1"/>
          <p:nvPr/>
        </p:nvSpPr>
        <p:spPr>
          <a:xfrm>
            <a:off x="8019288" y="2423160"/>
            <a:ext cx="2560320" cy="502920"/>
          </a:xfrm>
          <a:prstGeom prst="rect">
            <a:avLst/>
          </a:prstGeom>
          <a:noFill/>
        </p:spPr>
        <p:txBody>
          <a:bodyPr wrap="square" anchor="t" lIns="18288" rIns="18288" tIns="18288" bIns="18288">
            <a:spAutoFit/>
          </a:bodyPr>
          <a:lstStyle/>
          <a:p>
            <a:pPr algn="l">
              <a:spcAft>
                <a:spcPts val="0"/>
              </a:spcAft>
            </a:pPr>
            <a:r>
              <a:rPr sz="2600" b="1">
                <a:solidFill>
                  <a:srgbClr val="7C3AED"/>
                </a:solidFill>
                <a:latin typeface="Arial"/>
              </a:rPr>
              <a:t>K2, A2</a:t>
            </a:r>
          </a:p>
        </p:txBody>
      </p:sp>
      <p:sp>
        <p:nvSpPr>
          <p:cNvPr id="13" name="Rounded Rectangle 12"/>
          <p:cNvSpPr/>
          <p:nvPr/>
        </p:nvSpPr>
        <p:spPr>
          <a:xfrm>
            <a:off x="658368" y="3913632"/>
            <a:ext cx="10835640" cy="12984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4133087"/>
            <a:ext cx="2011680"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YOU WILL PRODUCE</a:t>
            </a:r>
          </a:p>
        </p:txBody>
      </p:sp>
      <p:sp>
        <p:nvSpPr>
          <p:cNvPr id="15" name="TextBox 14"/>
          <p:cNvSpPr txBox="1"/>
          <p:nvPr/>
        </p:nvSpPr>
        <p:spPr>
          <a:xfrm>
            <a:off x="932688" y="4517136"/>
            <a:ext cx="6766560" cy="502920"/>
          </a:xfrm>
          <a:prstGeom prst="rect">
            <a:avLst/>
          </a:prstGeom>
          <a:noFill/>
        </p:spPr>
        <p:txBody>
          <a:bodyPr wrap="square" anchor="t" lIns="18288" rIns="18288" tIns="18288" bIns="18288">
            <a:spAutoFit/>
          </a:bodyPr>
          <a:lstStyle/>
          <a:p>
            <a:pPr algn="l">
              <a:spcAft>
                <a:spcPts val="0"/>
              </a:spcAft>
            </a:pPr>
            <a:r>
              <a:rPr sz="1400" b="1">
                <a:solidFill>
                  <a:srgbClr val="161B26"/>
                </a:solidFill>
                <a:latin typeface="Arial"/>
              </a:rPr>
              <a:t>Prompt contract, failing trace, minimal patch and passing trace</a:t>
            </a:r>
          </a:p>
        </p:txBody>
      </p:sp>
      <p:sp>
        <p:nvSpPr>
          <p:cNvPr id="16" name="TextBox 15"/>
          <p:cNvSpPr txBox="1"/>
          <p:nvPr/>
        </p:nvSpPr>
        <p:spPr>
          <a:xfrm>
            <a:off x="7909560" y="4352544"/>
            <a:ext cx="3182112" cy="502920"/>
          </a:xfrm>
          <a:prstGeom prst="rect">
            <a:avLst/>
          </a:prstGeom>
          <a:noFill/>
        </p:spPr>
        <p:txBody>
          <a:bodyPr wrap="square" anchor="t" lIns="18288" rIns="18288" tIns="18288" bIns="18288">
            <a:spAutoFit/>
          </a:bodyPr>
          <a:lstStyle/>
          <a:p>
            <a:pPr algn="l">
              <a:spcAft>
                <a:spcPts val="0"/>
              </a:spcAft>
            </a:pPr>
            <a:r>
              <a:rPr sz="1100" b="0">
                <a:solidFill>
                  <a:srgbClr val="5B6372"/>
                </a:solidFill>
                <a:latin typeface="Arial"/>
              </a:rPr>
              <a:t>AI coding assistant, CTest, diff review</a:t>
            </a:r>
          </a:p>
        </p:txBody>
      </p:sp>
      <p:sp>
        <p:nvSpPr>
          <p:cNvPr id="17" name="Rounded Rectangle 16"/>
          <p:cNvSpPr/>
          <p:nvPr/>
        </p:nvSpPr>
        <p:spPr>
          <a:xfrm>
            <a:off x="658368" y="5468112"/>
            <a:ext cx="10835640" cy="576072"/>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641848"/>
            <a:ext cx="10149840" cy="219456"/>
          </a:xfrm>
          <a:prstGeom prst="rect">
            <a:avLst/>
          </a:prstGeom>
          <a:noFill/>
        </p:spPr>
        <p:txBody>
          <a:bodyPr wrap="square" anchor="t" lIns="18288" rIns="18288" tIns="18288" bIns="18288">
            <a:spAutoFit/>
          </a:bodyPr>
          <a:lstStyle/>
          <a:p>
            <a:pPr algn="l">
              <a:spcAft>
                <a:spcPts val="0"/>
              </a:spcAft>
            </a:pPr>
            <a:r>
              <a:rPr sz="1200" b="1">
                <a:solidFill>
                  <a:srgbClr val="FFFFFF"/>
                </a:solidFill>
                <a:latin typeface="Arial"/>
              </a:rPr>
              <a:t>Detailed procedures: Learner Guide and activities/03-ai-assisted-tdd/README.md</a:t>
            </a:r>
          </a:p>
        </p:txBody>
      </p:sp>
      <p:sp>
        <p:nvSpPr>
          <p:cNvPr id="19" name="TextBox 18"/>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0" name="TextBox 19"/>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1" name="TextBox 20"/>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103</a:t>
            </a:r>
          </a:p>
        </p:txBody>
      </p:sp>
    </p:spTree>
  </p:cSld>
  <p:clrMapOvr>
    <a:masterClrMapping/>
  </p:clrMapOvr>
  <p:transition advClick="1" spd="fast">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ACTIVITY MECHANISM</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3 · Delivery Workflow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Frame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Run the supplied failing overspend test and save the red trace.</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K2, A2</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Build</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Write a prompt naming the contract, protected files and exact finish checks.</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K2, A2</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Connect</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Review types, ownership, error paths and unrelated changes.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K2, A2</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Verify</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Evidence includes a meaningful initial failure, a scoped diff and a fully passing suite.</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K2, A2</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The slide communicates the workflow; the Learner Guide carries the detailed procedure and commands.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104</a:t>
            </a:r>
          </a:p>
        </p:txBody>
      </p:sp>
    </p:spTree>
  </p:cSld>
  <p:clrMapOvr>
    <a:masterClrMapping/>
  </p:clrMapOvr>
  <p:transition advClick="1" spd="fast">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COPY / PASTE PROMPT · BUDGETBUDDY</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3 · Vibe Coding Generation Prompt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82496"/>
            <a:ext cx="6976872" cy="4425696"/>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82496"/>
            <a:ext cx="91440" cy="44256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874519"/>
            <a:ext cx="2157984" cy="201168"/>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GENERATION PROMPT</a:t>
            </a:r>
          </a:p>
        </p:txBody>
      </p:sp>
      <p:sp>
        <p:nvSpPr>
          <p:cNvPr id="10" name="TextBox 9"/>
          <p:cNvSpPr txBox="1"/>
          <p:nvPr/>
        </p:nvSpPr>
        <p:spPr>
          <a:xfrm>
            <a:off x="941832" y="2212848"/>
            <a:ext cx="6364224" cy="3502152"/>
          </a:xfrm>
          <a:prstGeom prst="rect">
            <a:avLst/>
          </a:prstGeom>
          <a:noFill/>
        </p:spPr>
        <p:txBody>
          <a:bodyPr wrap="square" anchor="t" lIns="18288" rIns="18288" tIns="18288" bIns="18288">
            <a:spAutoFit/>
          </a:bodyPr>
          <a:lstStyle/>
          <a:p>
            <a:pPr algn="l">
              <a:spcAft>
                <a:spcPts val="0"/>
              </a:spcAft>
            </a:pPr>
            <a:r>
              <a:rPr sz="1150" b="0">
                <a:solidFill>
                  <a:srgbClr val="D2E4FF"/>
                </a:solidFill>
                <a:latin typeface="Courier New"/>
              </a:rPr>
              <a:t>Use the recorded overspend RED trace and current BudgetPolicy files. Produce the smallest causal patch that makes the missing rule pass. Preserve the public signature, integer cents, existing tests and unrelated formatting. Return the complete changed file, focused command and full regression command. Do not weaken the failing assertion. Retain red trace, scoped diff and GREEN trace.</a:t>
            </a:r>
          </a:p>
        </p:txBody>
      </p:sp>
      <p:sp>
        <p:nvSpPr>
          <p:cNvPr id="11" name="Rounded Rectangle 10"/>
          <p:cNvSpPr/>
          <p:nvPr/>
        </p:nvSpPr>
        <p:spPr>
          <a:xfrm>
            <a:off x="7909560" y="1682496"/>
            <a:ext cx="3584448" cy="120700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74736" y="1892807"/>
            <a:ext cx="2926080" cy="182880"/>
          </a:xfrm>
          <a:prstGeom prst="rect">
            <a:avLst/>
          </a:prstGeom>
          <a:noFill/>
        </p:spPr>
        <p:txBody>
          <a:bodyPr wrap="square" anchor="t" lIns="18288" rIns="18288" tIns="18288" bIns="18288">
            <a:spAutoFit/>
          </a:bodyPr>
          <a:lstStyle/>
          <a:p>
            <a:pPr algn="l">
              <a:spcAft>
                <a:spcPts val="0"/>
              </a:spcAft>
            </a:pPr>
            <a:r>
              <a:rPr sz="900" b="1">
                <a:solidFill>
                  <a:srgbClr val="1F6FEB"/>
                </a:solidFill>
                <a:latin typeface="Arial"/>
              </a:rPr>
              <a:t>PROTECTED FILE SCOPE</a:t>
            </a:r>
          </a:p>
        </p:txBody>
      </p:sp>
      <p:sp>
        <p:nvSpPr>
          <p:cNvPr id="13" name="TextBox 12"/>
          <p:cNvSpPr txBox="1"/>
          <p:nvPr/>
        </p:nvSpPr>
        <p:spPr>
          <a:xfrm>
            <a:off x="8174736" y="2212848"/>
            <a:ext cx="2926080" cy="621792"/>
          </a:xfrm>
          <a:prstGeom prst="rect">
            <a:avLst/>
          </a:prstGeom>
          <a:noFill/>
        </p:spPr>
        <p:txBody>
          <a:bodyPr wrap="square" anchor="t" lIns="18288" rIns="18288" tIns="18288" bIns="18288">
            <a:spAutoFit/>
          </a:bodyPr>
          <a:lstStyle/>
          <a:p>
            <a:pPr algn="l">
              <a:spcAft>
                <a:spcPts val="0"/>
              </a:spcAft>
            </a:pPr>
            <a:r>
              <a:rPr sz="819" b="1">
                <a:solidFill>
                  <a:srgbClr val="161B26"/>
                </a:solidFill>
                <a:latin typeface="Arial"/>
              </a:rPr>
              <a:t>workspace/prompt-contract.txt; workspace/BudgetPolicy.hpp; workspace/BudgetPolicy.cpp; workspace/failing-test.cpp; workspace/red-trace.txt; workspace/green-trace.txt</a:t>
            </a:r>
          </a:p>
        </p:txBody>
      </p:sp>
      <p:sp>
        <p:nvSpPr>
          <p:cNvPr id="14" name="Rounded Rectangle 13"/>
          <p:cNvSpPr/>
          <p:nvPr/>
        </p:nvSpPr>
        <p:spPr>
          <a:xfrm>
            <a:off x="7909560" y="3136392"/>
            <a:ext cx="3584448" cy="1435608"/>
          </a:xfrm>
          <a:prstGeom prst="roundRect">
            <a:avLst>
              <a:gd name="adj" fmla="val 8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4736" y="3355848"/>
            <a:ext cx="2057400" cy="182880"/>
          </a:xfrm>
          <a:prstGeom prst="rect">
            <a:avLst/>
          </a:prstGeom>
          <a:noFill/>
        </p:spPr>
        <p:txBody>
          <a:bodyPr wrap="square" anchor="t" lIns="18288" rIns="18288" tIns="18288" bIns="18288">
            <a:spAutoFit/>
          </a:bodyPr>
          <a:lstStyle/>
          <a:p>
            <a:pPr algn="l">
              <a:spcAft>
                <a:spcPts val="0"/>
              </a:spcAft>
            </a:pPr>
            <a:r>
              <a:rPr sz="900" b="1">
                <a:solidFill>
                  <a:srgbClr val="10B981"/>
                </a:solidFill>
                <a:latin typeface="Arial"/>
              </a:rPr>
              <a:t>EXPECTED GREEN</a:t>
            </a:r>
          </a:p>
        </p:txBody>
      </p:sp>
      <p:sp>
        <p:nvSpPr>
          <p:cNvPr id="16" name="TextBox 15"/>
          <p:cNvSpPr txBox="1"/>
          <p:nvPr/>
        </p:nvSpPr>
        <p:spPr>
          <a:xfrm>
            <a:off x="8174736" y="3666744"/>
            <a:ext cx="2926080" cy="621792"/>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The initial test fails for the missing overspend rule; after the minimal patch the focused binary and full domain suite exit 0.</a:t>
            </a:r>
          </a:p>
        </p:txBody>
      </p:sp>
      <p:sp>
        <p:nvSpPr>
          <p:cNvPr id="17" name="Rounded Rectangle 16"/>
          <p:cNvSpPr/>
          <p:nvPr/>
        </p:nvSpPr>
        <p:spPr>
          <a:xfrm>
            <a:off x="7909560" y="4828032"/>
            <a:ext cx="3584448" cy="1261872"/>
          </a:xfrm>
          <a:prstGeom prst="roundRect">
            <a:avLst>
              <a:gd name="adj" fmla="val 8000"/>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4736" y="5029200"/>
            <a:ext cx="2057400" cy="182880"/>
          </a:xfrm>
          <a:prstGeom prst="rect">
            <a:avLst/>
          </a:prstGeom>
          <a:noFill/>
        </p:spPr>
        <p:txBody>
          <a:bodyPr wrap="square" anchor="t" lIns="18288" rIns="18288" tIns="18288" bIns="18288">
            <a:spAutoFit/>
          </a:bodyPr>
          <a:lstStyle/>
          <a:p>
            <a:pPr algn="l">
              <a:spcAft>
                <a:spcPts val="0"/>
              </a:spcAft>
            </a:pPr>
            <a:r>
              <a:rPr sz="900" b="1">
                <a:solidFill>
                  <a:srgbClr val="C2413A"/>
                </a:solidFill>
                <a:latin typeface="Arial"/>
              </a:rPr>
              <a:t>REVIEW / REPAIR</a:t>
            </a:r>
          </a:p>
        </p:txBody>
      </p:sp>
      <p:sp>
        <p:nvSpPr>
          <p:cNvPr id="19" name="TextBox 18"/>
          <p:cNvSpPr txBox="1"/>
          <p:nvPr/>
        </p:nvSpPr>
        <p:spPr>
          <a:xfrm>
            <a:off x="8174736" y="5330952"/>
            <a:ext cx="2926080" cy="493776"/>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Use the paired review prompt in the Activity guide. Fix the first causal failure, preserve tests, then rerun focused and full checks.</a:t>
            </a:r>
          </a:p>
        </p:txBody>
      </p:sp>
      <p:sp>
        <p:nvSpPr>
          <p:cNvPr id="20" name="TextBox 19"/>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1" name="TextBox 20"/>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105</a:t>
            </a:r>
          </a:p>
        </p:txBody>
      </p:sp>
    </p:spTree>
  </p:cSld>
  <p:clrMapOvr>
    <a:masterClrMapping/>
  </p:clrMapOvr>
  <p:transition advClick="1" spd="fast">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VERIFY BEFORE MOVING ON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3 · Evidence Contract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Artifact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Prompt contract, failing trace, minimal patch and passing trace</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K2, A2</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Acceptance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Evidence includes a meaningful initial failure, a scoped diff and a fully passing suite.</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K2, A2</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Failure signal</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If the test passed before the change, strengthen the assertion before asking for implementation.</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K2, A2</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Cleanup</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Keep prompt and evidence; revert experimental changes outside the accepted patch.</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K2, A2</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Evidence is a retrievable artifact or test result, not a statement that the activity was completed.</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106</a:t>
            </a:r>
          </a:p>
        </p:txBody>
      </p:sp>
    </p:spTree>
  </p:cSld>
  <p:clrMapOvr>
    <a:masterClrMapping/>
  </p:clrMapOvr>
  <p:transition advClick="1" spd="fast">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TEST IT</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3 · Verification Gate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52760" cy="1828800"/>
          </a:xfrm>
          <a:prstGeom prst="roundRect">
            <a:avLst>
              <a:gd name="adj" fmla="val 8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057400"/>
            <a:ext cx="1828800" cy="237744"/>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PASS WHEN</a:t>
            </a:r>
          </a:p>
        </p:txBody>
      </p:sp>
      <p:sp>
        <p:nvSpPr>
          <p:cNvPr id="9" name="TextBox 8"/>
          <p:cNvSpPr txBox="1"/>
          <p:nvPr/>
        </p:nvSpPr>
        <p:spPr>
          <a:xfrm>
            <a:off x="1078992" y="2542032"/>
            <a:ext cx="9646920" cy="566928"/>
          </a:xfrm>
          <a:prstGeom prst="rect">
            <a:avLst/>
          </a:prstGeom>
          <a:noFill/>
        </p:spPr>
        <p:txBody>
          <a:bodyPr wrap="square" anchor="ctr" lIns="18288" rIns="18288" tIns="18288" bIns="18288">
            <a:spAutoFit/>
          </a:bodyPr>
          <a:lstStyle/>
          <a:p>
            <a:pPr algn="l">
              <a:spcAft>
                <a:spcPts val="0"/>
              </a:spcAft>
            </a:pPr>
            <a:r>
              <a:rPr sz="2000" b="1">
                <a:solidFill>
                  <a:srgbClr val="161B26"/>
                </a:solidFill>
                <a:latin typeface="Arial"/>
              </a:rPr>
              <a:t>Evidence includes a meaningful initial failure, a scoped diff and a fully passing suite.</a:t>
            </a:r>
          </a:p>
        </p:txBody>
      </p:sp>
      <p:sp>
        <p:nvSpPr>
          <p:cNvPr id="10" name="Rounded Rectangle 9"/>
          <p:cNvSpPr/>
          <p:nvPr/>
        </p:nvSpPr>
        <p:spPr>
          <a:xfrm>
            <a:off x="749808" y="3913632"/>
            <a:ext cx="5129784" cy="1298448"/>
          </a:xfrm>
          <a:prstGeom prst="roundRect">
            <a:avLst>
              <a:gd name="adj" fmla="val 8000"/>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151376"/>
            <a:ext cx="1645920" cy="219456"/>
          </a:xfrm>
          <a:prstGeom prst="rect">
            <a:avLst/>
          </a:prstGeom>
          <a:noFill/>
        </p:spPr>
        <p:txBody>
          <a:bodyPr wrap="square" anchor="t" lIns="18288" rIns="18288" tIns="18288" bIns="18288">
            <a:spAutoFit/>
          </a:bodyPr>
          <a:lstStyle/>
          <a:p>
            <a:pPr algn="l">
              <a:spcAft>
                <a:spcPts val="0"/>
              </a:spcAft>
            </a:pPr>
            <a:r>
              <a:rPr sz="1100" b="1">
                <a:solidFill>
                  <a:srgbClr val="C2413A"/>
                </a:solidFill>
                <a:latin typeface="Arial"/>
              </a:rPr>
              <a:t>IF IT FAILS</a:t>
            </a:r>
          </a:p>
        </p:txBody>
      </p:sp>
      <p:sp>
        <p:nvSpPr>
          <p:cNvPr id="12" name="TextBox 11"/>
          <p:cNvSpPr txBox="1"/>
          <p:nvPr/>
        </p:nvSpPr>
        <p:spPr>
          <a:xfrm>
            <a:off x="1033271" y="4517136"/>
            <a:ext cx="4498848" cy="475488"/>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If the test passed before the change, strengthen the assertion before asking for implementation.</a:t>
            </a:r>
          </a:p>
        </p:txBody>
      </p:sp>
      <p:sp>
        <p:nvSpPr>
          <p:cNvPr id="13" name="Rounded Rectangle 12"/>
          <p:cNvSpPr/>
          <p:nvPr/>
        </p:nvSpPr>
        <p:spPr>
          <a:xfrm>
            <a:off x="6181344" y="3913632"/>
            <a:ext cx="5221224" cy="12984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4151376"/>
            <a:ext cx="2194560"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LEAVE THE WORKSPACE</a:t>
            </a:r>
          </a:p>
        </p:txBody>
      </p:sp>
      <p:sp>
        <p:nvSpPr>
          <p:cNvPr id="15" name="TextBox 14"/>
          <p:cNvSpPr txBox="1"/>
          <p:nvPr/>
        </p:nvSpPr>
        <p:spPr>
          <a:xfrm>
            <a:off x="6464808" y="4517136"/>
            <a:ext cx="4590288" cy="475488"/>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Keep prompt and evidence; revert experimental changes outside the accepted patch.</a:t>
            </a:r>
          </a:p>
        </p:txBody>
      </p:sp>
      <p:sp>
        <p:nvSpPr>
          <p:cNvPr id="16" name="TextBox 15"/>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7" name="TextBox 16"/>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18" name="TextBox 17"/>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107</a:t>
            </a:r>
          </a:p>
        </p:txBody>
      </p:sp>
    </p:spTree>
  </p:cSld>
  <p:clrMapOvr>
    <a:masterClrMapping/>
  </p:clrMapOvr>
  <p:transition advClick="1" spd="fast">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HANDS-ON ACTIVITY · 65 MIN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4: Toolchain and Quality Gates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812280" cy="1874519"/>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84248"/>
            <a:ext cx="1554480" cy="219456"/>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CHALLENGE</a:t>
            </a:r>
          </a:p>
        </p:txBody>
      </p:sp>
      <p:sp>
        <p:nvSpPr>
          <p:cNvPr id="9" name="TextBox 8"/>
          <p:cNvSpPr txBox="1"/>
          <p:nvPr/>
        </p:nvSpPr>
        <p:spPr>
          <a:xfrm>
            <a:off x="932688" y="2377440"/>
            <a:ext cx="6254496" cy="804672"/>
          </a:xfrm>
          <a:prstGeom prst="rect">
            <a:avLst/>
          </a:prstGeom>
          <a:noFill/>
        </p:spPr>
        <p:txBody>
          <a:bodyPr wrap="square" anchor="t" lIns="18288" rIns="18288" tIns="18288" bIns="18288">
            <a:spAutoFit/>
          </a:bodyPr>
          <a:lstStyle/>
          <a:p>
            <a:pPr algn="l">
              <a:spcAft>
                <a:spcPts val="0"/>
              </a:spcAft>
            </a:pPr>
            <a:r>
              <a:rPr sz="1700" b="1">
                <a:solidFill>
                  <a:srgbClr val="161B26"/>
                </a:solidFill>
                <a:latin typeface="Arial"/>
              </a:rPr>
              <a:t>Turn organisational design practices into compiler, formatter and test gates.</a:t>
            </a:r>
          </a:p>
        </p:txBody>
      </p:sp>
      <p:sp>
        <p:nvSpPr>
          <p:cNvPr id="10" name="Rounded Rectangle 9"/>
          <p:cNvSpPr/>
          <p:nvPr/>
        </p:nvSpPr>
        <p:spPr>
          <a:xfrm>
            <a:off x="7744968" y="1737360"/>
            <a:ext cx="3749039" cy="1874519"/>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19288" y="1984248"/>
            <a:ext cx="2560320" cy="219456"/>
          </a:xfrm>
          <a:prstGeom prst="rect">
            <a:avLst/>
          </a:prstGeom>
          <a:noFill/>
        </p:spPr>
        <p:txBody>
          <a:bodyPr wrap="square" anchor="t" lIns="18288" rIns="18288" tIns="18288" bIns="18288">
            <a:spAutoFit/>
          </a:bodyPr>
          <a:lstStyle/>
          <a:p>
            <a:pPr algn="l">
              <a:spcAft>
                <a:spcPts val="0"/>
              </a:spcAft>
            </a:pPr>
            <a:r>
              <a:rPr sz="1100" b="1">
                <a:solidFill>
                  <a:srgbClr val="7C3AED"/>
                </a:solidFill>
                <a:latin typeface="Arial"/>
              </a:rPr>
              <a:t>REGULATED MAPPING</a:t>
            </a:r>
          </a:p>
        </p:txBody>
      </p:sp>
      <p:sp>
        <p:nvSpPr>
          <p:cNvPr id="12" name="TextBox 11"/>
          <p:cNvSpPr txBox="1"/>
          <p:nvPr/>
        </p:nvSpPr>
        <p:spPr>
          <a:xfrm>
            <a:off x="8019288" y="2423160"/>
            <a:ext cx="2560320" cy="502920"/>
          </a:xfrm>
          <a:prstGeom prst="rect">
            <a:avLst/>
          </a:prstGeom>
          <a:noFill/>
        </p:spPr>
        <p:txBody>
          <a:bodyPr wrap="square" anchor="t" lIns="18288" rIns="18288" tIns="18288" bIns="18288">
            <a:spAutoFit/>
          </a:bodyPr>
          <a:lstStyle/>
          <a:p>
            <a:pPr algn="l">
              <a:spcAft>
                <a:spcPts val="0"/>
              </a:spcAft>
            </a:pPr>
            <a:r>
              <a:rPr sz="2600" b="1">
                <a:solidFill>
                  <a:srgbClr val="7C3AED"/>
                </a:solidFill>
                <a:latin typeface="Arial"/>
              </a:rPr>
              <a:t>K2, A2</a:t>
            </a:r>
          </a:p>
        </p:txBody>
      </p:sp>
      <p:sp>
        <p:nvSpPr>
          <p:cNvPr id="13" name="Rounded Rectangle 12"/>
          <p:cNvSpPr/>
          <p:nvPr/>
        </p:nvSpPr>
        <p:spPr>
          <a:xfrm>
            <a:off x="658368" y="3913632"/>
            <a:ext cx="10835640" cy="12984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4133087"/>
            <a:ext cx="2011680"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YOU WILL PRODUCE</a:t>
            </a:r>
          </a:p>
        </p:txBody>
      </p:sp>
      <p:sp>
        <p:nvSpPr>
          <p:cNvPr id="15" name="TextBox 14"/>
          <p:cNvSpPr txBox="1"/>
          <p:nvPr/>
        </p:nvSpPr>
        <p:spPr>
          <a:xfrm>
            <a:off x="932688" y="4517136"/>
            <a:ext cx="6766560" cy="502920"/>
          </a:xfrm>
          <a:prstGeom prst="rect">
            <a:avLst/>
          </a:prstGeom>
          <a:noFill/>
        </p:spPr>
        <p:txBody>
          <a:bodyPr wrap="square" anchor="t" lIns="18288" rIns="18288" tIns="18288" bIns="18288">
            <a:spAutoFit/>
          </a:bodyPr>
          <a:lstStyle/>
          <a:p>
            <a:pPr algn="l">
              <a:spcAft>
                <a:spcPts val="0"/>
              </a:spcAft>
            </a:pPr>
            <a:r>
              <a:rPr sz="1600" b="1">
                <a:solidFill>
                  <a:srgbClr val="161B26"/>
                </a:solidFill>
                <a:latin typeface="Arial"/>
              </a:rPr>
              <a:t>Warning-clean build, quality script and evidence log</a:t>
            </a:r>
          </a:p>
        </p:txBody>
      </p:sp>
      <p:sp>
        <p:nvSpPr>
          <p:cNvPr id="16" name="TextBox 15"/>
          <p:cNvSpPr txBox="1"/>
          <p:nvPr/>
        </p:nvSpPr>
        <p:spPr>
          <a:xfrm>
            <a:off x="7909560" y="4352544"/>
            <a:ext cx="3182112" cy="502920"/>
          </a:xfrm>
          <a:prstGeom prst="rect">
            <a:avLst/>
          </a:prstGeom>
          <a:noFill/>
        </p:spPr>
        <p:txBody>
          <a:bodyPr wrap="square" anchor="t" lIns="18288" rIns="18288" tIns="18288" bIns="18288">
            <a:spAutoFit/>
          </a:bodyPr>
          <a:lstStyle/>
          <a:p>
            <a:pPr algn="l">
              <a:spcAft>
                <a:spcPts val="0"/>
              </a:spcAft>
            </a:pPr>
            <a:r>
              <a:rPr sz="1100" b="0">
                <a:solidFill>
                  <a:srgbClr val="5B6372"/>
                </a:solidFill>
                <a:latin typeface="Arial"/>
              </a:rPr>
              <a:t>CMake, compiler warnings, sanitizers, shell</a:t>
            </a:r>
          </a:p>
        </p:txBody>
      </p:sp>
      <p:sp>
        <p:nvSpPr>
          <p:cNvPr id="17" name="Rounded Rectangle 16"/>
          <p:cNvSpPr/>
          <p:nvPr/>
        </p:nvSpPr>
        <p:spPr>
          <a:xfrm>
            <a:off x="658368" y="5468112"/>
            <a:ext cx="10835640" cy="576072"/>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641848"/>
            <a:ext cx="10149840" cy="219456"/>
          </a:xfrm>
          <a:prstGeom prst="rect">
            <a:avLst/>
          </a:prstGeom>
          <a:noFill/>
        </p:spPr>
        <p:txBody>
          <a:bodyPr wrap="square" anchor="t" lIns="18288" rIns="18288" tIns="18288" bIns="18288">
            <a:spAutoFit/>
          </a:bodyPr>
          <a:lstStyle/>
          <a:p>
            <a:pPr algn="l">
              <a:spcAft>
                <a:spcPts val="0"/>
              </a:spcAft>
            </a:pPr>
            <a:r>
              <a:rPr sz="1200" b="1">
                <a:solidFill>
                  <a:srgbClr val="FFFFFF"/>
                </a:solidFill>
                <a:latin typeface="Arial"/>
              </a:rPr>
              <a:t>Detailed procedures: Learner Guide and activities/04-toolchain-quality-gates/README.md</a:t>
            </a:r>
          </a:p>
        </p:txBody>
      </p:sp>
      <p:sp>
        <p:nvSpPr>
          <p:cNvPr id="19" name="TextBox 18"/>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0" name="TextBox 19"/>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1" name="TextBox 20"/>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108</a:t>
            </a:r>
          </a:p>
        </p:txBody>
      </p:sp>
    </p:spTree>
  </p:cSld>
  <p:clrMapOvr>
    <a:masterClrMapping/>
  </p:clrMapOvr>
  <p:transition advClick="1" spd="fast">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ACTIVITY MECHANISM</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4 · Delivery Workflow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Frame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Enable C++20 plus -Wall, -Wextra and -Werror for the core target.</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K2, A2</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Build</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Add a single verify script that configures, builds and tests.</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K2, A2</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Connect</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Repair the causal line and run the complete verification again.</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K2, A2</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Verify</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 clean checkout can run one command and receive a non-zero exit on the injected defect and zero after repair.</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K2, A2</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The slide communicates the workflow; the Learner Guide carries the detailed procedure and commands.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109</a:t>
            </a:r>
          </a:p>
        </p:txBody>
      </p:sp>
    </p:spTree>
  </p:cSld>
  <p:clrMapOvr>
    <a:masterClrMapping/>
  </p:clrMapOvr>
  <p:transition advClick="1" spd="fast">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COPY / PASTE PROMPT · BUDGETBUDDY</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4 · Vibe Coding Generation Prompt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82496"/>
            <a:ext cx="6976872" cy="4425696"/>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82496"/>
            <a:ext cx="91440" cy="44256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874519"/>
            <a:ext cx="2157984" cy="201168"/>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GENERATION PROMPT</a:t>
            </a:r>
          </a:p>
        </p:txBody>
      </p:sp>
      <p:sp>
        <p:nvSpPr>
          <p:cNvPr id="10" name="TextBox 9"/>
          <p:cNvSpPr txBox="1"/>
          <p:nvPr/>
        </p:nvSpPr>
        <p:spPr>
          <a:xfrm>
            <a:off x="941832" y="2212848"/>
            <a:ext cx="6364224" cy="3502152"/>
          </a:xfrm>
          <a:prstGeom prst="rect">
            <a:avLst/>
          </a:prstGeom>
          <a:noFill/>
        </p:spPr>
        <p:txBody>
          <a:bodyPr wrap="square" anchor="t" lIns="18288" rIns="18288" tIns="18288" bIns="18288">
            <a:spAutoFit/>
          </a:bodyPr>
          <a:lstStyle/>
          <a:p>
            <a:pPr algn="l">
              <a:spcAft>
                <a:spcPts val="0"/>
              </a:spcAft>
            </a:pPr>
            <a:r>
              <a:rPr sz="1150" b="0">
                <a:solidFill>
                  <a:srgbClr val="D2E4FF"/>
                </a:solidFill>
                <a:latin typeface="Courier New"/>
              </a:rPr>
              <a:t>Generate complete CMake and verify.sh files for C++20, guarded strict warnings, optional AddressSanitizer and CTest. Demonstrate RED with one controlled warning, then repair its causal line and demonstrate GREEN. Do not ignore command failures or use an in-source build. Output complete files and the expected non-zero then zero observations.</a:t>
            </a:r>
          </a:p>
        </p:txBody>
      </p:sp>
      <p:sp>
        <p:nvSpPr>
          <p:cNvPr id="11" name="Rounded Rectangle 10"/>
          <p:cNvSpPr/>
          <p:nvPr/>
        </p:nvSpPr>
        <p:spPr>
          <a:xfrm>
            <a:off x="7909560" y="1682496"/>
            <a:ext cx="3584448" cy="120700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74736" y="1892807"/>
            <a:ext cx="2926080" cy="182880"/>
          </a:xfrm>
          <a:prstGeom prst="rect">
            <a:avLst/>
          </a:prstGeom>
          <a:noFill/>
        </p:spPr>
        <p:txBody>
          <a:bodyPr wrap="square" anchor="t" lIns="18288" rIns="18288" tIns="18288" bIns="18288">
            <a:spAutoFit/>
          </a:bodyPr>
          <a:lstStyle/>
          <a:p>
            <a:pPr algn="l">
              <a:spcAft>
                <a:spcPts val="0"/>
              </a:spcAft>
            </a:pPr>
            <a:r>
              <a:rPr sz="900" b="1">
                <a:solidFill>
                  <a:srgbClr val="1F6FEB"/>
                </a:solidFill>
                <a:latin typeface="Arial"/>
              </a:rPr>
              <a:t>PROTECTED FILE SCOPE</a:t>
            </a:r>
          </a:p>
        </p:txBody>
      </p:sp>
      <p:sp>
        <p:nvSpPr>
          <p:cNvPr id="13" name="TextBox 12"/>
          <p:cNvSpPr txBox="1"/>
          <p:nvPr/>
        </p:nvSpPr>
        <p:spPr>
          <a:xfrm>
            <a:off x="8174736" y="2212848"/>
            <a:ext cx="2926080" cy="621792"/>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workspace/CMakeLists.txt; workspace/verify.sh; workspace/quality-gates.txt; workspace/evidence-log.txt</a:t>
            </a:r>
          </a:p>
        </p:txBody>
      </p:sp>
      <p:sp>
        <p:nvSpPr>
          <p:cNvPr id="14" name="Rounded Rectangle 13"/>
          <p:cNvSpPr/>
          <p:nvPr/>
        </p:nvSpPr>
        <p:spPr>
          <a:xfrm>
            <a:off x="7909560" y="3136392"/>
            <a:ext cx="3584448" cy="1435608"/>
          </a:xfrm>
          <a:prstGeom prst="roundRect">
            <a:avLst>
              <a:gd name="adj" fmla="val 8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4736" y="3355848"/>
            <a:ext cx="2057400" cy="182880"/>
          </a:xfrm>
          <a:prstGeom prst="rect">
            <a:avLst/>
          </a:prstGeom>
          <a:noFill/>
        </p:spPr>
        <p:txBody>
          <a:bodyPr wrap="square" anchor="t" lIns="18288" rIns="18288" tIns="18288" bIns="18288">
            <a:spAutoFit/>
          </a:bodyPr>
          <a:lstStyle/>
          <a:p>
            <a:pPr algn="l">
              <a:spcAft>
                <a:spcPts val="0"/>
              </a:spcAft>
            </a:pPr>
            <a:r>
              <a:rPr sz="900" b="1">
                <a:solidFill>
                  <a:srgbClr val="10B981"/>
                </a:solidFill>
                <a:latin typeface="Arial"/>
              </a:rPr>
              <a:t>EXPECTED GREEN</a:t>
            </a:r>
          </a:p>
        </p:txBody>
      </p:sp>
      <p:sp>
        <p:nvSpPr>
          <p:cNvPr id="16" name="TextBox 15"/>
          <p:cNvSpPr txBox="1"/>
          <p:nvPr/>
        </p:nvSpPr>
        <p:spPr>
          <a:xfrm>
            <a:off x="8174736" y="3666744"/>
            <a:ext cx="2926080" cy="621792"/>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`sh workspace/verify.sh` fails on the injected warning and exits 0 after repair with all CTest cases passing.</a:t>
            </a:r>
          </a:p>
        </p:txBody>
      </p:sp>
      <p:sp>
        <p:nvSpPr>
          <p:cNvPr id="17" name="Rounded Rectangle 16"/>
          <p:cNvSpPr/>
          <p:nvPr/>
        </p:nvSpPr>
        <p:spPr>
          <a:xfrm>
            <a:off x="7909560" y="4828032"/>
            <a:ext cx="3584448" cy="1261872"/>
          </a:xfrm>
          <a:prstGeom prst="roundRect">
            <a:avLst>
              <a:gd name="adj" fmla="val 8000"/>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4736" y="5029200"/>
            <a:ext cx="2057400" cy="182880"/>
          </a:xfrm>
          <a:prstGeom prst="rect">
            <a:avLst/>
          </a:prstGeom>
          <a:noFill/>
        </p:spPr>
        <p:txBody>
          <a:bodyPr wrap="square" anchor="t" lIns="18288" rIns="18288" tIns="18288" bIns="18288">
            <a:spAutoFit/>
          </a:bodyPr>
          <a:lstStyle/>
          <a:p>
            <a:pPr algn="l">
              <a:spcAft>
                <a:spcPts val="0"/>
              </a:spcAft>
            </a:pPr>
            <a:r>
              <a:rPr sz="900" b="1">
                <a:solidFill>
                  <a:srgbClr val="C2413A"/>
                </a:solidFill>
                <a:latin typeface="Arial"/>
              </a:rPr>
              <a:t>REVIEW / REPAIR</a:t>
            </a:r>
          </a:p>
        </p:txBody>
      </p:sp>
      <p:sp>
        <p:nvSpPr>
          <p:cNvPr id="19" name="TextBox 18"/>
          <p:cNvSpPr txBox="1"/>
          <p:nvPr/>
        </p:nvSpPr>
        <p:spPr>
          <a:xfrm>
            <a:off x="8174736" y="5330952"/>
            <a:ext cx="2926080" cy="493776"/>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Use the paired review prompt in the Activity guide. Fix the first causal failure, preserve tests, then rerun focused and full checks.</a:t>
            </a:r>
          </a:p>
        </p:txBody>
      </p:sp>
      <p:sp>
        <p:nvSpPr>
          <p:cNvPr id="20" name="TextBox 19"/>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1" name="TextBox 20"/>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110</a:t>
            </a:r>
          </a:p>
        </p:txBody>
      </p:sp>
    </p:spTree>
  </p:cSld>
  <p:clrMapOvr>
    <a:masterClrMapping/>
  </p:clrMapOvr>
  <p:transition advClick="1" spd="fast">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VERIFY BEFORE MOVING ON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4 · Evidence Contract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Artifact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Warning-clean build, quality script and evidence log</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K2, A2</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Acceptance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 clean checkout can run one command and receive a non-zero exit on the injected defect and zero after repair.</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K2, A2</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Failure signal</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If Apple Clang rejects a flag, gate it by compiler ID and document the equivalent.</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K2, A2</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Cleanup</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Remove generated build and sanitizer output, not the verification script.</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K2, A2</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Evidence is a retrievable artifact or test result, not a statement that the activity was completed.</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111</a:t>
            </a:r>
          </a:p>
        </p:txBody>
      </p:sp>
    </p:spTree>
  </p:cSld>
  <p:clrMapOvr>
    <a:masterClrMapping/>
  </p:clrMapOvr>
  <p:transition advClick="1" spd="fast">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TEST IT</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4 · Verification Gate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52760" cy="1828800"/>
          </a:xfrm>
          <a:prstGeom prst="roundRect">
            <a:avLst>
              <a:gd name="adj" fmla="val 8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057400"/>
            <a:ext cx="1828800" cy="237744"/>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PASS WHEN</a:t>
            </a:r>
          </a:p>
        </p:txBody>
      </p:sp>
      <p:sp>
        <p:nvSpPr>
          <p:cNvPr id="9" name="TextBox 8"/>
          <p:cNvSpPr txBox="1"/>
          <p:nvPr/>
        </p:nvSpPr>
        <p:spPr>
          <a:xfrm>
            <a:off x="1078992" y="2542032"/>
            <a:ext cx="9646920" cy="566928"/>
          </a:xfrm>
          <a:prstGeom prst="rect">
            <a:avLst/>
          </a:prstGeom>
          <a:noFill/>
        </p:spPr>
        <p:txBody>
          <a:bodyPr wrap="square" anchor="ctr" lIns="18288" rIns="18288" tIns="18288" bIns="18288">
            <a:spAutoFit/>
          </a:bodyPr>
          <a:lstStyle/>
          <a:p>
            <a:pPr algn="l">
              <a:spcAft>
                <a:spcPts val="0"/>
              </a:spcAft>
            </a:pPr>
            <a:r>
              <a:rPr sz="2000" b="1">
                <a:solidFill>
                  <a:srgbClr val="161B26"/>
                </a:solidFill>
                <a:latin typeface="Arial"/>
              </a:rPr>
              <a:t>A clean checkout can run one command and receive a non-zero exit on the injected defect and zero after repair.</a:t>
            </a:r>
          </a:p>
        </p:txBody>
      </p:sp>
      <p:sp>
        <p:nvSpPr>
          <p:cNvPr id="10" name="Rounded Rectangle 9"/>
          <p:cNvSpPr/>
          <p:nvPr/>
        </p:nvSpPr>
        <p:spPr>
          <a:xfrm>
            <a:off x="749808" y="3913632"/>
            <a:ext cx="5129784" cy="1298448"/>
          </a:xfrm>
          <a:prstGeom prst="roundRect">
            <a:avLst>
              <a:gd name="adj" fmla="val 8000"/>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151376"/>
            <a:ext cx="1645920" cy="219456"/>
          </a:xfrm>
          <a:prstGeom prst="rect">
            <a:avLst/>
          </a:prstGeom>
          <a:noFill/>
        </p:spPr>
        <p:txBody>
          <a:bodyPr wrap="square" anchor="t" lIns="18288" rIns="18288" tIns="18288" bIns="18288">
            <a:spAutoFit/>
          </a:bodyPr>
          <a:lstStyle/>
          <a:p>
            <a:pPr algn="l">
              <a:spcAft>
                <a:spcPts val="0"/>
              </a:spcAft>
            </a:pPr>
            <a:r>
              <a:rPr sz="1100" b="1">
                <a:solidFill>
                  <a:srgbClr val="C2413A"/>
                </a:solidFill>
                <a:latin typeface="Arial"/>
              </a:rPr>
              <a:t>IF IT FAILS</a:t>
            </a:r>
          </a:p>
        </p:txBody>
      </p:sp>
      <p:sp>
        <p:nvSpPr>
          <p:cNvPr id="12" name="TextBox 11"/>
          <p:cNvSpPr txBox="1"/>
          <p:nvPr/>
        </p:nvSpPr>
        <p:spPr>
          <a:xfrm>
            <a:off x="1033271" y="4517136"/>
            <a:ext cx="4498848" cy="475488"/>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If Apple Clang rejects a flag, gate it by compiler ID and document the equivalent.</a:t>
            </a:r>
          </a:p>
        </p:txBody>
      </p:sp>
      <p:sp>
        <p:nvSpPr>
          <p:cNvPr id="13" name="Rounded Rectangle 12"/>
          <p:cNvSpPr/>
          <p:nvPr/>
        </p:nvSpPr>
        <p:spPr>
          <a:xfrm>
            <a:off x="6181344" y="3913632"/>
            <a:ext cx="5221224" cy="12984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4151376"/>
            <a:ext cx="2194560"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LEAVE THE WORKSPACE</a:t>
            </a:r>
          </a:p>
        </p:txBody>
      </p:sp>
      <p:sp>
        <p:nvSpPr>
          <p:cNvPr id="15" name="TextBox 14"/>
          <p:cNvSpPr txBox="1"/>
          <p:nvPr/>
        </p:nvSpPr>
        <p:spPr>
          <a:xfrm>
            <a:off x="6464808" y="4517136"/>
            <a:ext cx="4590288" cy="475488"/>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Remove generated build and sanitizer output, not the verification script.</a:t>
            </a:r>
          </a:p>
        </p:txBody>
      </p:sp>
      <p:sp>
        <p:nvSpPr>
          <p:cNvPr id="16" name="TextBox 15"/>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7" name="TextBox 16"/>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18" name="TextBox 17"/>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112</a:t>
            </a:r>
          </a:p>
        </p:txBody>
      </p:sp>
    </p:spTree>
  </p:cSld>
  <p:clrMapOvr>
    <a:masterClrMapping/>
  </p:clrMapOvr>
  <p:transition advClick="1" spd="fast">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RETRIEVAL PRACTICE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Topic 2 · Review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Explain</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LO2: Apply C++ methodologies and tools for software creation.</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LO2 · K2 · A2</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Demonstrate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Show the Activity evidence that operationalises the outcome.</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LO2 · K2 · A2</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Diagnose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Name the failure signal and the layer where it originates.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LO2 · K2 · A2</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Trace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Connect LO2 · K2 · A2 to the assessment and evidence pack.</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LO2 · K2 · A2</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Do not advance on confidence alone; point to the artifact or test result that supports the answer.</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113</a:t>
            </a:r>
          </a:p>
        </p:txBody>
      </p:sp>
    </p:spTree>
  </p:cSld>
  <p:clrMapOvr>
    <a:masterClrMapping/>
  </p:clrMapOvr>
  <p:transition advClick="1" spd="fast">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737360"/>
            <a:ext cx="10835640" cy="329184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28016" cy="3291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48840"/>
            <a:ext cx="7680960" cy="310896"/>
          </a:xfrm>
          <a:prstGeom prst="rect">
            <a:avLst/>
          </a:prstGeom>
          <a:noFill/>
        </p:spPr>
        <p:txBody>
          <a:bodyPr wrap="square" anchor="t" lIns="18288" rIns="18288" tIns="18288" bIns="18288">
            <a:spAutoFit/>
          </a:bodyPr>
          <a:lstStyle/>
          <a:p>
            <a:pPr algn="l">
              <a:spcAft>
                <a:spcPts val="0"/>
              </a:spcAft>
            </a:pPr>
            <a:r>
              <a:rPr sz="1500" b="1">
                <a:solidFill>
                  <a:srgbClr val="1F6FEB"/>
                </a:solidFill>
                <a:latin typeface="Arial"/>
              </a:rPr>
              <a:t>TOPIC 3 · LO3 · K3 · A3</a:t>
            </a:r>
          </a:p>
        </p:txBody>
      </p:sp>
      <p:sp>
        <p:nvSpPr>
          <p:cNvPr id="6" name="TextBox 5"/>
          <p:cNvSpPr txBox="1"/>
          <p:nvPr/>
        </p:nvSpPr>
        <p:spPr>
          <a:xfrm>
            <a:off x="1280160" y="2606040"/>
            <a:ext cx="8732520" cy="932688"/>
          </a:xfrm>
          <a:prstGeom prst="rect">
            <a:avLst/>
          </a:prstGeom>
          <a:noFill/>
        </p:spPr>
        <p:txBody>
          <a:bodyPr wrap="square" anchor="ctr" lIns="18288" rIns="18288" tIns="18288" bIns="18288">
            <a:spAutoFit/>
          </a:bodyPr>
          <a:lstStyle/>
          <a:p>
            <a:pPr algn="l">
              <a:spcAft>
                <a:spcPts val="0"/>
              </a:spcAft>
            </a:pPr>
            <a:r>
              <a:rPr sz="3400" b="1">
                <a:solidFill>
                  <a:srgbClr val="161B26"/>
                </a:solidFill>
                <a:latin typeface="Arial"/>
              </a:rPr>
              <a:t>AI-Generated SwiftUI App Shell and Controls</a:t>
            </a:r>
          </a:p>
        </p:txBody>
      </p:sp>
      <p:sp>
        <p:nvSpPr>
          <p:cNvPr id="7" name="TextBox 6"/>
          <p:cNvSpPr txBox="1"/>
          <p:nvPr/>
        </p:nvSpPr>
        <p:spPr>
          <a:xfrm>
            <a:off x="1280160" y="3767328"/>
            <a:ext cx="8732520" cy="658368"/>
          </a:xfrm>
          <a:prstGeom prst="rect">
            <a:avLst/>
          </a:prstGeom>
          <a:noFill/>
        </p:spPr>
        <p:txBody>
          <a:bodyPr wrap="square" anchor="t" lIns="18288" rIns="18288" tIns="18288" bIns="18288">
            <a:spAutoFit/>
          </a:bodyPr>
          <a:lstStyle/>
          <a:p>
            <a:pPr algn="l">
              <a:spcAft>
                <a:spcPts val="0"/>
              </a:spcAft>
            </a:pPr>
            <a:r>
              <a:rPr sz="1400" b="0">
                <a:solidFill>
                  <a:srgbClr val="5B6372"/>
                </a:solidFill>
                <a:latin typeface="Arial"/>
              </a:rPr>
              <a:t>LO3: Select essential C++ controls and features to meet software design requirements.</a:t>
            </a:r>
          </a:p>
        </p:txBody>
      </p:sp>
      <p:sp>
        <p:nvSpPr>
          <p:cNvPr id="8" name="TextBox 7"/>
          <p:cNvSpPr txBox="1"/>
          <p:nvPr/>
        </p:nvSpPr>
        <p:spPr>
          <a:xfrm>
            <a:off x="9674352" y="658368"/>
            <a:ext cx="1417320" cy="658368"/>
          </a:xfrm>
          <a:prstGeom prst="rect">
            <a:avLst/>
          </a:prstGeom>
          <a:noFill/>
        </p:spPr>
        <p:txBody>
          <a:bodyPr wrap="square" anchor="t" lIns="18288" rIns="18288" tIns="18288" bIns="18288">
            <a:spAutoFit/>
          </a:bodyPr>
          <a:lstStyle/>
          <a:p>
            <a:pPr algn="r">
              <a:spcAft>
                <a:spcPts val="0"/>
              </a:spcAft>
            </a:pPr>
            <a:r>
              <a:rPr sz="5400" b="1">
                <a:solidFill>
                  <a:srgbClr val="D7E0EA"/>
                </a:solidFill>
                <a:latin typeface="Arial"/>
              </a:rPr>
              <a:t>03</a:t>
            </a:r>
          </a:p>
        </p:txBody>
      </p:sp>
      <p:sp>
        <p:nvSpPr>
          <p:cNvPr id="9" name="TextBox 8"/>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0" name="TextBox 9"/>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11" name="TextBox 10"/>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114</a:t>
            </a:r>
          </a:p>
        </p:txBody>
      </p:sp>
    </p:spTree>
  </p:cSld>
  <p:clrMapOvr>
    <a:masterClrMapping/>
  </p:clrMapOvr>
  <p:transition advClick="1" spd="med">
    <p:push dir="l"/>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3 · LO3 · K3 · A3</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SwiftUI renders state as a function</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Own state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@State</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SWIFTUI-STATE</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Derive view</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@Observable</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SWIFTUI-STATE</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Send intent</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body</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SWIFTUI-STATE</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Render update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action</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SWIFTUI-STATE</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Keep View declarative; send intent to a state owner that calls the bridge.</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115</a:t>
            </a:r>
          </a:p>
        </p:txBody>
      </p:sp>
    </p:spTree>
  </p:cSld>
  <p:clrMapOvr>
    <a:masterClrMapping/>
  </p:clrMapOvr>
  <p:transition advClick="1" spd="fast">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3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SwiftUI renders state as a function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Own state</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Derive view</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Send intent</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Render update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Business rules execute inside body and repeat on every render. Control: Keep View declarative; send intent to a state owner that calls the bridge.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116</a:t>
            </a:r>
          </a:p>
        </p:txBody>
      </p:sp>
    </p:spTree>
  </p:cSld>
  <p:clrMapOvr>
    <a:masterClrMapping/>
  </p:clrMapOvr>
  <p:transition advClick="1" spd="fast">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SwiftUI renders state as a function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@Observable final class BudgetViewModel { private(set) var snapshot: Snapshot }</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@State</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@Observable</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body</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action</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UI states covered by previews or tests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117</a:t>
            </a:r>
          </a:p>
        </p:txBody>
      </p:sp>
    </p:spTree>
  </p:cSld>
  <p:clrMapOvr>
    <a:masterClrMapping/>
  </p:clrMapOvr>
  <p:transition advClick="1" spd="fast">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3 · LO3 · K3 · A3</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Select controls from the data contract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Identify type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TextField</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TSC-A3</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Choose affordance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Picker</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TSC-A3</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Constrain input</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Toggle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TSC-A3</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Expose feedback</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Button</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TSC-A3</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Choose the control that communicates range, optionality and consequence.</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118</a:t>
            </a:r>
          </a:p>
        </p:txBody>
      </p:sp>
    </p:spTree>
  </p:cSld>
  <p:clrMapOvr>
    <a:masterClrMapping/>
  </p:clrMapOvr>
  <p:transition advClick="1" spd="fast">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3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Select controls from the data contract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Identify type</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Choose affordance</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Constrain input</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Expose feedback</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 free-text field captures a value from a small controlled set. Control: Choose the control that communicates range, optionality and consequence.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119</a:t>
            </a:r>
          </a:p>
        </p:txBody>
      </p:sp>
    </p:spTree>
  </p:cSld>
  <p:clrMapOvr>
    <a:masterClrMapping/>
  </p:clrMapOvr>
  <p:transition advClick="1" spd="fast">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Select controls from the data contract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Picker("Category", selection: $draft.category) { ... }</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TextField</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Picker</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Toggle</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Button</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Invalid states prevented or explained</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120</a:t>
            </a:r>
          </a:p>
        </p:txBody>
      </p:sp>
    </p:spTree>
  </p:cSld>
  <p:clrMapOvr>
    <a:masterClrMapping/>
  </p:clrMapOvr>
  <p:transition advClick="1" spd="fast">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3 · LO3 · K3 · A3</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Validation belongs at two boundaries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Guide in UI</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format</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VALIDATION</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Validate domain</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invariant</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VALIDATION</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Map error</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message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VALIDATION</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Preserve input</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recovery</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VALIDATION</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Provide immediate SwiftUI guidance and enforce invariants again in C++.</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121</a:t>
            </a:r>
          </a:p>
        </p:txBody>
      </p:sp>
    </p:spTree>
  </p:cSld>
  <p:clrMapOvr>
    <a:masterClrMapping/>
  </p:clrMapOvr>
  <p:transition advClick="1" spd="fast">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3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Validation belongs at two boundaries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Guide in UI</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Validate domain</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Map error</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Preserve input</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UI validation is treated as sufficient security or correctness. Control: Provide immediate SwiftUI guidance and enforce invariants again in C++.</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122</a:t>
            </a:r>
          </a:p>
        </p:txBody>
      </p:sp>
    </p:spTree>
  </p:cSld>
  <p:clrMapOvr>
    <a:masterClrMapping/>
  </p:clrMapOvr>
  <p:transition advClick="1" spd="fast">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Validation belongs at two boundaries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guard let cents = MoneyParser.cents(text) else { message = .invalidAmount }</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format</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invariant</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message</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recovery</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Rejected invalid inputs with recoverable state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123</a:t>
            </a:r>
          </a:p>
        </p:txBody>
      </p:sp>
    </p:spTree>
  </p:cSld>
  <p:clrMapOvr>
    <a:masterClrMapping/>
  </p:clrMapOvr>
  <p:transition advClick="1" spd="fast">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3 · LO3 · K3 · A3</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Navigation models workflow state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Define destination</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NavigationStack</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SWIFTUI-NAV</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Bind path</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NavigationPath</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SWIFTUI-NAV</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Pass identity</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route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SWIFTUI-NAV</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Handle return</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selection</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SWIFTUI-NAV</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Route with identifiers and reload authoritative snapshots at boundaries.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124</a:t>
            </a:r>
          </a:p>
        </p:txBody>
      </p:sp>
    </p:spTree>
  </p:cSld>
  <p:clrMapOvr>
    <a:masterClrMapping/>
  </p:clrMapOvr>
  <p:transition advClick="1" spd="fast">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3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Navigation models workflow state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Define destination</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Bind path</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Pass identity</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Handle return</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Views pass mutable models through an implicit navigation chain. Control: Route with identifiers and reload authoritative snapshots at boundaries.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125</a:t>
            </a:r>
          </a:p>
        </p:txBody>
      </p:sp>
    </p:spTree>
  </p:cSld>
  <p:clrMapOvr>
    <a:masterClrMapping/>
  </p:clrMapOvr>
  <p:transition advClick="1" spd="fast">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Navigation models workflow state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enum Route: Hashable { case expenseDetail(UUID); case settings }</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NavigationStack</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NavigationPath</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route</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selection</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Deep link and back path produce valid state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126</a:t>
            </a:r>
          </a:p>
        </p:txBody>
      </p:sp>
    </p:spTree>
  </p:cSld>
  <p:clrMapOvr>
    <a:masterClrMapping/>
  </p:clrMapOvr>
  <p:transition advClick="1" spd="fast">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3 · LO3 · K3 · A3</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Lists need stable identity</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Fetch snapshot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Identifiable</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SWIFTUI-LIST</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Identify row</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UUID</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SWIFTUI-LIST</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Render collection</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ForEach</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SWIFTUI-LIST</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Apply intent</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delete</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SWIFTUI-LIST</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Expose stable IDs from the core and reconcile snapshots by identity.</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127</a:t>
            </a:r>
          </a:p>
        </p:txBody>
      </p:sp>
    </p:spTree>
  </p:cSld>
  <p:clrMapOvr>
    <a:masterClrMapping/>
  </p:clrMapOvr>
  <p:transition advClick="1" spd="fast">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3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Lists need stable identity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Fetch snapshot</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Identify row</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Render collection</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Apply intent</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Array indices are used as identity and shift after deletion. Control: Expose stable IDs from the core and reconcile snapshots by identity.</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128</a:t>
            </a:r>
          </a:p>
        </p:txBody>
      </p:sp>
    </p:spTree>
  </p:cSld>
  <p:clrMapOvr>
    <a:masterClrMapping/>
  </p:clrMapOvr>
  <p:transition advClick="1" spd="fast">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Lists need stable identity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ForEach(model.snapshot.expenses, id: \.id) { ExpenseRow($0) }</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Identifiable</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UUID</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ForEach</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delete</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Row updates affect exactly one domain entity</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129</a:t>
            </a:r>
          </a:p>
        </p:txBody>
      </p:sp>
    </p:spTree>
  </p:cSld>
  <p:clrMapOvr>
    <a:masterClrMapping/>
  </p:clrMapOvr>
  <p:transition advClick="1" spd="fast">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3 · LO3 · K3 · A3</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Swift concurrency guards responsiveness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Start task</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Task</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SWIFT-CONCURRENCY</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Leave main actor</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async</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SWIFT-CONCURRENCY</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Await bridge work</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actor</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SWIFT-CONCURRENCY</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Publish state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MainActor</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SWIFT-CONCURRENCY</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Isolate expensive work and publish UI state on the main actor.</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130</a:t>
            </a:r>
          </a:p>
        </p:txBody>
      </p:sp>
    </p:spTree>
  </p:cSld>
  <p:clrMapOvr>
    <a:masterClrMapping/>
  </p:clrMapOvr>
  <p:transition advClick="1" spd="fast">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3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Swift concurrency guards responsiveness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Start task</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Leave main actor</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Await bridge work</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Publish state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Disk or model inference runs synchronously from a button action. Control: Isolate expensive work and publish UI state on the main actor.</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131</a:t>
            </a:r>
          </a:p>
        </p:txBody>
      </p:sp>
    </p:spTree>
  </p:cSld>
  <p:clrMapOvr>
    <a:masterClrMapping/>
  </p:clrMapOvr>
  <p:transition advClick="1" spd="fast">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Swift concurrency guards responsiveness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Task { await model.refresh() }</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Task</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async</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actor</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MainActor</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No blocking work on main thread</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132</a:t>
            </a:r>
          </a:p>
        </p:txBody>
      </p:sp>
    </p:spTree>
  </p:cSld>
  <p:clrMapOvr>
    <a:masterClrMapping/>
  </p:clrMapOvr>
  <p:transition advClick="1" spd="fast">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3 · LO3 · K3 · A3</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Accessibility is part of control design</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Name purpose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label</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IOS-A11Y</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Expose value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value</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IOS-A11Y</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Support focus</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hint</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IOS-A11Y</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Test scaling</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Dynamic Type</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IOS-A11Y</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Treat semantic labels and adaptable layout as acceptance criteria.</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133</a:t>
            </a:r>
          </a:p>
        </p:txBody>
      </p:sp>
    </p:spTree>
  </p:cSld>
  <p:clrMapOvr>
    <a:masterClrMapping/>
  </p:clrMapOvr>
  <p:transition advClick="1" spd="fast">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3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Accessibility is part of control design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Name purpose</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Expose value</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Support focus</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Test scaling</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An icon-only control has no accessible name. Control: Treat semantic labels and adaptable layout as acceptance criteria.</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134</a:t>
            </a:r>
          </a:p>
        </p:txBody>
      </p:sp>
    </p:spTree>
  </p:cSld>
  <p:clrMapOvr>
    <a:masterClrMapping/>
  </p:clrMapOvr>
  <p:transition advClick="1" spd="fast">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Accessibility is part of control design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.accessibilityLabel("Delete expense")</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label</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value</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hint</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Dynamic Type</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Critical flow works with VoiceOver and large text</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135</a:t>
            </a:r>
          </a:p>
        </p:txBody>
      </p:sp>
    </p:spTree>
  </p:cSld>
  <p:clrMapOvr>
    <a:masterClrMapping/>
  </p:clrMapOvr>
  <p:transition advClick="1" spd="fast">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3 · LO3 · K3 · A3</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Previews are executable design probes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Create fixture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empty</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SWIFTUI-PREVIEW</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Inject fake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loaded</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SWIFTUI-PREVIEW</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Render states</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error</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SWIFTUI-PREVIEW</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Inspect variants</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large text</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SWIFTUI-PREVIEW</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Inject deterministic snapshots and display state extremes.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136</a:t>
            </a:r>
          </a:p>
        </p:txBody>
      </p:sp>
    </p:spTree>
  </p:cSld>
  <p:clrMapOvr>
    <a:masterClrMapping/>
  </p:clrMapOvr>
  <p:transition advClick="1" spd="fast">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3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Previews are executable design probes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Create fixture</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Inject fake</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Render states</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Inspect variants</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 preview depends on production data and never reaches failure states. Control: Inject deterministic snapshots and display state extremes.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137</a:t>
            </a:r>
          </a:p>
        </p:txBody>
      </p:sp>
    </p:spTree>
  </p:cSld>
  <p:clrMapOvr>
    <a:masterClrMapping/>
  </p:clrMapOvr>
  <p:transition advClick="1" spd="fast">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Previews are executable design probes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#Preview("Error") { BudgetScreen(model: .fixture(.error)) }</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empty</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loaded</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error</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large text</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Representative states preview without network or storage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138</a:t>
            </a:r>
          </a:p>
        </p:txBody>
      </p:sp>
    </p:spTree>
  </p:cSld>
  <p:clrMapOvr>
    <a:masterClrMapping/>
  </p:clrMapOvr>
  <p:transition advClick="1" spd="fast">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3 · LO3 · K3 · A3</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Feature flags bound experimental AI</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Define flag</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identifier</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GOV-FLAG</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Default off</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default</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GOV-FLAG</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Observe usage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telemetry</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GOV-FLAG</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Remove or graduate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owner</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GOV-FLAG</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Gate experiments, capture evidence and set a review date.</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139</a:t>
            </a:r>
          </a:p>
        </p:txBody>
      </p:sp>
    </p:spTree>
  </p:cSld>
  <p:clrMapOvr>
    <a:masterClrMapping/>
  </p:clrMapOvr>
  <p:transition advClick="1" spd="fast">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3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Feature flags bound experimental AI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Define flag</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Default off</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Observe usage</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Remove or graduate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An AI-generated feature becomes permanent hidden complexity. Control: Gate experiments, capture evidence and set a review date.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140</a:t>
            </a:r>
          </a:p>
        </p:txBody>
      </p:sp>
    </p:spTree>
  </p:cSld>
  <p:clrMapOvr>
    <a:masterClrMapping/>
  </p:clrMapOvr>
  <p:transition advClick="1" spd="fast">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Feature flags bound experimental AI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if flags.isEnabled(.smartCategorySuggestion) { ... }</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identifier</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default</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telemetry</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owner</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Experimental path has owner and expiry</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141</a:t>
            </a:r>
          </a:p>
        </p:txBody>
      </p:sp>
    </p:spTree>
  </p:cSld>
  <p:clrMapOvr>
    <a:masterClrMapping/>
  </p:clrMapOvr>
  <p:transition advClick="1" spd="fast">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3 · LO3 · K3 · A3</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Local Foundation Models stay supplemental</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Check availability</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availability</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AI-ONDEVICE</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Prepare bounded prompt</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schema</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AI-ONDEVICE</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Validate output</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validation</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AI-ONDEVICE</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Fall back</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fallback</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AI-ONDEVICE</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Use model output as a suggestion; validate before committing to the core.</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142</a:t>
            </a:r>
          </a:p>
        </p:txBody>
      </p:sp>
    </p:spTree>
  </p:cSld>
  <p:clrMapOvr>
    <a:masterClrMapping/>
  </p:clrMapOvr>
  <p:transition advClick="1" spd="fast">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3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Local Foundation Models stay supplemental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Check availability</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Prepare bounded prompt</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Validate output</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Fall back</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 local model becomes a hidden source of business truth. Control: Use model output as a suggestion; validate before committing to the core.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143</a:t>
            </a:r>
          </a:p>
        </p:txBody>
      </p:sp>
    </p:spTree>
  </p:cSld>
  <p:clrMapOvr>
    <a:masterClrMapping/>
  </p:clrMapOvr>
  <p:transition advClick="1" spd="fast">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Local Foundation Models stay supplemental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guard modelSystem.isAvailable else { return .manualEntry }</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availability</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schema</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validation</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fallback</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Deterministic core works when model is unavailable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144</a:t>
            </a:r>
          </a:p>
        </p:txBody>
      </p:sp>
    </p:spTree>
  </p:cSld>
  <p:clrMapOvr>
    <a:masterClrMapping/>
  </p:clrMapOvr>
  <p:transition advClick="1" spd="fast">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3 · LO3 · K3 · A3</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Design selections require rationale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List candidates</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control</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TSC-K3</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Score fit</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criterion</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TSC-K3</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Prototype risk</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trade-off</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TSC-K3</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Record choice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decision</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TSC-K3</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Record why the chosen control better enforces the requirement.</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145</a:t>
            </a:r>
          </a:p>
        </p:txBody>
      </p:sp>
    </p:spTree>
  </p:cSld>
  <p:clrMapOvr>
    <a:masterClrMapping/>
  </p:clrMapOvr>
  <p:transition advClick="1" spd="fast">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3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Design selections require rationale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List candidates</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Score fit</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Prototype risk</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Record choice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Controls are selected because they are familiar or visually fashionable. Control: Record why the chosen control better enforces the requirement.</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146</a:t>
            </a:r>
          </a:p>
        </p:txBody>
      </p:sp>
    </p:spTree>
  </p:cSld>
  <p:clrMapOvr>
    <a:masterClrMapping/>
  </p:clrMapOvr>
  <p:transition advClick="1" spd="fast">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Design selections require rationale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 Decision: Picker because category is closed and required.</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control</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criterion</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trade-off</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decision</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Each material control linked to objective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147</a:t>
            </a:r>
          </a:p>
        </p:txBody>
      </p:sp>
    </p:spTree>
  </p:cSld>
  <p:clrMapOvr>
    <a:masterClrMapping/>
  </p:clrMapOvr>
  <p:transition advClick="1" spd="fast">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C77600"/>
                </a:solidFill>
                <a:latin typeface="Arial"/>
              </a:rPr>
              <a:t>TOPIC 3 · NATIVE POWERPOINT CHART</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Topic 3 · Evidence Coverage by Layer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41248" y="1773936"/>
          <a:ext cx="717804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302752" y="1773936"/>
            <a:ext cx="3191256" cy="388620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77072" y="2048256"/>
            <a:ext cx="2651760" cy="228600"/>
          </a:xfrm>
          <a:prstGeom prst="rect">
            <a:avLst/>
          </a:prstGeom>
          <a:noFill/>
        </p:spPr>
        <p:txBody>
          <a:bodyPr wrap="square" anchor="t" lIns="18288" rIns="18288" tIns="18288" bIns="18288">
            <a:spAutoFit/>
          </a:bodyPr>
          <a:lstStyle/>
          <a:p>
            <a:pPr algn="l">
              <a:spcAft>
                <a:spcPts val="0"/>
              </a:spcAft>
            </a:pPr>
            <a:r>
              <a:rPr sz="1100" b="1">
                <a:solidFill>
                  <a:srgbClr val="C77600"/>
                </a:solidFill>
                <a:latin typeface="Arial"/>
              </a:rPr>
              <a:t>WHAT THE DATA SHOWS</a:t>
            </a:r>
          </a:p>
        </p:txBody>
      </p:sp>
      <p:sp>
        <p:nvSpPr>
          <p:cNvPr id="10" name="TextBox 9"/>
          <p:cNvSpPr txBox="1"/>
          <p:nvPr/>
        </p:nvSpPr>
        <p:spPr>
          <a:xfrm>
            <a:off x="8577072" y="2542032"/>
            <a:ext cx="2578608" cy="2231136"/>
          </a:xfrm>
          <a:prstGeom prst="rect">
            <a:avLst/>
          </a:prstGeom>
          <a:noFill/>
        </p:spPr>
        <p:txBody>
          <a:bodyPr wrap="square" anchor="ctr" lIns="18288" rIns="18288" tIns="18288" bIns="18288">
            <a:spAutoFit/>
          </a:bodyPr>
          <a:lstStyle/>
          <a:p>
            <a:pPr algn="l">
              <a:spcAft>
                <a:spcPts val="0"/>
              </a:spcAft>
            </a:pPr>
            <a:r>
              <a:rPr sz="1600" b="1">
                <a:solidFill>
                  <a:srgbClr val="161B26"/>
                </a:solidFill>
                <a:latin typeface="Arial"/>
              </a:rPr>
              <a:t>Coverage should form a connected chain. A polished UI cannot compensate for untested invariants or an undocumented seam.</a:t>
            </a:r>
          </a:p>
        </p:txBody>
      </p:sp>
      <p:sp>
        <p:nvSpPr>
          <p:cNvPr id="11" name="TextBox 10"/>
          <p:cNvSpPr txBox="1"/>
          <p:nvPr/>
        </p:nvSpPr>
        <p:spPr>
          <a:xfrm>
            <a:off x="8577072" y="5010912"/>
            <a:ext cx="2578608" cy="384048"/>
          </a:xfrm>
          <a:prstGeom prst="rect">
            <a:avLst/>
          </a:prstGeom>
          <a:noFill/>
        </p:spPr>
        <p:txBody>
          <a:bodyPr wrap="square" anchor="t" lIns="18288" rIns="18288" tIns="18288" bIns="18288">
            <a:spAutoFit/>
          </a:bodyPr>
          <a:lstStyle/>
          <a:p>
            <a:pPr algn="l">
              <a:spcAft>
                <a:spcPts val="0"/>
              </a:spcAft>
            </a:pPr>
            <a:r>
              <a:rPr sz="1000" b="0">
                <a:solidFill>
                  <a:srgbClr val="5B6372"/>
                </a:solidFill>
                <a:latin typeface="Arial"/>
              </a:rPr>
              <a:t>Editable chart · values are instructional thresholds, not production benchmarks</a:t>
            </a:r>
          </a:p>
        </p:txBody>
      </p:sp>
      <p:sp>
        <p:nvSpPr>
          <p:cNvPr id="12" name="TextBox 1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3" name="TextBox 1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14" name="TextBox 1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148</a:t>
            </a:r>
          </a:p>
        </p:txBody>
      </p:sp>
    </p:spTree>
  </p:cSld>
  <p:clrMapOvr>
    <a:masterClrMapping/>
  </p:clrMapOvr>
  <p:transition advClick="1" spd="fast">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HANDS-ON ACTIVITY · 85 MIN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5: Objective-C++ Adapter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812280" cy="1874519"/>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84248"/>
            <a:ext cx="1554480" cy="219456"/>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CHALLENGE</a:t>
            </a:r>
          </a:p>
        </p:txBody>
      </p:sp>
      <p:sp>
        <p:nvSpPr>
          <p:cNvPr id="9" name="TextBox 8"/>
          <p:cNvSpPr txBox="1"/>
          <p:nvPr/>
        </p:nvSpPr>
        <p:spPr>
          <a:xfrm>
            <a:off x="932688" y="2377440"/>
            <a:ext cx="6254496" cy="804672"/>
          </a:xfrm>
          <a:prstGeom prst="rect">
            <a:avLst/>
          </a:prstGeom>
          <a:noFill/>
        </p:spPr>
        <p:txBody>
          <a:bodyPr wrap="square" anchor="t" lIns="18288" rIns="18288" tIns="18288" bIns="18288">
            <a:spAutoFit/>
          </a:bodyPr>
          <a:lstStyle/>
          <a:p>
            <a:pPr algn="l">
              <a:spcAft>
                <a:spcPts val="0"/>
              </a:spcAft>
            </a:pPr>
            <a:r>
              <a:rPr sz="1700" b="1">
                <a:solidFill>
                  <a:srgbClr val="161B26"/>
                </a:solidFill>
                <a:latin typeface="Arial"/>
              </a:rPr>
              <a:t>Expose the portable domain core to Swift through a narrow Objective-C-compatible API.</a:t>
            </a:r>
          </a:p>
        </p:txBody>
      </p:sp>
      <p:sp>
        <p:nvSpPr>
          <p:cNvPr id="10" name="Rounded Rectangle 9"/>
          <p:cNvSpPr/>
          <p:nvPr/>
        </p:nvSpPr>
        <p:spPr>
          <a:xfrm>
            <a:off x="7744968" y="1737360"/>
            <a:ext cx="3749039" cy="1874519"/>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19288" y="1984248"/>
            <a:ext cx="2560320" cy="219456"/>
          </a:xfrm>
          <a:prstGeom prst="rect">
            <a:avLst/>
          </a:prstGeom>
          <a:noFill/>
        </p:spPr>
        <p:txBody>
          <a:bodyPr wrap="square" anchor="t" lIns="18288" rIns="18288" tIns="18288" bIns="18288">
            <a:spAutoFit/>
          </a:bodyPr>
          <a:lstStyle/>
          <a:p>
            <a:pPr algn="l">
              <a:spcAft>
                <a:spcPts val="0"/>
              </a:spcAft>
            </a:pPr>
            <a:r>
              <a:rPr sz="1100" b="1">
                <a:solidFill>
                  <a:srgbClr val="7C3AED"/>
                </a:solidFill>
                <a:latin typeface="Arial"/>
              </a:rPr>
              <a:t>REGULATED MAPPING</a:t>
            </a:r>
          </a:p>
        </p:txBody>
      </p:sp>
      <p:sp>
        <p:nvSpPr>
          <p:cNvPr id="12" name="TextBox 11"/>
          <p:cNvSpPr txBox="1"/>
          <p:nvPr/>
        </p:nvSpPr>
        <p:spPr>
          <a:xfrm>
            <a:off x="8019288" y="2423160"/>
            <a:ext cx="2560320" cy="502920"/>
          </a:xfrm>
          <a:prstGeom prst="rect">
            <a:avLst/>
          </a:prstGeom>
          <a:noFill/>
        </p:spPr>
        <p:txBody>
          <a:bodyPr wrap="square" anchor="t" lIns="18288" rIns="18288" tIns="18288" bIns="18288">
            <a:spAutoFit/>
          </a:bodyPr>
          <a:lstStyle/>
          <a:p>
            <a:pPr algn="l">
              <a:spcAft>
                <a:spcPts val="0"/>
              </a:spcAft>
            </a:pPr>
            <a:r>
              <a:rPr sz="2600" b="1">
                <a:solidFill>
                  <a:srgbClr val="7C3AED"/>
                </a:solidFill>
                <a:latin typeface="Arial"/>
              </a:rPr>
              <a:t>K3, A3</a:t>
            </a:r>
          </a:p>
        </p:txBody>
      </p:sp>
      <p:sp>
        <p:nvSpPr>
          <p:cNvPr id="13" name="Rounded Rectangle 12"/>
          <p:cNvSpPr/>
          <p:nvPr/>
        </p:nvSpPr>
        <p:spPr>
          <a:xfrm>
            <a:off x="658368" y="3913632"/>
            <a:ext cx="10835640" cy="12984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4133087"/>
            <a:ext cx="2011680"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YOU WILL PRODUCE</a:t>
            </a:r>
          </a:p>
        </p:txBody>
      </p:sp>
      <p:sp>
        <p:nvSpPr>
          <p:cNvPr id="15" name="TextBox 14"/>
          <p:cNvSpPr txBox="1"/>
          <p:nvPr/>
        </p:nvSpPr>
        <p:spPr>
          <a:xfrm>
            <a:off x="932688" y="4517136"/>
            <a:ext cx="6766560" cy="502920"/>
          </a:xfrm>
          <a:prstGeom prst="rect">
            <a:avLst/>
          </a:prstGeom>
          <a:noFill/>
        </p:spPr>
        <p:txBody>
          <a:bodyPr wrap="square" anchor="t" lIns="18288" rIns="18288" tIns="18288" bIns="18288">
            <a:spAutoFit/>
          </a:bodyPr>
          <a:lstStyle/>
          <a:p>
            <a:pPr algn="l">
              <a:spcAft>
                <a:spcPts val="0"/>
              </a:spcAft>
            </a:pPr>
            <a:r>
              <a:rPr sz="1600" b="1">
                <a:solidFill>
                  <a:srgbClr val="161B26"/>
                </a:solidFill>
                <a:latin typeface="Arial"/>
              </a:rPr>
              <a:t>Bridge header, .mm adapter and round-trip test</a:t>
            </a:r>
          </a:p>
        </p:txBody>
      </p:sp>
      <p:sp>
        <p:nvSpPr>
          <p:cNvPr id="16" name="TextBox 15"/>
          <p:cNvSpPr txBox="1"/>
          <p:nvPr/>
        </p:nvSpPr>
        <p:spPr>
          <a:xfrm>
            <a:off x="7909560" y="4352544"/>
            <a:ext cx="3182112" cy="502920"/>
          </a:xfrm>
          <a:prstGeom prst="rect">
            <a:avLst/>
          </a:prstGeom>
          <a:noFill/>
        </p:spPr>
        <p:txBody>
          <a:bodyPr wrap="square" anchor="t" lIns="18288" rIns="18288" tIns="18288" bIns="18288">
            <a:spAutoFit/>
          </a:bodyPr>
          <a:lstStyle/>
          <a:p>
            <a:pPr algn="l">
              <a:spcAft>
                <a:spcPts val="0"/>
              </a:spcAft>
            </a:pPr>
            <a:r>
              <a:rPr sz="1100" b="0">
                <a:solidFill>
                  <a:srgbClr val="5B6372"/>
                </a:solidFill>
                <a:latin typeface="Arial"/>
              </a:rPr>
              <a:t>Xcode, Objective-C++, XCTest</a:t>
            </a:r>
          </a:p>
        </p:txBody>
      </p:sp>
      <p:sp>
        <p:nvSpPr>
          <p:cNvPr id="17" name="Rounded Rectangle 16"/>
          <p:cNvSpPr/>
          <p:nvPr/>
        </p:nvSpPr>
        <p:spPr>
          <a:xfrm>
            <a:off x="658368" y="5468112"/>
            <a:ext cx="10835640" cy="576072"/>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641848"/>
            <a:ext cx="10149840" cy="219456"/>
          </a:xfrm>
          <a:prstGeom prst="rect">
            <a:avLst/>
          </a:prstGeom>
          <a:noFill/>
        </p:spPr>
        <p:txBody>
          <a:bodyPr wrap="square" anchor="t" lIns="18288" rIns="18288" tIns="18288" bIns="18288">
            <a:spAutoFit/>
          </a:bodyPr>
          <a:lstStyle/>
          <a:p>
            <a:pPr algn="l">
              <a:spcAft>
                <a:spcPts val="0"/>
              </a:spcAft>
            </a:pPr>
            <a:r>
              <a:rPr sz="1200" b="1">
                <a:solidFill>
                  <a:srgbClr val="FFFFFF"/>
                </a:solidFill>
                <a:latin typeface="Arial"/>
              </a:rPr>
              <a:t>Detailed procedures: Learner Guide and activities/05-objective-cpp-adapter/README.md</a:t>
            </a:r>
          </a:p>
        </p:txBody>
      </p:sp>
      <p:sp>
        <p:nvSpPr>
          <p:cNvPr id="19" name="TextBox 18"/>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0" name="TextBox 19"/>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1" name="TextBox 20"/>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149</a:t>
            </a:r>
          </a:p>
        </p:txBody>
      </p:sp>
    </p:spTree>
  </p:cSld>
  <p:clrMapOvr>
    <a:masterClrMapping/>
  </p:clrMapOvr>
  <p:transition advClick="1" spd="fast">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ACTIVITY MECHANISM</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5 · Delivery Workflow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Frame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Inspect the public bridge header and remove every C++-only type.</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K3, A3</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Build</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Own ExpenseService with std::unique_ptr inside the .mm implementation.</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K3, A3</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Connect</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Map typed domain failures to stable NSError codes.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K3, A3</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Verify</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Swift can call the bridge; cents, identity and error codes survive the round trip exactly.</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K3, A3</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The slide communicates the workflow; the Learner Guide carries the detailed procedure and commands.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150</a:t>
            </a:r>
          </a:p>
        </p:txBody>
      </p:sp>
    </p:spTree>
  </p:cSld>
  <p:clrMapOvr>
    <a:masterClrMapping/>
  </p:clrMapOvr>
  <p:transition advClick="1" spd="fast">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COPY / PASTE PROMPT · BUDGETBUDDY</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5 · Vibe Coding Generation Prompt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82496"/>
            <a:ext cx="6976872" cy="4425696"/>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82496"/>
            <a:ext cx="91440" cy="44256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874519"/>
            <a:ext cx="2157984" cy="201168"/>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GENERATION PROMPT</a:t>
            </a:r>
          </a:p>
        </p:txBody>
      </p:sp>
      <p:sp>
        <p:nvSpPr>
          <p:cNvPr id="10" name="TextBox 9"/>
          <p:cNvSpPr txBox="1"/>
          <p:nvPr/>
        </p:nvSpPr>
        <p:spPr>
          <a:xfrm>
            <a:off x="941832" y="2212848"/>
            <a:ext cx="6364224" cy="3502152"/>
          </a:xfrm>
          <a:prstGeom prst="rect">
            <a:avLst/>
          </a:prstGeom>
          <a:noFill/>
        </p:spPr>
        <p:txBody>
          <a:bodyPr wrap="square" anchor="t" lIns="18288" rIns="18288" tIns="18288" bIns="18288">
            <a:spAutoFit/>
          </a:bodyPr>
          <a:lstStyle/>
          <a:p>
            <a:pPr algn="l">
              <a:spcAft>
                <a:spcPts val="0"/>
              </a:spcAft>
            </a:pPr>
            <a:r>
              <a:rPr sz="1150" b="0">
                <a:solidFill>
                  <a:srgbClr val="D2E4FF"/>
                </a:solidFill>
                <a:latin typeface="Courier New"/>
              </a:rPr>
              <a:t>Generate BudgetBridge.h, BudgetBridge.mm and a bridge contract test. Keep the header Objective-C compatible. Put C++ includes and std::unique_ptr ownership in .mm. Preserve exact cents and map each DomainError to a stable NSError code plus recovery description. Output complete files. Verify iOS build, 10_000/2_500/1_250 -&gt; 6_250 and every error mapping.</a:t>
            </a:r>
          </a:p>
        </p:txBody>
      </p:sp>
      <p:sp>
        <p:nvSpPr>
          <p:cNvPr id="11" name="Rounded Rectangle 10"/>
          <p:cNvSpPr/>
          <p:nvPr/>
        </p:nvSpPr>
        <p:spPr>
          <a:xfrm>
            <a:off x="7909560" y="1682496"/>
            <a:ext cx="3584448" cy="120700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74736" y="1892807"/>
            <a:ext cx="2926080" cy="182880"/>
          </a:xfrm>
          <a:prstGeom prst="rect">
            <a:avLst/>
          </a:prstGeom>
          <a:noFill/>
        </p:spPr>
        <p:txBody>
          <a:bodyPr wrap="square" anchor="t" lIns="18288" rIns="18288" tIns="18288" bIns="18288">
            <a:spAutoFit/>
          </a:bodyPr>
          <a:lstStyle/>
          <a:p>
            <a:pPr algn="l">
              <a:spcAft>
                <a:spcPts val="0"/>
              </a:spcAft>
            </a:pPr>
            <a:r>
              <a:rPr sz="900" b="1">
                <a:solidFill>
                  <a:srgbClr val="1F6FEB"/>
                </a:solidFill>
                <a:latin typeface="Arial"/>
              </a:rPr>
              <a:t>PROTECTED FILE SCOPE</a:t>
            </a:r>
          </a:p>
        </p:txBody>
      </p:sp>
      <p:sp>
        <p:nvSpPr>
          <p:cNvPr id="13" name="TextBox 12"/>
          <p:cNvSpPr txBox="1"/>
          <p:nvPr/>
        </p:nvSpPr>
        <p:spPr>
          <a:xfrm>
            <a:off x="8174736" y="2212848"/>
            <a:ext cx="2926080" cy="621792"/>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BudgetBridge.h; BudgetBridge.mm; bridge-test.swift; error-mapping.md</a:t>
            </a:r>
          </a:p>
        </p:txBody>
      </p:sp>
      <p:sp>
        <p:nvSpPr>
          <p:cNvPr id="14" name="Rounded Rectangle 13"/>
          <p:cNvSpPr/>
          <p:nvPr/>
        </p:nvSpPr>
        <p:spPr>
          <a:xfrm>
            <a:off x="7909560" y="3136392"/>
            <a:ext cx="3584448" cy="1435608"/>
          </a:xfrm>
          <a:prstGeom prst="roundRect">
            <a:avLst>
              <a:gd name="adj" fmla="val 8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4736" y="3355848"/>
            <a:ext cx="2057400" cy="182880"/>
          </a:xfrm>
          <a:prstGeom prst="rect">
            <a:avLst/>
          </a:prstGeom>
          <a:noFill/>
        </p:spPr>
        <p:txBody>
          <a:bodyPr wrap="square" anchor="t" lIns="18288" rIns="18288" tIns="18288" bIns="18288">
            <a:spAutoFit/>
          </a:bodyPr>
          <a:lstStyle/>
          <a:p>
            <a:pPr algn="l">
              <a:spcAft>
                <a:spcPts val="0"/>
              </a:spcAft>
            </a:pPr>
            <a:r>
              <a:rPr sz="900" b="1">
                <a:solidFill>
                  <a:srgbClr val="10B981"/>
                </a:solidFill>
                <a:latin typeface="Arial"/>
              </a:rPr>
              <a:t>EXPECTED GREEN</a:t>
            </a:r>
          </a:p>
        </p:txBody>
      </p:sp>
      <p:sp>
        <p:nvSpPr>
          <p:cNvPr id="16" name="TextBox 15"/>
          <p:cNvSpPr txBox="1"/>
          <p:nvPr/>
        </p:nvSpPr>
        <p:spPr>
          <a:xfrm>
            <a:off x="8174736" y="3666744"/>
            <a:ext cx="2926080" cy="621792"/>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iOS build and focused bridge tests exit 0; the public header contains no STL/template/reference/owning-pointer type and exact cents survive the round trip.</a:t>
            </a:r>
          </a:p>
        </p:txBody>
      </p:sp>
      <p:sp>
        <p:nvSpPr>
          <p:cNvPr id="17" name="Rounded Rectangle 16"/>
          <p:cNvSpPr/>
          <p:nvPr/>
        </p:nvSpPr>
        <p:spPr>
          <a:xfrm>
            <a:off x="7909560" y="4828032"/>
            <a:ext cx="3584448" cy="1261872"/>
          </a:xfrm>
          <a:prstGeom prst="roundRect">
            <a:avLst>
              <a:gd name="adj" fmla="val 8000"/>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4736" y="5029200"/>
            <a:ext cx="2057400" cy="182880"/>
          </a:xfrm>
          <a:prstGeom prst="rect">
            <a:avLst/>
          </a:prstGeom>
          <a:noFill/>
        </p:spPr>
        <p:txBody>
          <a:bodyPr wrap="square" anchor="t" lIns="18288" rIns="18288" tIns="18288" bIns="18288">
            <a:spAutoFit/>
          </a:bodyPr>
          <a:lstStyle/>
          <a:p>
            <a:pPr algn="l">
              <a:spcAft>
                <a:spcPts val="0"/>
              </a:spcAft>
            </a:pPr>
            <a:r>
              <a:rPr sz="900" b="1">
                <a:solidFill>
                  <a:srgbClr val="C2413A"/>
                </a:solidFill>
                <a:latin typeface="Arial"/>
              </a:rPr>
              <a:t>REVIEW / REPAIR</a:t>
            </a:r>
          </a:p>
        </p:txBody>
      </p:sp>
      <p:sp>
        <p:nvSpPr>
          <p:cNvPr id="19" name="TextBox 18"/>
          <p:cNvSpPr txBox="1"/>
          <p:nvPr/>
        </p:nvSpPr>
        <p:spPr>
          <a:xfrm>
            <a:off x="8174736" y="5330952"/>
            <a:ext cx="2926080" cy="493776"/>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Use the paired review prompt in the Activity guide. Fix the first causal failure, preserve tests, then rerun focused and full checks.</a:t>
            </a:r>
          </a:p>
        </p:txBody>
      </p:sp>
      <p:sp>
        <p:nvSpPr>
          <p:cNvPr id="20" name="TextBox 19"/>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1" name="TextBox 20"/>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151</a:t>
            </a:r>
          </a:p>
        </p:txBody>
      </p:sp>
    </p:spTree>
  </p:cSld>
  <p:clrMapOvr>
    <a:masterClrMapping/>
  </p:clrMapOvr>
  <p:transition advClick="1" spd="fast">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VERIFY BEFORE MOVING ON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5 · Evidence Contract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Artifact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Bridge header, .mm adapter and round-trip test</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K3, A3</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Acceptance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Swift can call the bridge; cents, identity and error codes survive the round trip exactly.</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K3, A3</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Failure signal</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If Swift cannot import the header, check target membership and confirm C++ includes appear only in .mm.</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K3, A3</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Cleanup</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Clean derived build data only if needed; retain tests and mapping table.</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K3, A3</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Evidence is a retrievable artifact or test result, not a statement that the activity was completed.</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152</a:t>
            </a:r>
          </a:p>
        </p:txBody>
      </p:sp>
    </p:spTree>
  </p:cSld>
  <p:clrMapOvr>
    <a:masterClrMapping/>
  </p:clrMapOvr>
  <p:transition advClick="1" spd="fast">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TEST IT</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5 · Verification Gate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52760" cy="1828800"/>
          </a:xfrm>
          <a:prstGeom prst="roundRect">
            <a:avLst>
              <a:gd name="adj" fmla="val 8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057400"/>
            <a:ext cx="1828800" cy="237744"/>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PASS WHEN</a:t>
            </a:r>
          </a:p>
        </p:txBody>
      </p:sp>
      <p:sp>
        <p:nvSpPr>
          <p:cNvPr id="9" name="TextBox 8"/>
          <p:cNvSpPr txBox="1"/>
          <p:nvPr/>
        </p:nvSpPr>
        <p:spPr>
          <a:xfrm>
            <a:off x="1078992" y="2542032"/>
            <a:ext cx="9646920" cy="566928"/>
          </a:xfrm>
          <a:prstGeom prst="rect">
            <a:avLst/>
          </a:prstGeom>
          <a:noFill/>
        </p:spPr>
        <p:txBody>
          <a:bodyPr wrap="square" anchor="ctr" lIns="18288" rIns="18288" tIns="18288" bIns="18288">
            <a:spAutoFit/>
          </a:bodyPr>
          <a:lstStyle/>
          <a:p>
            <a:pPr algn="l">
              <a:spcAft>
                <a:spcPts val="0"/>
              </a:spcAft>
            </a:pPr>
            <a:r>
              <a:rPr sz="2000" b="1">
                <a:solidFill>
                  <a:srgbClr val="161B26"/>
                </a:solidFill>
                <a:latin typeface="Arial"/>
              </a:rPr>
              <a:t>Swift can call the bridge; cents, identity and error codes survive the round trip exactly.</a:t>
            </a:r>
          </a:p>
        </p:txBody>
      </p:sp>
      <p:sp>
        <p:nvSpPr>
          <p:cNvPr id="10" name="Rounded Rectangle 9"/>
          <p:cNvSpPr/>
          <p:nvPr/>
        </p:nvSpPr>
        <p:spPr>
          <a:xfrm>
            <a:off x="749808" y="3913632"/>
            <a:ext cx="5129784" cy="1298448"/>
          </a:xfrm>
          <a:prstGeom prst="roundRect">
            <a:avLst>
              <a:gd name="adj" fmla="val 8000"/>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151376"/>
            <a:ext cx="1645920" cy="219456"/>
          </a:xfrm>
          <a:prstGeom prst="rect">
            <a:avLst/>
          </a:prstGeom>
          <a:noFill/>
        </p:spPr>
        <p:txBody>
          <a:bodyPr wrap="square" anchor="t" lIns="18288" rIns="18288" tIns="18288" bIns="18288">
            <a:spAutoFit/>
          </a:bodyPr>
          <a:lstStyle/>
          <a:p>
            <a:pPr algn="l">
              <a:spcAft>
                <a:spcPts val="0"/>
              </a:spcAft>
            </a:pPr>
            <a:r>
              <a:rPr sz="1100" b="1">
                <a:solidFill>
                  <a:srgbClr val="C2413A"/>
                </a:solidFill>
                <a:latin typeface="Arial"/>
              </a:rPr>
              <a:t>IF IT FAILS</a:t>
            </a:r>
          </a:p>
        </p:txBody>
      </p:sp>
      <p:sp>
        <p:nvSpPr>
          <p:cNvPr id="12" name="TextBox 11"/>
          <p:cNvSpPr txBox="1"/>
          <p:nvPr/>
        </p:nvSpPr>
        <p:spPr>
          <a:xfrm>
            <a:off x="1033271" y="4517136"/>
            <a:ext cx="4498848" cy="475488"/>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If Swift cannot import the header, check target membership and confirm C++ includes appear only in .mm.</a:t>
            </a:r>
          </a:p>
        </p:txBody>
      </p:sp>
      <p:sp>
        <p:nvSpPr>
          <p:cNvPr id="13" name="Rounded Rectangle 12"/>
          <p:cNvSpPr/>
          <p:nvPr/>
        </p:nvSpPr>
        <p:spPr>
          <a:xfrm>
            <a:off x="6181344" y="3913632"/>
            <a:ext cx="5221224" cy="12984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4151376"/>
            <a:ext cx="2194560"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LEAVE THE WORKSPACE</a:t>
            </a:r>
          </a:p>
        </p:txBody>
      </p:sp>
      <p:sp>
        <p:nvSpPr>
          <p:cNvPr id="15" name="TextBox 14"/>
          <p:cNvSpPr txBox="1"/>
          <p:nvPr/>
        </p:nvSpPr>
        <p:spPr>
          <a:xfrm>
            <a:off x="6464808" y="4517136"/>
            <a:ext cx="4590288" cy="475488"/>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Clean derived build data only if needed; retain tests and mapping table.</a:t>
            </a:r>
          </a:p>
        </p:txBody>
      </p:sp>
      <p:sp>
        <p:nvSpPr>
          <p:cNvPr id="16" name="TextBox 15"/>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7" name="TextBox 16"/>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18" name="TextBox 17"/>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153</a:t>
            </a:r>
          </a:p>
        </p:txBody>
      </p:sp>
    </p:spTree>
  </p:cSld>
  <p:clrMapOvr>
    <a:masterClrMapping/>
  </p:clrMapOvr>
  <p:transition advClick="1" spd="fast">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HANDS-ON ACTIVITY · 80 MIN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6: SwiftUI Controls and State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812280" cy="1874519"/>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84248"/>
            <a:ext cx="1554480" cy="219456"/>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CHALLENGE</a:t>
            </a:r>
          </a:p>
        </p:txBody>
      </p:sp>
      <p:sp>
        <p:nvSpPr>
          <p:cNvPr id="9" name="TextBox 8"/>
          <p:cNvSpPr txBox="1"/>
          <p:nvPr/>
        </p:nvSpPr>
        <p:spPr>
          <a:xfrm>
            <a:off x="932688" y="2377440"/>
            <a:ext cx="6254496" cy="804672"/>
          </a:xfrm>
          <a:prstGeom prst="rect">
            <a:avLst/>
          </a:prstGeom>
          <a:noFill/>
        </p:spPr>
        <p:txBody>
          <a:bodyPr wrap="square" anchor="t" lIns="18288" rIns="18288" tIns="18288" bIns="18288">
            <a:spAutoFit/>
          </a:bodyPr>
          <a:lstStyle/>
          <a:p>
            <a:pPr algn="l">
              <a:spcAft>
                <a:spcPts val="0"/>
              </a:spcAft>
            </a:pPr>
            <a:r>
              <a:rPr sz="1700" b="1">
                <a:solidFill>
                  <a:srgbClr val="161B26"/>
                </a:solidFill>
                <a:latin typeface="Arial"/>
              </a:rPr>
              <a:t>Build an accessible SwiftUI expense-entry shell whose controls reflect the domain contract.</a:t>
            </a:r>
          </a:p>
        </p:txBody>
      </p:sp>
      <p:sp>
        <p:nvSpPr>
          <p:cNvPr id="10" name="Rounded Rectangle 9"/>
          <p:cNvSpPr/>
          <p:nvPr/>
        </p:nvSpPr>
        <p:spPr>
          <a:xfrm>
            <a:off x="7744968" y="1737360"/>
            <a:ext cx="3749039" cy="1874519"/>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19288" y="1984248"/>
            <a:ext cx="2560320" cy="219456"/>
          </a:xfrm>
          <a:prstGeom prst="rect">
            <a:avLst/>
          </a:prstGeom>
          <a:noFill/>
        </p:spPr>
        <p:txBody>
          <a:bodyPr wrap="square" anchor="t" lIns="18288" rIns="18288" tIns="18288" bIns="18288">
            <a:spAutoFit/>
          </a:bodyPr>
          <a:lstStyle/>
          <a:p>
            <a:pPr algn="l">
              <a:spcAft>
                <a:spcPts val="0"/>
              </a:spcAft>
            </a:pPr>
            <a:r>
              <a:rPr sz="1100" b="1">
                <a:solidFill>
                  <a:srgbClr val="7C3AED"/>
                </a:solidFill>
                <a:latin typeface="Arial"/>
              </a:rPr>
              <a:t>REGULATED MAPPING</a:t>
            </a:r>
          </a:p>
        </p:txBody>
      </p:sp>
      <p:sp>
        <p:nvSpPr>
          <p:cNvPr id="12" name="TextBox 11"/>
          <p:cNvSpPr txBox="1"/>
          <p:nvPr/>
        </p:nvSpPr>
        <p:spPr>
          <a:xfrm>
            <a:off x="8019288" y="2423160"/>
            <a:ext cx="2560320" cy="502920"/>
          </a:xfrm>
          <a:prstGeom prst="rect">
            <a:avLst/>
          </a:prstGeom>
          <a:noFill/>
        </p:spPr>
        <p:txBody>
          <a:bodyPr wrap="square" anchor="t" lIns="18288" rIns="18288" tIns="18288" bIns="18288">
            <a:spAutoFit/>
          </a:bodyPr>
          <a:lstStyle/>
          <a:p>
            <a:pPr algn="l">
              <a:spcAft>
                <a:spcPts val="0"/>
              </a:spcAft>
            </a:pPr>
            <a:r>
              <a:rPr sz="2600" b="1">
                <a:solidFill>
                  <a:srgbClr val="7C3AED"/>
                </a:solidFill>
                <a:latin typeface="Arial"/>
              </a:rPr>
              <a:t>K3, A3</a:t>
            </a:r>
          </a:p>
        </p:txBody>
      </p:sp>
      <p:sp>
        <p:nvSpPr>
          <p:cNvPr id="13" name="Rounded Rectangle 12"/>
          <p:cNvSpPr/>
          <p:nvPr/>
        </p:nvSpPr>
        <p:spPr>
          <a:xfrm>
            <a:off x="658368" y="3913632"/>
            <a:ext cx="10835640" cy="12984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4133087"/>
            <a:ext cx="2011680"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YOU WILL PRODUCE</a:t>
            </a:r>
          </a:p>
        </p:txBody>
      </p:sp>
      <p:sp>
        <p:nvSpPr>
          <p:cNvPr id="15" name="TextBox 14"/>
          <p:cNvSpPr txBox="1"/>
          <p:nvPr/>
        </p:nvSpPr>
        <p:spPr>
          <a:xfrm>
            <a:off x="932688" y="4517136"/>
            <a:ext cx="6766560" cy="502920"/>
          </a:xfrm>
          <a:prstGeom prst="rect">
            <a:avLst/>
          </a:prstGeom>
          <a:noFill/>
        </p:spPr>
        <p:txBody>
          <a:bodyPr wrap="square" anchor="t" lIns="18288" rIns="18288" tIns="18288" bIns="18288">
            <a:spAutoFit/>
          </a:bodyPr>
          <a:lstStyle/>
          <a:p>
            <a:pPr algn="l">
              <a:spcAft>
                <a:spcPts val="0"/>
              </a:spcAft>
            </a:pPr>
            <a:r>
              <a:rPr sz="1400" b="1">
                <a:solidFill>
                  <a:srgbClr val="161B26"/>
                </a:solidFill>
                <a:latin typeface="Arial"/>
              </a:rPr>
              <a:t>SwiftUI entry flow, deterministic previews and validation states</a:t>
            </a:r>
          </a:p>
        </p:txBody>
      </p:sp>
      <p:sp>
        <p:nvSpPr>
          <p:cNvPr id="16" name="TextBox 15"/>
          <p:cNvSpPr txBox="1"/>
          <p:nvPr/>
        </p:nvSpPr>
        <p:spPr>
          <a:xfrm>
            <a:off x="7909560" y="4352544"/>
            <a:ext cx="3182112" cy="502920"/>
          </a:xfrm>
          <a:prstGeom prst="rect">
            <a:avLst/>
          </a:prstGeom>
          <a:noFill/>
        </p:spPr>
        <p:txBody>
          <a:bodyPr wrap="square" anchor="t" lIns="18288" rIns="18288" tIns="18288" bIns="18288">
            <a:spAutoFit/>
          </a:bodyPr>
          <a:lstStyle/>
          <a:p>
            <a:pPr algn="l">
              <a:spcAft>
                <a:spcPts val="0"/>
              </a:spcAft>
            </a:pPr>
            <a:r>
              <a:rPr sz="1100" b="0">
                <a:solidFill>
                  <a:srgbClr val="5B6372"/>
                </a:solidFill>
                <a:latin typeface="Arial"/>
              </a:rPr>
              <a:t>SwiftUI, Observation, Xcode previews</a:t>
            </a:r>
          </a:p>
        </p:txBody>
      </p:sp>
      <p:sp>
        <p:nvSpPr>
          <p:cNvPr id="17" name="Rounded Rectangle 16"/>
          <p:cNvSpPr/>
          <p:nvPr/>
        </p:nvSpPr>
        <p:spPr>
          <a:xfrm>
            <a:off x="658368" y="5468112"/>
            <a:ext cx="10835640" cy="576072"/>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641848"/>
            <a:ext cx="10149840" cy="219456"/>
          </a:xfrm>
          <a:prstGeom prst="rect">
            <a:avLst/>
          </a:prstGeom>
          <a:noFill/>
        </p:spPr>
        <p:txBody>
          <a:bodyPr wrap="square" anchor="t" lIns="18288" rIns="18288" tIns="18288" bIns="18288">
            <a:spAutoFit/>
          </a:bodyPr>
          <a:lstStyle/>
          <a:p>
            <a:pPr algn="l">
              <a:spcAft>
                <a:spcPts val="0"/>
              </a:spcAft>
            </a:pPr>
            <a:r>
              <a:rPr sz="1200" b="1">
                <a:solidFill>
                  <a:srgbClr val="FFFFFF"/>
                </a:solidFill>
                <a:latin typeface="Arial"/>
              </a:rPr>
              <a:t>Detailed procedures: Learner Guide and activities/06-swiftui-controls-state/README.md</a:t>
            </a:r>
          </a:p>
        </p:txBody>
      </p:sp>
      <p:sp>
        <p:nvSpPr>
          <p:cNvPr id="19" name="TextBox 18"/>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0" name="TextBox 19"/>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1" name="TextBox 20"/>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154</a:t>
            </a:r>
          </a:p>
        </p:txBody>
      </p:sp>
    </p:spTree>
  </p:cSld>
  <p:clrMapOvr>
    <a:masterClrMapping/>
  </p:clrMapOvr>
  <p:transition advClick="1" spd="fast">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ACTIVITY MECHANISM</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6 · Delivery Workflow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Frame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Create an observable view model that owns a bridge-facing snapshot.</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K3, A3</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Build</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Use TextField for amount, Picker for closed category and Button for explicit commit.</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K3, A3</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Connect</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Render empty, loaded, validation-error and large-text previews.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K3, A3</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Verify</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The view remains declarative, invalid input is recoverable, and previews cover four states without production data.</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K3, A3</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The slide communicates the workflow; the Learner Guide carries the detailed procedure and commands.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155</a:t>
            </a:r>
          </a:p>
        </p:txBody>
      </p:sp>
    </p:spTree>
  </p:cSld>
  <p:clrMapOvr>
    <a:masterClrMapping/>
  </p:clrMapOvr>
  <p:transition advClick="1" spd="fast">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COPY / PASTE PROMPT · BUDGETBUDDY</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6 · Vibe Coding Generation Prompt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82496"/>
            <a:ext cx="6976872" cy="4425696"/>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82496"/>
            <a:ext cx="91440" cy="44256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874519"/>
            <a:ext cx="2157984" cy="201168"/>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GENERATION PROMPT</a:t>
            </a:r>
          </a:p>
        </p:txBody>
      </p:sp>
      <p:sp>
        <p:nvSpPr>
          <p:cNvPr id="10" name="TextBox 9"/>
          <p:cNvSpPr txBox="1"/>
          <p:nvPr/>
        </p:nvSpPr>
        <p:spPr>
          <a:xfrm>
            <a:off x="941832" y="2212848"/>
            <a:ext cx="6364224" cy="3502152"/>
          </a:xfrm>
          <a:prstGeom prst="rect">
            <a:avLst/>
          </a:prstGeom>
          <a:noFill/>
        </p:spPr>
        <p:txBody>
          <a:bodyPr wrap="square" anchor="t" lIns="18288" rIns="18288" tIns="18288" bIns="18288">
            <a:spAutoFit/>
          </a:bodyPr>
          <a:lstStyle/>
          <a:p>
            <a:pPr algn="l">
              <a:spcAft>
                <a:spcPts val="0"/>
              </a:spcAft>
            </a:pPr>
            <a:r>
              <a:rPr sz="1150" b="0">
                <a:solidFill>
                  <a:srgbClr val="D2E4FF"/>
                </a:solidFill>
                <a:latin typeface="Courier New"/>
              </a:rPr>
              <a:t>Generate BudgetEvaluating, BudgetBridgeClient, FakeBudgetBridge, BudgetModel and @Observable BudgetViewModel. Then generate BudgetBuddyApp, AppRoot, BudgetScreen, summary/form/list/row views and deterministic previews. Use accessible TextField, Picker and Button identifiers. Keep policy in C++. Output complete files. Verify Swift Testing state tests, iOS 17+ build and empty/loaded/error/large-text previews.</a:t>
            </a:r>
          </a:p>
        </p:txBody>
      </p:sp>
      <p:sp>
        <p:nvSpPr>
          <p:cNvPr id="11" name="Rounded Rectangle 10"/>
          <p:cNvSpPr/>
          <p:nvPr/>
        </p:nvSpPr>
        <p:spPr>
          <a:xfrm>
            <a:off x="7909560" y="1682496"/>
            <a:ext cx="3584448" cy="120700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74736" y="1892807"/>
            <a:ext cx="2926080" cy="182880"/>
          </a:xfrm>
          <a:prstGeom prst="rect">
            <a:avLst/>
          </a:prstGeom>
          <a:noFill/>
        </p:spPr>
        <p:txBody>
          <a:bodyPr wrap="square" anchor="t" lIns="18288" rIns="18288" tIns="18288" bIns="18288">
            <a:spAutoFit/>
          </a:bodyPr>
          <a:lstStyle/>
          <a:p>
            <a:pPr algn="l">
              <a:spcAft>
                <a:spcPts val="0"/>
              </a:spcAft>
            </a:pPr>
            <a:r>
              <a:rPr sz="900" b="1">
                <a:solidFill>
                  <a:srgbClr val="1F6FEB"/>
                </a:solidFill>
                <a:latin typeface="Arial"/>
              </a:rPr>
              <a:t>PROTECTED FILE SCOPE</a:t>
            </a:r>
          </a:p>
        </p:txBody>
      </p:sp>
      <p:sp>
        <p:nvSpPr>
          <p:cNvPr id="13" name="TextBox 12"/>
          <p:cNvSpPr txBox="1"/>
          <p:nvPr/>
        </p:nvSpPr>
        <p:spPr>
          <a:xfrm>
            <a:off x="8174736" y="2212848"/>
            <a:ext cx="2926080" cy="621792"/>
          </a:xfrm>
          <a:prstGeom prst="rect">
            <a:avLst/>
          </a:prstGeom>
          <a:noFill/>
        </p:spPr>
        <p:txBody>
          <a:bodyPr wrap="square" anchor="t" lIns="18288" rIns="18288" tIns="18288" bIns="18288">
            <a:spAutoFit/>
          </a:bodyPr>
          <a:lstStyle/>
          <a:p>
            <a:pPr algn="l">
              <a:spcAft>
                <a:spcPts val="0"/>
              </a:spcAft>
            </a:pPr>
            <a:r>
              <a:rPr sz="819" b="1">
                <a:solidFill>
                  <a:srgbClr val="161B26"/>
                </a:solidFill>
                <a:latin typeface="Arial"/>
              </a:rPr>
              <a:t>BudgetEvaluating.swift; BudgetBridgeClient.swift; FakeBudgetBridge.swift; BudgetModel.swift; BudgetViewModel.swift; BudgetBuddyApp.swift; AppRoot.swift; BudgetScreen.swift; supporting views and previews</a:t>
            </a:r>
          </a:p>
        </p:txBody>
      </p:sp>
      <p:sp>
        <p:nvSpPr>
          <p:cNvPr id="14" name="Rounded Rectangle 13"/>
          <p:cNvSpPr/>
          <p:nvPr/>
        </p:nvSpPr>
        <p:spPr>
          <a:xfrm>
            <a:off x="7909560" y="3136392"/>
            <a:ext cx="3584448" cy="1435608"/>
          </a:xfrm>
          <a:prstGeom prst="roundRect">
            <a:avLst>
              <a:gd name="adj" fmla="val 8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4736" y="3355848"/>
            <a:ext cx="2057400" cy="182880"/>
          </a:xfrm>
          <a:prstGeom prst="rect">
            <a:avLst/>
          </a:prstGeom>
          <a:noFill/>
        </p:spPr>
        <p:txBody>
          <a:bodyPr wrap="square" anchor="t" lIns="18288" rIns="18288" tIns="18288" bIns="18288">
            <a:spAutoFit/>
          </a:bodyPr>
          <a:lstStyle/>
          <a:p>
            <a:pPr algn="l">
              <a:spcAft>
                <a:spcPts val="0"/>
              </a:spcAft>
            </a:pPr>
            <a:r>
              <a:rPr sz="900" b="1">
                <a:solidFill>
                  <a:srgbClr val="10B981"/>
                </a:solidFill>
                <a:latin typeface="Arial"/>
              </a:rPr>
              <a:t>EXPECTED GREEN</a:t>
            </a:r>
          </a:p>
        </p:txBody>
      </p:sp>
      <p:sp>
        <p:nvSpPr>
          <p:cNvPr id="16" name="TextBox 15"/>
          <p:cNvSpPr txBox="1"/>
          <p:nvPr/>
        </p:nvSpPr>
        <p:spPr>
          <a:xfrm>
            <a:off x="8174736" y="3666744"/>
            <a:ext cx="2926080" cy="621792"/>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Swift Testing proves parsing/state/error/retry with a fake; iOS 17+ build succeeds; four deterministic previews construct; required accessibility identifiers exist.</a:t>
            </a:r>
          </a:p>
        </p:txBody>
      </p:sp>
      <p:sp>
        <p:nvSpPr>
          <p:cNvPr id="17" name="Rounded Rectangle 16"/>
          <p:cNvSpPr/>
          <p:nvPr/>
        </p:nvSpPr>
        <p:spPr>
          <a:xfrm>
            <a:off x="7909560" y="4828032"/>
            <a:ext cx="3584448" cy="1261872"/>
          </a:xfrm>
          <a:prstGeom prst="roundRect">
            <a:avLst>
              <a:gd name="adj" fmla="val 8000"/>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4736" y="5029200"/>
            <a:ext cx="2057400" cy="182880"/>
          </a:xfrm>
          <a:prstGeom prst="rect">
            <a:avLst/>
          </a:prstGeom>
          <a:noFill/>
        </p:spPr>
        <p:txBody>
          <a:bodyPr wrap="square" anchor="t" lIns="18288" rIns="18288" tIns="18288" bIns="18288">
            <a:spAutoFit/>
          </a:bodyPr>
          <a:lstStyle/>
          <a:p>
            <a:pPr algn="l">
              <a:spcAft>
                <a:spcPts val="0"/>
              </a:spcAft>
            </a:pPr>
            <a:r>
              <a:rPr sz="900" b="1">
                <a:solidFill>
                  <a:srgbClr val="C2413A"/>
                </a:solidFill>
                <a:latin typeface="Arial"/>
              </a:rPr>
              <a:t>REVIEW / REPAIR</a:t>
            </a:r>
          </a:p>
        </p:txBody>
      </p:sp>
      <p:sp>
        <p:nvSpPr>
          <p:cNvPr id="19" name="TextBox 18"/>
          <p:cNvSpPr txBox="1"/>
          <p:nvPr/>
        </p:nvSpPr>
        <p:spPr>
          <a:xfrm>
            <a:off x="8174736" y="5330952"/>
            <a:ext cx="2926080" cy="493776"/>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Use the paired review prompt in the Activity guide. Fix the first causal failure, preserve tests, then rerun focused and full checks.</a:t>
            </a:r>
          </a:p>
        </p:txBody>
      </p:sp>
      <p:sp>
        <p:nvSpPr>
          <p:cNvPr id="20" name="TextBox 19"/>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1" name="TextBox 20"/>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156</a:t>
            </a:r>
          </a:p>
        </p:txBody>
      </p:sp>
    </p:spTree>
  </p:cSld>
  <p:clrMapOvr>
    <a:masterClrMapping/>
  </p:clrMapOvr>
  <p:transition advClick="1" spd="fast">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VERIFY BEFORE MOVING ON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6 · Evidence Contract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Artifact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SwiftUI entry flow, deterministic previews and validation states</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K3, A3</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Acceptance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The view remains declarative, invalid input is recoverable, and previews cover four states without production data.</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K3, A3</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Failure signal</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If previews fail, inject the fixture model and remove filesystem work from initialisation.</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K3, A3</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Cleanup</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Retain preview fixtures; remove screenshots containing personal data.</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K3, A3</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Evidence is a retrievable artifact or test result, not a statement that the activity was completed.</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157</a:t>
            </a:r>
          </a:p>
        </p:txBody>
      </p:sp>
    </p:spTree>
  </p:cSld>
  <p:clrMapOvr>
    <a:masterClrMapping/>
  </p:clrMapOvr>
  <p:transition advClick="1" spd="fast">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TEST IT</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6 · Verification Gate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52760" cy="1828800"/>
          </a:xfrm>
          <a:prstGeom prst="roundRect">
            <a:avLst>
              <a:gd name="adj" fmla="val 8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057400"/>
            <a:ext cx="1828800" cy="237744"/>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PASS WHEN</a:t>
            </a:r>
          </a:p>
        </p:txBody>
      </p:sp>
      <p:sp>
        <p:nvSpPr>
          <p:cNvPr id="9" name="TextBox 8"/>
          <p:cNvSpPr txBox="1"/>
          <p:nvPr/>
        </p:nvSpPr>
        <p:spPr>
          <a:xfrm>
            <a:off x="1078992" y="2542032"/>
            <a:ext cx="9646920" cy="566928"/>
          </a:xfrm>
          <a:prstGeom prst="rect">
            <a:avLst/>
          </a:prstGeom>
          <a:noFill/>
        </p:spPr>
        <p:txBody>
          <a:bodyPr wrap="square" anchor="ctr" lIns="18288" rIns="18288" tIns="18288" bIns="18288">
            <a:spAutoFit/>
          </a:bodyPr>
          <a:lstStyle/>
          <a:p>
            <a:pPr algn="l">
              <a:spcAft>
                <a:spcPts val="0"/>
              </a:spcAft>
            </a:pPr>
            <a:r>
              <a:rPr sz="2000" b="1">
                <a:solidFill>
                  <a:srgbClr val="161B26"/>
                </a:solidFill>
                <a:latin typeface="Arial"/>
              </a:rPr>
              <a:t>The view remains declarative, invalid input is recoverable, and previews cover four states without production data.</a:t>
            </a:r>
          </a:p>
        </p:txBody>
      </p:sp>
      <p:sp>
        <p:nvSpPr>
          <p:cNvPr id="10" name="Rounded Rectangle 9"/>
          <p:cNvSpPr/>
          <p:nvPr/>
        </p:nvSpPr>
        <p:spPr>
          <a:xfrm>
            <a:off x="749808" y="3913632"/>
            <a:ext cx="5129784" cy="1298448"/>
          </a:xfrm>
          <a:prstGeom prst="roundRect">
            <a:avLst>
              <a:gd name="adj" fmla="val 8000"/>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151376"/>
            <a:ext cx="1645920" cy="219456"/>
          </a:xfrm>
          <a:prstGeom prst="rect">
            <a:avLst/>
          </a:prstGeom>
          <a:noFill/>
        </p:spPr>
        <p:txBody>
          <a:bodyPr wrap="square" anchor="t" lIns="18288" rIns="18288" tIns="18288" bIns="18288">
            <a:spAutoFit/>
          </a:bodyPr>
          <a:lstStyle/>
          <a:p>
            <a:pPr algn="l">
              <a:spcAft>
                <a:spcPts val="0"/>
              </a:spcAft>
            </a:pPr>
            <a:r>
              <a:rPr sz="1100" b="1">
                <a:solidFill>
                  <a:srgbClr val="C2413A"/>
                </a:solidFill>
                <a:latin typeface="Arial"/>
              </a:rPr>
              <a:t>IF IT FAILS</a:t>
            </a:r>
          </a:p>
        </p:txBody>
      </p:sp>
      <p:sp>
        <p:nvSpPr>
          <p:cNvPr id="12" name="TextBox 11"/>
          <p:cNvSpPr txBox="1"/>
          <p:nvPr/>
        </p:nvSpPr>
        <p:spPr>
          <a:xfrm>
            <a:off x="1033271" y="4517136"/>
            <a:ext cx="4498848" cy="475488"/>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If previews fail, inject the fixture model and remove filesystem work from initialisation.</a:t>
            </a:r>
          </a:p>
        </p:txBody>
      </p:sp>
      <p:sp>
        <p:nvSpPr>
          <p:cNvPr id="13" name="Rounded Rectangle 12"/>
          <p:cNvSpPr/>
          <p:nvPr/>
        </p:nvSpPr>
        <p:spPr>
          <a:xfrm>
            <a:off x="6181344" y="3913632"/>
            <a:ext cx="5221224" cy="12984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4151376"/>
            <a:ext cx="2194560"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LEAVE THE WORKSPACE</a:t>
            </a:r>
          </a:p>
        </p:txBody>
      </p:sp>
      <p:sp>
        <p:nvSpPr>
          <p:cNvPr id="15" name="TextBox 14"/>
          <p:cNvSpPr txBox="1"/>
          <p:nvPr/>
        </p:nvSpPr>
        <p:spPr>
          <a:xfrm>
            <a:off x="6464808" y="4517136"/>
            <a:ext cx="4590288" cy="475488"/>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Retain preview fixtures; remove screenshots containing personal data.</a:t>
            </a:r>
          </a:p>
        </p:txBody>
      </p:sp>
      <p:sp>
        <p:nvSpPr>
          <p:cNvPr id="16" name="TextBox 15"/>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7" name="TextBox 16"/>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18" name="TextBox 17"/>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158</a:t>
            </a:r>
          </a:p>
        </p:txBody>
      </p:sp>
    </p:spTree>
  </p:cSld>
  <p:clrMapOvr>
    <a:masterClrMapping/>
  </p:clrMapOvr>
  <p:transition advClick="1" spd="fast">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RETRIEVAL PRACTICE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Topic 3 · Review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Explain</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LO3: Select essential C++ controls and features to meet software design requirements.</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LO3 · K3 · A3</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Demonstrate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Show the Activity evidence that operationalises the outcome.</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LO3 · K3 · A3</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Diagnose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Name the failure signal and the layer where it originates.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LO3 · K3 · A3</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Trace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Connect LO3 · K3 · A3 to the assessment and evidence pack.</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LO3 · K3 · A3</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Do not advance on confidence alone; point to the artifact or test result that supports the answer.</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159</a:t>
            </a:r>
          </a:p>
        </p:txBody>
      </p:sp>
    </p:spTree>
  </p:cSld>
  <p:clrMapOvr>
    <a:masterClrMapping/>
  </p:clrMapOvr>
  <p:transition advClick="1" spd="fast">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737360"/>
            <a:ext cx="10835640" cy="329184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28016" cy="32918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48840"/>
            <a:ext cx="7680960" cy="310896"/>
          </a:xfrm>
          <a:prstGeom prst="rect">
            <a:avLst/>
          </a:prstGeom>
          <a:noFill/>
        </p:spPr>
        <p:txBody>
          <a:bodyPr wrap="square" anchor="t" lIns="18288" rIns="18288" tIns="18288" bIns="18288">
            <a:spAutoFit/>
          </a:bodyPr>
          <a:lstStyle/>
          <a:p>
            <a:pPr algn="l">
              <a:spcAft>
                <a:spcPts val="0"/>
              </a:spcAft>
            </a:pPr>
            <a:r>
              <a:rPr sz="1500" b="1">
                <a:solidFill>
                  <a:srgbClr val="1F6FEB"/>
                </a:solidFill>
                <a:latin typeface="Arial"/>
              </a:rPr>
              <a:t>TOPIC 4 · LO4 · K4 · A4</a:t>
            </a:r>
          </a:p>
        </p:txBody>
      </p:sp>
      <p:sp>
        <p:nvSpPr>
          <p:cNvPr id="6" name="TextBox 5"/>
          <p:cNvSpPr txBox="1"/>
          <p:nvPr/>
        </p:nvSpPr>
        <p:spPr>
          <a:xfrm>
            <a:off x="1280160" y="2606040"/>
            <a:ext cx="8732520" cy="932688"/>
          </a:xfrm>
          <a:prstGeom prst="rect">
            <a:avLst/>
          </a:prstGeom>
          <a:noFill/>
        </p:spPr>
        <p:txBody>
          <a:bodyPr wrap="square" anchor="ctr" lIns="18288" rIns="18288" tIns="18288" bIns="18288">
            <a:spAutoFit/>
          </a:bodyPr>
          <a:lstStyle/>
          <a:p>
            <a:pPr algn="l">
              <a:spcAft>
                <a:spcPts val="0"/>
              </a:spcAft>
            </a:pPr>
            <a:r>
              <a:rPr sz="3400" b="1">
                <a:solidFill>
                  <a:srgbClr val="161B26"/>
                </a:solidFill>
                <a:latin typeface="Arial"/>
              </a:rPr>
              <a:t>iOS Interoperability, Persistence and Validation</a:t>
            </a:r>
          </a:p>
        </p:txBody>
      </p:sp>
      <p:sp>
        <p:nvSpPr>
          <p:cNvPr id="7" name="TextBox 6"/>
          <p:cNvSpPr txBox="1"/>
          <p:nvPr/>
        </p:nvSpPr>
        <p:spPr>
          <a:xfrm>
            <a:off x="1280160" y="3767328"/>
            <a:ext cx="8732520" cy="658368"/>
          </a:xfrm>
          <a:prstGeom prst="rect">
            <a:avLst/>
          </a:prstGeom>
          <a:noFill/>
        </p:spPr>
        <p:txBody>
          <a:bodyPr wrap="square" anchor="t" lIns="18288" rIns="18288" tIns="18288" bIns="18288">
            <a:spAutoFit/>
          </a:bodyPr>
          <a:lstStyle/>
          <a:p>
            <a:pPr algn="l">
              <a:spcAft>
                <a:spcPts val="0"/>
              </a:spcAft>
            </a:pPr>
            <a:r>
              <a:rPr sz="1400" b="0">
                <a:solidFill>
                  <a:srgbClr val="5B6372"/>
                </a:solidFill>
                <a:latin typeface="Arial"/>
              </a:rPr>
              <a:t>LO4: Examine the interoperability and functionality of C++ software components.</a:t>
            </a:r>
          </a:p>
        </p:txBody>
      </p:sp>
      <p:sp>
        <p:nvSpPr>
          <p:cNvPr id="8" name="TextBox 7"/>
          <p:cNvSpPr txBox="1"/>
          <p:nvPr/>
        </p:nvSpPr>
        <p:spPr>
          <a:xfrm>
            <a:off x="9674352" y="658368"/>
            <a:ext cx="1417320" cy="658368"/>
          </a:xfrm>
          <a:prstGeom prst="rect">
            <a:avLst/>
          </a:prstGeom>
          <a:noFill/>
        </p:spPr>
        <p:txBody>
          <a:bodyPr wrap="square" anchor="t" lIns="18288" rIns="18288" tIns="18288" bIns="18288">
            <a:spAutoFit/>
          </a:bodyPr>
          <a:lstStyle/>
          <a:p>
            <a:pPr algn="r">
              <a:spcAft>
                <a:spcPts val="0"/>
              </a:spcAft>
            </a:pPr>
            <a:r>
              <a:rPr sz="5400" b="1">
                <a:solidFill>
                  <a:srgbClr val="D7E0EA"/>
                </a:solidFill>
                <a:latin typeface="Arial"/>
              </a:rPr>
              <a:t>04</a:t>
            </a:r>
          </a:p>
        </p:txBody>
      </p:sp>
      <p:sp>
        <p:nvSpPr>
          <p:cNvPr id="9" name="TextBox 8"/>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0" name="TextBox 9"/>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11" name="TextBox 10"/>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160</a:t>
            </a:r>
          </a:p>
        </p:txBody>
      </p:sp>
    </p:spTree>
  </p:cSld>
  <p:clrMapOvr>
    <a:masterClrMapping/>
  </p:clrMapOvr>
  <p:transition advClick="1" spd="med">
    <p:push dir="l"/>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4 · LO4 · K4 · A4</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Objective-C++ owns language translation</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Receive Swift value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.h</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OBJCXX-BRIDGE</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Convert to C++</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.mm</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OBJCXX-BRIDGE</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Call domain</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namespace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OBJCXX-BRIDGE</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Return Objective-C value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NSError</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OBJCXX-BRIDGE</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Keep the header Objective-C compatible and put C++ includes in .mm.</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161</a:t>
            </a:r>
          </a:p>
        </p:txBody>
      </p:sp>
    </p:spTree>
  </p:cSld>
  <p:clrMapOvr>
    <a:masterClrMapping/>
  </p:clrMapOvr>
  <p:transition advClick="1" spd="fast">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4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Objective-C++ owns language translation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Receive Swift value</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Convert to C++</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Call domain</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Return Objective-C value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C++ types leak through the public Objective-C header. Control: Keep the header Objective-C compatible and put C++ includes in .mm.</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162</a:t>
            </a:r>
          </a:p>
        </p:txBody>
      </p:sp>
    </p:spTree>
  </p:cSld>
  <p:clrMapOvr>
    <a:masterClrMapping/>
  </p:clrMapOvr>
  <p:transition advClick="1" spd="fast">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Objective-C++ owns language translation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 BudgetBridge.mm
auto result = core_-&gt;add(toCpp(draft));</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.h</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.mm</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namespace</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NSError</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One translation point per operation</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163</a:t>
            </a:r>
          </a:p>
        </p:txBody>
      </p:sp>
    </p:spTree>
  </p:cSld>
  <p:clrMapOvr>
    <a:masterClrMapping/>
  </p:clrMapOvr>
  <p:transition advClick="1" spd="fast">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4 · LO4 · K4 · A4</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Ownership across ARC and RAII</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Swift retains bridge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strong</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OBJCXX-OWNERSHIP</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Bridge owns unique_ptr</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unique_ptr</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OBJCXX-OWNERSHIP</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Core owns values</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value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OBJCXX-OWNERSHIP</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Scope releases</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deinit</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OBJCXX-OWNERSHIP</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Let the adapter own long-lived C++ services; return copied immutable DTOs.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164</a:t>
            </a:r>
          </a:p>
        </p:txBody>
      </p:sp>
    </p:spTree>
  </p:cSld>
  <p:clrMapOvr>
    <a:masterClrMapping/>
  </p:clrMapOvr>
  <p:transition advClick="1" spd="fast">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4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Ownership across ARC and RAII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Swift retains bridge</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Bridge owns unique_ptr</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Core owns values</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Scope releases</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Swift stores a pointer to a temporary C++ object. Control: Let the adapter own long-lived C++ services; return copied immutable DTOs.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165</a:t>
            </a:r>
          </a:p>
        </p:txBody>
      </p:sp>
    </p:spTree>
  </p:cSld>
  <p:clrMapOvr>
    <a:masterClrMapping/>
  </p:clrMapOvr>
  <p:transition advClick="1" spd="fast">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Ownership across ARC and RAII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std::unique_ptr&lt;ExpenseService&gt; service_;</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strong</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unique_ptr</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value</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deinit</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No leaks or dangling pointers under repeated use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166</a:t>
            </a:r>
          </a:p>
        </p:txBody>
      </p:sp>
    </p:spTree>
  </p:cSld>
  <p:clrMapOvr>
    <a:masterClrMapping/>
  </p:clrMapOvr>
  <p:transition advClick="1" spd="fast">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4 · LO4 · K4 · A4</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Map typed errors once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Receive variant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domain code</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OBJCXX-ERROR</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Extract error</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domain</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OBJCXX-ERROR</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Assign code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message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OBJCXX-ERROR</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Create NSError</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recovery</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OBJCXX-ERROR</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Centralise DomainError-to-NSError mapping in the adapter.</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167</a:t>
            </a:r>
          </a:p>
        </p:txBody>
      </p:sp>
    </p:spTree>
  </p:cSld>
  <p:clrMapOvr>
    <a:masterClrMapping/>
  </p:clrMapOvr>
  <p:transition advClick="1" spd="fast">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4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Map typed errors once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Receive variant</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Extract error</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Assign code</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Create NSError</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Every screen invents a different string for the same domain failure. Control: Centralise DomainError-to-NSError mapping in the adapter.</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168</a:t>
            </a:r>
          </a:p>
        </p:txBody>
      </p:sp>
    </p:spTree>
  </p:cSld>
  <p:clrMapOvr>
    <a:masterClrMapping/>
  </p:clrMapOvr>
  <p:transition advClick="1" spd="fast">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Map typed errors once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NSError *error = [NSError errorWithDomain:BudgetDomain code:code userInfo:info];</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domain code</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domain</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message</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recovery</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Stable error codes reach Swift tests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169</a:t>
            </a:r>
          </a:p>
        </p:txBody>
      </p:sp>
    </p:spTree>
  </p:cSld>
  <p:clrMapOvr>
    <a:masterClrMapping/>
  </p:clrMapOvr>
  <p:transition advClick="1" spd="fast">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4 · LO4 · K4 · A4</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DTOs freeze the boundary shape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Read domain</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identity</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OBJCXX-DTO</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Copy fields</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amount</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OBJCXX-DTO</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Create DTO</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category</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OBJCXX-DTO</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Consume in Swift</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timestamp</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OBJCXX-DTO</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Use explicit DTO objects with stable identity and documented units.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170</a:t>
            </a:r>
          </a:p>
        </p:txBody>
      </p:sp>
    </p:spTree>
  </p:cSld>
  <p:clrMapOvr>
    <a:masterClrMapping/>
  </p:clrMapOvr>
  <p:transition advClick="1" spd="fast">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4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DTOs freeze the boundary shape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Read domain</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Copy fields</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Create DTO</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Consume in Swift</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Swift receives multiple arrays whose indices must stay aligned. Control: Use explicit DTO objects with stable identity and documented units.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171</a:t>
            </a:r>
          </a:p>
        </p:txBody>
      </p:sp>
    </p:spTree>
  </p:cSld>
  <p:clrMapOvr>
    <a:masterClrMapping/>
  </p:clrMapOvr>
  <p:transition advClick="1" spd="fast">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DTOs freeze the boundary shape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@interface ExpenseDTO : NSObject @property(readonly) int64_t cents; @end</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identity</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amount</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category</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timestamp</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Swift sees immutable, complete records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172</a:t>
            </a:r>
          </a:p>
        </p:txBody>
      </p:sp>
    </p:spTree>
  </p:cSld>
  <p:clrMapOvr>
    <a:masterClrMapping/>
  </p:clrMapOvr>
  <p:transition advClick="1" spd="fast">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4 · LO4 · K4 · A4</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JSON persistence stays behind a port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Serialise snapshot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encoder</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CPP-PERSIST</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Write atomically</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temp file</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CPP-PERSIST</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Read data</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rename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CPP-PERSIST</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Validate schema</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schemaVersion</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CPP-PERSIST</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Write to a temporary file, fsync where relevant, then replace atomically.</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173</a:t>
            </a:r>
          </a:p>
        </p:txBody>
      </p:sp>
    </p:spTree>
  </p:cSld>
  <p:clrMapOvr>
    <a:masterClrMapping/>
  </p:clrMapOvr>
  <p:transition advClick="1" spd="fast">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4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JSON persistence stays behind a port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Serialise snapshot</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Write atomically</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Read data</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Validate schema</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 partial write corrupts the only saved file. Control: Write to a temporary file, fsync where relevant, then replace atomically.</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174</a:t>
            </a:r>
          </a:p>
        </p:txBody>
      </p:sp>
    </p:spTree>
  </p:cSld>
  <p:clrMapOvr>
    <a:masterClrMapping/>
  </p:clrMapOvr>
  <p:transition advClick="1" spd="fast">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JSON persistence stays behind a port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repository.save(snapshot); // port hides JSON and filesystem</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encoder</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temp file</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rename</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schemaVersion</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Restart reproduces last accepted state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175</a:t>
            </a:r>
          </a:p>
        </p:txBody>
      </p:sp>
    </p:spTree>
  </p:cSld>
  <p:clrMapOvr>
    <a:masterClrMapping/>
  </p:clrMapOvr>
  <p:transition advClick="1" spd="fast">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4 · LO4 · K4 · A4</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Schema evolution needs a version</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Read version</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v1</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CPP-SCHEMA</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Select migration</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migration</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CPP-SCHEMA</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Transform</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default</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CPP-SCHEMA</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Persist current</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current</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CPP-SCHEMA</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Version persisted documents and test every supported migration path.</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176</a:t>
            </a:r>
          </a:p>
        </p:txBody>
      </p:sp>
    </p:spTree>
  </p:cSld>
  <p:clrMapOvr>
    <a:masterClrMapping/>
  </p:clrMapOvr>
  <p:transition advClick="1" spd="fast">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4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Schema evolution needs a version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Read version</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Select migration</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Transform</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Persist current</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 new field makes existing user data unreadable. Control: Version persisted documents and test every supported migration path.</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177</a:t>
            </a:r>
          </a:p>
        </p:txBody>
      </p:sp>
    </p:spTree>
  </p:cSld>
  <p:clrMapOvr>
    <a:masterClrMapping/>
  </p:clrMapOvr>
  <p:transition advClick="1" spd="fast">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Schema evolution needs a version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if (doc.schemaVersion == 1) return migrateV1(doc);</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v1</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migration</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default</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current</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Legacy fixtures load into current model</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178</a:t>
            </a:r>
          </a:p>
        </p:txBody>
      </p:sp>
    </p:spTree>
  </p:cSld>
  <p:clrMapOvr>
    <a:masterClrMapping/>
  </p:clrMapOvr>
  <p:transition advClick="1" spd="fast">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4 · LO4 · K4 · A4</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Interoperability has observable indicators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Build both targets</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compile</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TSC-K4</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Call boundary</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round-trip</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TSC-K4</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Compare values</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identity</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TSC-K4</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Inspect failures</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error</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TSC-K4</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Measure compile compatibility, value fidelity, error fidelity and lifecycle safety.</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179</a:t>
            </a:r>
          </a:p>
        </p:txBody>
      </p:sp>
    </p:spTree>
  </p:cSld>
  <p:clrMapOvr>
    <a:masterClrMapping/>
  </p:clrMapOvr>
  <p:transition advClick="1" spd="fast">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4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Interoperability has observable indicators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Build both targets</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Call boundary</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Compare values</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Inspect failures</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Only a happy-path simulator demo is used as evidence. Control: Measure compile compatibility, value fidelity, error fidelity and lifecycle safety.</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180</a:t>
            </a:r>
          </a:p>
        </p:txBody>
      </p:sp>
    </p:spTree>
  </p:cSld>
  <p:clrMapOvr>
    <a:masterClrMapping/>
  </p:clrMapOvr>
  <p:transition advClick="1" spd="fast">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Interoperability has observable indicators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EXPECT_EQ(swiftRoundTrip.amountCents, cppInput.amount.cents);</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compile</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round-trip</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identity</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error</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Contract tests pass for success and failure paths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181</a:t>
            </a:r>
          </a:p>
        </p:txBody>
      </p:sp>
    </p:spTree>
  </p:cSld>
  <p:clrMapOvr>
    <a:masterClrMapping/>
  </p:clrMapOvr>
  <p:transition advClick="1" spd="fast">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4 · LO4 · K4 · A4</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Contract tests isolate the seam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Arrange adapter</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fixture</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TEST-INTEROP</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Send DTO</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input</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TEST-INTEROP</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Invoke core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call</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TEST-INTEROP</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Assert mapped result</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output</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TEST-INTEROP</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Test the translation seam directly with deterministic core doubles.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182</a:t>
            </a:r>
          </a:p>
        </p:txBody>
      </p:sp>
    </p:spTree>
  </p:cSld>
  <p:clrMapOvr>
    <a:masterClrMapping/>
  </p:clrMapOvr>
  <p:transition advClick="1" spd="fast">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4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Contract tests isolate the seam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Arrange adapter</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Send DTO</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Invoke core</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Assert mapped result</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Bridge tests are postponed until full end-to-end testing. Control: Test the translation seam directly with deterministic core doubles.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183</a:t>
            </a:r>
          </a:p>
        </p:txBody>
      </p:sp>
    </p:spTree>
  </p:cSld>
  <p:clrMapOvr>
    <a:masterClrMapping/>
  </p:clrMapOvr>
  <p:transition advClick="1" spd="fast">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Contract tests isolate the seam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func testNegativeAmountMapsToStableErrorCode() throws { ... }</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fixture</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input</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call</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output</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Adapter regression detected without UI automation</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184</a:t>
            </a:r>
          </a:p>
        </p:txBody>
      </p:sp>
    </p:spTree>
  </p:cSld>
  <p:clrMapOvr>
    <a:masterClrMapping/>
  </p:clrMapOvr>
  <p:transition advClick="1" spd="fast">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4 · LO4 · K4 · A4</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End-to-end tests prove user value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Launch fixture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launch arg</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XCTEST-E2E</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Enter expense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accessibility id</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XCTEST-E2E</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Save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persistence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XCTEST-E2E</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Relaunch and verify</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assertion</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XCTEST-E2E</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Choose a thin golden path that crosses every architectural boundary.</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185</a:t>
            </a:r>
          </a:p>
        </p:txBody>
      </p:sp>
    </p:spTree>
  </p:cSld>
  <p:clrMapOvr>
    <a:masterClrMapping/>
  </p:clrMapOvr>
  <p:transition advClick="1" spd="fast">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4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End-to-end tests prove user value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Launch fixture</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Enter expense</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Save</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Relaunch and verify</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 UI test checks labels but not the C++ decision or persistence result. Control: Choose a thin golden path that crosses every architectural boundary.</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186</a:t>
            </a:r>
          </a:p>
        </p:txBody>
      </p:sp>
    </p:spTree>
  </p:cSld>
  <p:clrMapOvr>
    <a:masterClrMapping/>
  </p:clrMapOvr>
  <p:transition advClick="1" spd="fast">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End-to-end tests prove user value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app.buttons["saveExpense"].tap(); XCTAssertTrue(app.staticTexts["$12.50"].exists)</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launch arg</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accessibility id</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persistence</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assertion</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Critical journey passes from control to persisted core state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187</a:t>
            </a:r>
          </a:p>
        </p:txBody>
      </p:sp>
    </p:spTree>
  </p:cSld>
  <p:clrMapOvr>
    <a:masterClrMapping/>
  </p:clrMapOvr>
  <p:transition advClick="1" spd="fast">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4 · LO4 · K4 · A4</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Failure injection tests recovery</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Inject fault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disk full</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TEST-FAILURE</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Observe mapping</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invalid JSON</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TEST-FAILURE</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Show recovery</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bridge error</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TEST-FAILURE</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Retry safely</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retry</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TEST-FAILURE</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Inject controlled faults and assert state transitions plus recovery action.</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188</a:t>
            </a:r>
          </a:p>
        </p:txBody>
      </p:sp>
    </p:spTree>
  </p:cSld>
  <p:clrMapOvr>
    <a:masterClrMapping/>
  </p:clrMapOvr>
  <p:transition advClick="1" spd="fast">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4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Failure injection tests recovery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Inject fault</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Observe mapping</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Show recovery</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Retry safely</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Errors are logged but the UI remains stuck in a loading state. Control: Inject controlled faults and assert state transitions plus recovery action.</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189</a:t>
            </a:r>
          </a:p>
        </p:txBody>
      </p:sp>
    </p:spTree>
  </p:cSld>
  <p:clrMapOvr>
    <a:masterClrMapping/>
  </p:clrMapOvr>
  <p:transition advClick="1" spd="fast">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Failure injection tests recovery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repo.failNextSave = true // deterministic test double</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disk full</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invalid JSON</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bridge error</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retry</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Failure states preserve user input and offer a valid next action</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190</a:t>
            </a:r>
          </a:p>
        </p:txBody>
      </p:sp>
    </p:spTree>
  </p:cSld>
  <p:clrMapOvr>
    <a:masterClrMapping/>
  </p:clrMapOvr>
  <p:transition advClick="1" spd="fast">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4 · LO4 · K4 · A4</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Functionality needs a scorecard</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Choose criteria</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correctness</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TSC-A4</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Set threshold</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latency</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TSC-A4</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Run suite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accessibility</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TSC-A4</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Review evidence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recovery</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TSC-A4</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Combine domain, bridge, UI and quality indicators into one release decision.</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191</a:t>
            </a:r>
          </a:p>
        </p:txBody>
      </p:sp>
    </p:spTree>
  </p:cSld>
  <p:clrMapOvr>
    <a:masterClrMapping/>
  </p:clrMapOvr>
  <p:transition advClick="1" spd="fast">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4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Functionality needs a scorecard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Choose criteria</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Set threshold</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Run suite</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Review evidence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 build is declared ready because it compiles. Control: Combine domain, bridge, UI and quality indicators into one release decision.</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192</a:t>
            </a:r>
          </a:p>
        </p:txBody>
      </p:sp>
    </p:spTree>
  </p:cSld>
  <p:clrMapOvr>
    <a:masterClrMapping/>
  </p:clrMapOvr>
  <p:transition advClick="1" spd="fast">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Functionality needs a scorecard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ReleaseGate{.domain=1.0, .bridge=1.0, .ui=0.95, .crashes=0};</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correctness</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latency</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accessibility</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recovery</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All release gates meet declared thresholds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193</a:t>
            </a:r>
          </a:p>
        </p:txBody>
      </p:sp>
    </p:spTree>
  </p:cSld>
  <p:clrMapOvr>
    <a:masterClrMapping/>
  </p:clrMapOvr>
  <p:transition advClick="1" spd="fast">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SCENARIO EVIDENCE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Application Validation · Layered Evidence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pp-validation-v1.png"/>
          <p:cNvPicPr>
            <a:picLocks noChangeAspect="1"/>
          </p:cNvPicPr>
          <p:nvPr/>
        </p:nvPicPr>
        <p:blipFill>
          <a:blip r:embed="rId2"/>
          <a:stretch>
            <a:fillRect/>
          </a:stretch>
        </p:blipFill>
        <p:spPr>
          <a:xfrm>
            <a:off x="658368" y="1737360"/>
            <a:ext cx="6720840" cy="4315968"/>
          </a:xfrm>
          <a:prstGeom prst="rect">
            <a:avLst/>
          </a:prstGeom>
        </p:spPr>
      </p:pic>
      <p:sp>
        <p:nvSpPr>
          <p:cNvPr id="8" name="Rounded Rectangle 7"/>
          <p:cNvSpPr/>
          <p:nvPr/>
        </p:nvSpPr>
        <p:spPr>
          <a:xfrm>
            <a:off x="7662672" y="1737360"/>
            <a:ext cx="3831336" cy="96012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62672" y="1737360"/>
            <a:ext cx="82296"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79" y="1901952"/>
            <a:ext cx="365760" cy="329184"/>
          </a:xfrm>
          <a:prstGeom prst="rect">
            <a:avLst/>
          </a:prstGeom>
          <a:noFill/>
        </p:spPr>
        <p:txBody>
          <a:bodyPr wrap="square" anchor="t" lIns="18288" rIns="18288" tIns="18288" bIns="18288">
            <a:spAutoFit/>
          </a:bodyPr>
          <a:lstStyle/>
          <a:p>
            <a:pPr algn="l">
              <a:spcAft>
                <a:spcPts val="0"/>
              </a:spcAft>
            </a:pPr>
            <a:r>
              <a:rPr sz="1400" b="1">
                <a:solidFill>
                  <a:srgbClr val="1F6FEB"/>
                </a:solidFill>
                <a:latin typeface="Arial"/>
              </a:rPr>
              <a:t>1</a:t>
            </a:r>
          </a:p>
        </p:txBody>
      </p:sp>
      <p:sp>
        <p:nvSpPr>
          <p:cNvPr id="11" name="TextBox 10"/>
          <p:cNvSpPr txBox="1"/>
          <p:nvPr/>
        </p:nvSpPr>
        <p:spPr>
          <a:xfrm>
            <a:off x="8412480" y="1901952"/>
            <a:ext cx="2724912" cy="621792"/>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Domain rules first.</a:t>
            </a:r>
          </a:p>
        </p:txBody>
      </p:sp>
      <p:sp>
        <p:nvSpPr>
          <p:cNvPr id="12" name="Rounded Rectangle 11"/>
          <p:cNvSpPr/>
          <p:nvPr/>
        </p:nvSpPr>
        <p:spPr>
          <a:xfrm>
            <a:off x="7662672" y="2880360"/>
            <a:ext cx="3831336" cy="96012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62672" y="2880360"/>
            <a:ext cx="82296" cy="960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79" y="3044952"/>
            <a:ext cx="365760" cy="329184"/>
          </a:xfrm>
          <a:prstGeom prst="rect">
            <a:avLst/>
          </a:prstGeom>
          <a:noFill/>
        </p:spPr>
        <p:txBody>
          <a:bodyPr wrap="square" anchor="t" lIns="18288" rIns="18288" tIns="18288" bIns="18288">
            <a:spAutoFit/>
          </a:bodyPr>
          <a:lstStyle/>
          <a:p>
            <a:pPr algn="l">
              <a:spcAft>
                <a:spcPts val="0"/>
              </a:spcAft>
            </a:pPr>
            <a:r>
              <a:rPr sz="1400" b="1">
                <a:solidFill>
                  <a:srgbClr val="7C3AED"/>
                </a:solidFill>
                <a:latin typeface="Arial"/>
              </a:rPr>
              <a:t>2</a:t>
            </a:r>
          </a:p>
        </p:txBody>
      </p:sp>
      <p:sp>
        <p:nvSpPr>
          <p:cNvPr id="15" name="TextBox 14"/>
          <p:cNvSpPr txBox="1"/>
          <p:nvPr/>
        </p:nvSpPr>
        <p:spPr>
          <a:xfrm>
            <a:off x="8412480" y="3044952"/>
            <a:ext cx="2724912" cy="621792"/>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Bridge contract second.</a:t>
            </a:r>
          </a:p>
        </p:txBody>
      </p:sp>
      <p:sp>
        <p:nvSpPr>
          <p:cNvPr id="16" name="Rounded Rectangle 15"/>
          <p:cNvSpPr/>
          <p:nvPr/>
        </p:nvSpPr>
        <p:spPr>
          <a:xfrm>
            <a:off x="7662672" y="4023360"/>
            <a:ext cx="3831336" cy="96012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62672" y="4023360"/>
            <a:ext cx="82296"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79" y="4187952"/>
            <a:ext cx="365760" cy="329184"/>
          </a:xfrm>
          <a:prstGeom prst="rect">
            <a:avLst/>
          </a:prstGeom>
          <a:noFill/>
        </p:spPr>
        <p:txBody>
          <a:bodyPr wrap="square" anchor="t" lIns="18288" rIns="18288" tIns="18288" bIns="18288">
            <a:spAutoFit/>
          </a:bodyPr>
          <a:lstStyle/>
          <a:p>
            <a:pPr algn="l">
              <a:spcAft>
                <a:spcPts val="0"/>
              </a:spcAft>
            </a:pPr>
            <a:r>
              <a:rPr sz="1400" b="1">
                <a:solidFill>
                  <a:srgbClr val="10B981"/>
                </a:solidFill>
                <a:latin typeface="Arial"/>
              </a:rPr>
              <a:t>3</a:t>
            </a:r>
          </a:p>
        </p:txBody>
      </p:sp>
      <p:sp>
        <p:nvSpPr>
          <p:cNvPr id="19" name="TextBox 18"/>
          <p:cNvSpPr txBox="1"/>
          <p:nvPr/>
        </p:nvSpPr>
        <p:spPr>
          <a:xfrm>
            <a:off x="8412480" y="4187952"/>
            <a:ext cx="2724912" cy="621792"/>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Golden UI journey third.</a:t>
            </a:r>
          </a:p>
        </p:txBody>
      </p:sp>
      <p:sp>
        <p:nvSpPr>
          <p:cNvPr id="20" name="Rounded Rectangle 19"/>
          <p:cNvSpPr/>
          <p:nvPr/>
        </p:nvSpPr>
        <p:spPr>
          <a:xfrm>
            <a:off x="7662672" y="5166360"/>
            <a:ext cx="3831336" cy="96012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662672" y="5166360"/>
            <a:ext cx="82296" cy="96012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79" y="5330952"/>
            <a:ext cx="365760" cy="329184"/>
          </a:xfrm>
          <a:prstGeom prst="rect">
            <a:avLst/>
          </a:prstGeom>
          <a:noFill/>
        </p:spPr>
        <p:txBody>
          <a:bodyPr wrap="square" anchor="t" lIns="18288" rIns="18288" tIns="18288" bIns="18288">
            <a:spAutoFit/>
          </a:bodyPr>
          <a:lstStyle/>
          <a:p>
            <a:pPr algn="l">
              <a:spcAft>
                <a:spcPts val="0"/>
              </a:spcAft>
            </a:pPr>
            <a:r>
              <a:rPr sz="1400" b="1">
                <a:solidFill>
                  <a:srgbClr val="C77600"/>
                </a:solidFill>
                <a:latin typeface="Arial"/>
              </a:rPr>
              <a:t>4</a:t>
            </a:r>
          </a:p>
        </p:txBody>
      </p:sp>
      <p:sp>
        <p:nvSpPr>
          <p:cNvPr id="23" name="TextBox 22"/>
          <p:cNvSpPr txBox="1"/>
          <p:nvPr/>
        </p:nvSpPr>
        <p:spPr>
          <a:xfrm>
            <a:off x="8412480" y="5330952"/>
            <a:ext cx="2724912" cy="621792"/>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Release decision last.</a:t>
            </a:r>
          </a:p>
        </p:txBody>
      </p:sp>
      <p:sp>
        <p:nvSpPr>
          <p:cNvPr id="24" name="TextBox 23"/>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5" name="TextBox 24"/>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6" name="TextBox 25"/>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194</a:t>
            </a:r>
          </a:p>
        </p:txBody>
      </p:sp>
    </p:spTree>
  </p:cSld>
  <p:clrMapOvr>
    <a:masterClrMapping/>
  </p:clrMapOvr>
  <p:transition advClick="1" spd="fast">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C77600"/>
                </a:solidFill>
                <a:latin typeface="Arial"/>
              </a:rPr>
              <a:t>TOPIC 4 · NATIVE POWERPOINT CHART</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Topic 4 · Evidence Coverage by Layer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41248" y="1773936"/>
          <a:ext cx="717804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302752" y="1773936"/>
            <a:ext cx="3191256" cy="388620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77072" y="2048256"/>
            <a:ext cx="2651760" cy="228600"/>
          </a:xfrm>
          <a:prstGeom prst="rect">
            <a:avLst/>
          </a:prstGeom>
          <a:noFill/>
        </p:spPr>
        <p:txBody>
          <a:bodyPr wrap="square" anchor="t" lIns="18288" rIns="18288" tIns="18288" bIns="18288">
            <a:spAutoFit/>
          </a:bodyPr>
          <a:lstStyle/>
          <a:p>
            <a:pPr algn="l">
              <a:spcAft>
                <a:spcPts val="0"/>
              </a:spcAft>
            </a:pPr>
            <a:r>
              <a:rPr sz="1100" b="1">
                <a:solidFill>
                  <a:srgbClr val="C77600"/>
                </a:solidFill>
                <a:latin typeface="Arial"/>
              </a:rPr>
              <a:t>WHAT THE DATA SHOWS</a:t>
            </a:r>
          </a:p>
        </p:txBody>
      </p:sp>
      <p:sp>
        <p:nvSpPr>
          <p:cNvPr id="10" name="TextBox 9"/>
          <p:cNvSpPr txBox="1"/>
          <p:nvPr/>
        </p:nvSpPr>
        <p:spPr>
          <a:xfrm>
            <a:off x="8577072" y="2542032"/>
            <a:ext cx="2578608" cy="2231136"/>
          </a:xfrm>
          <a:prstGeom prst="rect">
            <a:avLst/>
          </a:prstGeom>
          <a:noFill/>
        </p:spPr>
        <p:txBody>
          <a:bodyPr wrap="square" anchor="ctr" lIns="18288" rIns="18288" tIns="18288" bIns="18288">
            <a:spAutoFit/>
          </a:bodyPr>
          <a:lstStyle/>
          <a:p>
            <a:pPr algn="l">
              <a:spcAft>
                <a:spcPts val="0"/>
              </a:spcAft>
            </a:pPr>
            <a:r>
              <a:rPr sz="1600" b="1">
                <a:solidFill>
                  <a:srgbClr val="161B26"/>
                </a:solidFill>
                <a:latin typeface="Arial"/>
              </a:rPr>
              <a:t>Coverage should form a connected chain. A polished UI cannot compensate for untested invariants or an undocumented seam.</a:t>
            </a:r>
          </a:p>
        </p:txBody>
      </p:sp>
      <p:sp>
        <p:nvSpPr>
          <p:cNvPr id="11" name="TextBox 10"/>
          <p:cNvSpPr txBox="1"/>
          <p:nvPr/>
        </p:nvSpPr>
        <p:spPr>
          <a:xfrm>
            <a:off x="8577072" y="5010912"/>
            <a:ext cx="2578608" cy="384048"/>
          </a:xfrm>
          <a:prstGeom prst="rect">
            <a:avLst/>
          </a:prstGeom>
          <a:noFill/>
        </p:spPr>
        <p:txBody>
          <a:bodyPr wrap="square" anchor="t" lIns="18288" rIns="18288" tIns="18288" bIns="18288">
            <a:spAutoFit/>
          </a:bodyPr>
          <a:lstStyle/>
          <a:p>
            <a:pPr algn="l">
              <a:spcAft>
                <a:spcPts val="0"/>
              </a:spcAft>
            </a:pPr>
            <a:r>
              <a:rPr sz="1000" b="0">
                <a:solidFill>
                  <a:srgbClr val="5B6372"/>
                </a:solidFill>
                <a:latin typeface="Arial"/>
              </a:rPr>
              <a:t>Editable chart · values are instructional thresholds, not production benchmarks</a:t>
            </a:r>
          </a:p>
        </p:txBody>
      </p:sp>
      <p:sp>
        <p:nvSpPr>
          <p:cNvPr id="12" name="TextBox 1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3" name="TextBox 1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14" name="TextBox 1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195</a:t>
            </a:r>
          </a:p>
        </p:txBody>
      </p:sp>
    </p:spTree>
  </p:cSld>
  <p:clrMapOvr>
    <a:masterClrMapping/>
  </p:clrMapOvr>
  <p:transition advClick="1" spd="fast">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HANDS-ON ACTIVITY · 75 MIN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7: Persistence and Error Recovery</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812280" cy="1874519"/>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84248"/>
            <a:ext cx="1554480" cy="219456"/>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CHALLENGE</a:t>
            </a:r>
          </a:p>
        </p:txBody>
      </p:sp>
      <p:sp>
        <p:nvSpPr>
          <p:cNvPr id="9" name="TextBox 8"/>
          <p:cNvSpPr txBox="1"/>
          <p:nvPr/>
        </p:nvSpPr>
        <p:spPr>
          <a:xfrm>
            <a:off x="932688" y="2377440"/>
            <a:ext cx="6254496" cy="804672"/>
          </a:xfrm>
          <a:prstGeom prst="rect">
            <a:avLst/>
          </a:prstGeom>
          <a:noFill/>
        </p:spPr>
        <p:txBody>
          <a:bodyPr wrap="square" anchor="t" lIns="18288" rIns="18288" tIns="18288" bIns="18288">
            <a:spAutoFit/>
          </a:bodyPr>
          <a:lstStyle/>
          <a:p>
            <a:pPr algn="l">
              <a:spcAft>
                <a:spcPts val="0"/>
              </a:spcAft>
            </a:pPr>
            <a:r>
              <a:rPr sz="1700" b="1">
                <a:solidFill>
                  <a:srgbClr val="161B26"/>
                </a:solidFill>
                <a:latin typeface="Arial"/>
              </a:rPr>
              <a:t>Persist domain snapshots safely and prove recovery from invalid data and write failure.</a:t>
            </a:r>
          </a:p>
        </p:txBody>
      </p:sp>
      <p:sp>
        <p:nvSpPr>
          <p:cNvPr id="10" name="Rounded Rectangle 9"/>
          <p:cNvSpPr/>
          <p:nvPr/>
        </p:nvSpPr>
        <p:spPr>
          <a:xfrm>
            <a:off x="7744968" y="1737360"/>
            <a:ext cx="3749039" cy="1874519"/>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19288" y="1984248"/>
            <a:ext cx="2560320" cy="219456"/>
          </a:xfrm>
          <a:prstGeom prst="rect">
            <a:avLst/>
          </a:prstGeom>
          <a:noFill/>
        </p:spPr>
        <p:txBody>
          <a:bodyPr wrap="square" anchor="t" lIns="18288" rIns="18288" tIns="18288" bIns="18288">
            <a:spAutoFit/>
          </a:bodyPr>
          <a:lstStyle/>
          <a:p>
            <a:pPr algn="l">
              <a:spcAft>
                <a:spcPts val="0"/>
              </a:spcAft>
            </a:pPr>
            <a:r>
              <a:rPr sz="1100" b="1">
                <a:solidFill>
                  <a:srgbClr val="7C3AED"/>
                </a:solidFill>
                <a:latin typeface="Arial"/>
              </a:rPr>
              <a:t>REGULATED MAPPING</a:t>
            </a:r>
          </a:p>
        </p:txBody>
      </p:sp>
      <p:sp>
        <p:nvSpPr>
          <p:cNvPr id="12" name="TextBox 11"/>
          <p:cNvSpPr txBox="1"/>
          <p:nvPr/>
        </p:nvSpPr>
        <p:spPr>
          <a:xfrm>
            <a:off x="8019288" y="2423160"/>
            <a:ext cx="2560320" cy="502920"/>
          </a:xfrm>
          <a:prstGeom prst="rect">
            <a:avLst/>
          </a:prstGeom>
          <a:noFill/>
        </p:spPr>
        <p:txBody>
          <a:bodyPr wrap="square" anchor="t" lIns="18288" rIns="18288" tIns="18288" bIns="18288">
            <a:spAutoFit/>
          </a:bodyPr>
          <a:lstStyle/>
          <a:p>
            <a:pPr algn="l">
              <a:spcAft>
                <a:spcPts val="0"/>
              </a:spcAft>
            </a:pPr>
            <a:r>
              <a:rPr sz="2600" b="1">
                <a:solidFill>
                  <a:srgbClr val="7C3AED"/>
                </a:solidFill>
                <a:latin typeface="Arial"/>
              </a:rPr>
              <a:t>K4, A4</a:t>
            </a:r>
          </a:p>
        </p:txBody>
      </p:sp>
      <p:sp>
        <p:nvSpPr>
          <p:cNvPr id="13" name="Rounded Rectangle 12"/>
          <p:cNvSpPr/>
          <p:nvPr/>
        </p:nvSpPr>
        <p:spPr>
          <a:xfrm>
            <a:off x="658368" y="3913632"/>
            <a:ext cx="10835640" cy="12984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4133087"/>
            <a:ext cx="2011680"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YOU WILL PRODUCE</a:t>
            </a:r>
          </a:p>
        </p:txBody>
      </p:sp>
      <p:sp>
        <p:nvSpPr>
          <p:cNvPr id="15" name="TextBox 14"/>
          <p:cNvSpPr txBox="1"/>
          <p:nvPr/>
        </p:nvSpPr>
        <p:spPr>
          <a:xfrm>
            <a:off x="932688" y="4517136"/>
            <a:ext cx="6766560" cy="502920"/>
          </a:xfrm>
          <a:prstGeom prst="rect">
            <a:avLst/>
          </a:prstGeom>
          <a:noFill/>
        </p:spPr>
        <p:txBody>
          <a:bodyPr wrap="square" anchor="t" lIns="18288" rIns="18288" tIns="18288" bIns="18288">
            <a:spAutoFit/>
          </a:bodyPr>
          <a:lstStyle/>
          <a:p>
            <a:pPr algn="l">
              <a:spcAft>
                <a:spcPts val="0"/>
              </a:spcAft>
            </a:pPr>
            <a:r>
              <a:rPr sz="1400" b="1">
                <a:solidFill>
                  <a:srgbClr val="161B26"/>
                </a:solidFill>
                <a:latin typeface="Arial"/>
              </a:rPr>
              <a:t>Versioned JSON repository, migration fixture and recovery tests</a:t>
            </a:r>
          </a:p>
        </p:txBody>
      </p:sp>
      <p:sp>
        <p:nvSpPr>
          <p:cNvPr id="16" name="TextBox 15"/>
          <p:cNvSpPr txBox="1"/>
          <p:nvPr/>
        </p:nvSpPr>
        <p:spPr>
          <a:xfrm>
            <a:off x="7909560" y="4352544"/>
            <a:ext cx="3182112" cy="502920"/>
          </a:xfrm>
          <a:prstGeom prst="rect">
            <a:avLst/>
          </a:prstGeom>
          <a:noFill/>
        </p:spPr>
        <p:txBody>
          <a:bodyPr wrap="square" anchor="t" lIns="18288" rIns="18288" tIns="18288" bIns="18288">
            <a:spAutoFit/>
          </a:bodyPr>
          <a:lstStyle/>
          <a:p>
            <a:pPr algn="l">
              <a:spcAft>
                <a:spcPts val="0"/>
              </a:spcAft>
            </a:pPr>
            <a:r>
              <a:rPr sz="1100" b="0">
                <a:solidFill>
                  <a:srgbClr val="5B6372"/>
                </a:solidFill>
                <a:latin typeface="Arial"/>
              </a:rPr>
              <a:t>C++ filesystem, JSON fixture, CTest</a:t>
            </a:r>
          </a:p>
        </p:txBody>
      </p:sp>
      <p:sp>
        <p:nvSpPr>
          <p:cNvPr id="17" name="Rounded Rectangle 16"/>
          <p:cNvSpPr/>
          <p:nvPr/>
        </p:nvSpPr>
        <p:spPr>
          <a:xfrm>
            <a:off x="658368" y="5468112"/>
            <a:ext cx="10835640" cy="576072"/>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641848"/>
            <a:ext cx="10149840" cy="219456"/>
          </a:xfrm>
          <a:prstGeom prst="rect">
            <a:avLst/>
          </a:prstGeom>
          <a:noFill/>
        </p:spPr>
        <p:txBody>
          <a:bodyPr wrap="square" anchor="t" lIns="18288" rIns="18288" tIns="18288" bIns="18288">
            <a:spAutoFit/>
          </a:bodyPr>
          <a:lstStyle/>
          <a:p>
            <a:pPr algn="l">
              <a:spcAft>
                <a:spcPts val="0"/>
              </a:spcAft>
            </a:pPr>
            <a:r>
              <a:rPr sz="1200" b="1">
                <a:solidFill>
                  <a:srgbClr val="FFFFFF"/>
                </a:solidFill>
                <a:latin typeface="Arial"/>
              </a:rPr>
              <a:t>Detailed procedures: Learner Guide and activities/07-persistence-error-recovery/README.md</a:t>
            </a:r>
          </a:p>
        </p:txBody>
      </p:sp>
      <p:sp>
        <p:nvSpPr>
          <p:cNvPr id="19" name="TextBox 18"/>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0" name="TextBox 19"/>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1" name="TextBox 20"/>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196</a:t>
            </a:r>
          </a:p>
        </p:txBody>
      </p:sp>
    </p:spTree>
  </p:cSld>
  <p:clrMapOvr>
    <a:masterClrMapping/>
  </p:clrMapOvr>
  <p:transition advClick="1" spd="fast">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ACTIVITY MECHANISM</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7 · Delivery Workflow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Frame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Implement repository save behind the ExpenseRepository port.</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K4, A4</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Build</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Write to a temporary file before replacing the current snapshot.</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K4, A4</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Connect</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Inject invalid JSON and a failed save through deterministic doubles.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K4, A4</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Verify</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Restart restores accepted data; corrupt input and failed writes become stable recoverable errors.</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K4, A4</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The slide communicates the workflow; the Learner Guide carries the detailed procedure and commands.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197</a:t>
            </a:r>
          </a:p>
        </p:txBody>
      </p:sp>
    </p:spTree>
  </p:cSld>
  <p:clrMapOvr>
    <a:masterClrMapping/>
  </p:clrMapOvr>
  <p:transition advClick="1" spd="fast">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COPY / PASTE PROMPT · BUDGETBUDDY</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7 · Vibe Coding Generation Prompt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82496"/>
            <a:ext cx="6976872" cy="4425696"/>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82496"/>
            <a:ext cx="91440" cy="44256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874519"/>
            <a:ext cx="2157984" cy="201168"/>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GENERATION PROMPT</a:t>
            </a:r>
          </a:p>
        </p:txBody>
      </p:sp>
      <p:sp>
        <p:nvSpPr>
          <p:cNvPr id="10" name="TextBox 9"/>
          <p:cNvSpPr txBox="1"/>
          <p:nvPr/>
        </p:nvSpPr>
        <p:spPr>
          <a:xfrm>
            <a:off x="941832" y="2212848"/>
            <a:ext cx="6364224" cy="3502152"/>
          </a:xfrm>
          <a:prstGeom prst="rect">
            <a:avLst/>
          </a:prstGeom>
          <a:noFill/>
        </p:spPr>
        <p:txBody>
          <a:bodyPr wrap="square" anchor="t" lIns="18288" rIns="18288" tIns="18288" bIns="18288">
            <a:spAutoFit/>
          </a:bodyPr>
          <a:lstStyle/>
          <a:p>
            <a:pPr algn="l">
              <a:spcAft>
                <a:spcPts val="0"/>
              </a:spcAft>
            </a:pPr>
            <a:r>
              <a:rPr sz="1150" b="0">
                <a:solidFill>
                  <a:srgbClr val="D2E4FF"/>
                </a:solidFill>
                <a:latin typeface="Courier New"/>
              </a:rPr>
              <a:t>Generate versioned atomic JSON persistence and v1-to-v2 migration with exact Int64 cents and stable IDs. Write a temporary file before replacement, keep tests inside a supplied temporary directory and map corrupt/read/write failures to typed recovery. Output complete repository, fixture, schema and test files. Verify migration, save/reload, failed replacement and retry with CTest.</a:t>
            </a:r>
          </a:p>
        </p:txBody>
      </p:sp>
      <p:sp>
        <p:nvSpPr>
          <p:cNvPr id="11" name="Rounded Rectangle 10"/>
          <p:cNvSpPr/>
          <p:nvPr/>
        </p:nvSpPr>
        <p:spPr>
          <a:xfrm>
            <a:off x="7909560" y="1682496"/>
            <a:ext cx="3584448" cy="120700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74736" y="1892807"/>
            <a:ext cx="2926080" cy="182880"/>
          </a:xfrm>
          <a:prstGeom prst="rect">
            <a:avLst/>
          </a:prstGeom>
          <a:noFill/>
        </p:spPr>
        <p:txBody>
          <a:bodyPr wrap="square" anchor="t" lIns="18288" rIns="18288" tIns="18288" bIns="18288">
            <a:spAutoFit/>
          </a:bodyPr>
          <a:lstStyle/>
          <a:p>
            <a:pPr algn="l">
              <a:spcAft>
                <a:spcPts val="0"/>
              </a:spcAft>
            </a:pPr>
            <a:r>
              <a:rPr sz="900" b="1">
                <a:solidFill>
                  <a:srgbClr val="1F6FEB"/>
                </a:solidFill>
                <a:latin typeface="Arial"/>
              </a:rPr>
              <a:t>PROTECTED FILE SCOPE</a:t>
            </a:r>
          </a:p>
        </p:txBody>
      </p:sp>
      <p:sp>
        <p:nvSpPr>
          <p:cNvPr id="13" name="TextBox 12"/>
          <p:cNvSpPr txBox="1"/>
          <p:nvPr/>
        </p:nvSpPr>
        <p:spPr>
          <a:xfrm>
            <a:off x="8174736" y="2212848"/>
            <a:ext cx="2926080" cy="621792"/>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JsonExpenseRepository.hpp/.cpp; snapshot-v1.json; persistence-schema.md; JsonExpenseRepositoryTests.cpp</a:t>
            </a:r>
          </a:p>
        </p:txBody>
      </p:sp>
      <p:sp>
        <p:nvSpPr>
          <p:cNvPr id="14" name="Rounded Rectangle 13"/>
          <p:cNvSpPr/>
          <p:nvPr/>
        </p:nvSpPr>
        <p:spPr>
          <a:xfrm>
            <a:off x="7909560" y="3136392"/>
            <a:ext cx="3584448" cy="1435608"/>
          </a:xfrm>
          <a:prstGeom prst="roundRect">
            <a:avLst>
              <a:gd name="adj" fmla="val 8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4736" y="3355848"/>
            <a:ext cx="2057400" cy="182880"/>
          </a:xfrm>
          <a:prstGeom prst="rect">
            <a:avLst/>
          </a:prstGeom>
          <a:noFill/>
        </p:spPr>
        <p:txBody>
          <a:bodyPr wrap="square" anchor="t" lIns="18288" rIns="18288" tIns="18288" bIns="18288">
            <a:spAutoFit/>
          </a:bodyPr>
          <a:lstStyle/>
          <a:p>
            <a:pPr algn="l">
              <a:spcAft>
                <a:spcPts val="0"/>
              </a:spcAft>
            </a:pPr>
            <a:r>
              <a:rPr sz="900" b="1">
                <a:solidFill>
                  <a:srgbClr val="10B981"/>
                </a:solidFill>
                <a:latin typeface="Arial"/>
              </a:rPr>
              <a:t>EXPECTED GREEN</a:t>
            </a:r>
          </a:p>
        </p:txBody>
      </p:sp>
      <p:sp>
        <p:nvSpPr>
          <p:cNvPr id="16" name="TextBox 15"/>
          <p:cNvSpPr txBox="1"/>
          <p:nvPr/>
        </p:nvSpPr>
        <p:spPr>
          <a:xfrm>
            <a:off x="8174736" y="3666744"/>
            <a:ext cx="2926080" cy="621792"/>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Clean CTest passes migration, round-trip and injected-failure tests; the previous snapshot remains readable after a failed replacement.</a:t>
            </a:r>
          </a:p>
        </p:txBody>
      </p:sp>
      <p:sp>
        <p:nvSpPr>
          <p:cNvPr id="17" name="Rounded Rectangle 16"/>
          <p:cNvSpPr/>
          <p:nvPr/>
        </p:nvSpPr>
        <p:spPr>
          <a:xfrm>
            <a:off x="7909560" y="4828032"/>
            <a:ext cx="3584448" cy="1261872"/>
          </a:xfrm>
          <a:prstGeom prst="roundRect">
            <a:avLst>
              <a:gd name="adj" fmla="val 8000"/>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4736" y="5029200"/>
            <a:ext cx="2057400" cy="182880"/>
          </a:xfrm>
          <a:prstGeom prst="rect">
            <a:avLst/>
          </a:prstGeom>
          <a:noFill/>
        </p:spPr>
        <p:txBody>
          <a:bodyPr wrap="square" anchor="t" lIns="18288" rIns="18288" tIns="18288" bIns="18288">
            <a:spAutoFit/>
          </a:bodyPr>
          <a:lstStyle/>
          <a:p>
            <a:pPr algn="l">
              <a:spcAft>
                <a:spcPts val="0"/>
              </a:spcAft>
            </a:pPr>
            <a:r>
              <a:rPr sz="900" b="1">
                <a:solidFill>
                  <a:srgbClr val="C2413A"/>
                </a:solidFill>
                <a:latin typeface="Arial"/>
              </a:rPr>
              <a:t>REVIEW / REPAIR</a:t>
            </a:r>
          </a:p>
        </p:txBody>
      </p:sp>
      <p:sp>
        <p:nvSpPr>
          <p:cNvPr id="19" name="TextBox 18"/>
          <p:cNvSpPr txBox="1"/>
          <p:nvPr/>
        </p:nvSpPr>
        <p:spPr>
          <a:xfrm>
            <a:off x="8174736" y="5330952"/>
            <a:ext cx="2926080" cy="493776"/>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Use the paired review prompt in the Activity guide. Fix the first causal failure, preserve tests, then rerun focused and full checks.</a:t>
            </a:r>
          </a:p>
        </p:txBody>
      </p:sp>
      <p:sp>
        <p:nvSpPr>
          <p:cNvPr id="20" name="TextBox 19"/>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1" name="TextBox 20"/>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198</a:t>
            </a:r>
          </a:p>
        </p:txBody>
      </p:sp>
    </p:spTree>
  </p:cSld>
  <p:clrMapOvr>
    <a:masterClrMapping/>
  </p:clrMapOvr>
  <p:transition advClick="1" spd="fast">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VERIFY BEFORE MOVING ON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7 · Evidence Contract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Artifact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Versioned JSON repository, migration fixture and recovery tests</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K4, A4</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Acceptance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Restart restores accepted data; corrupt input and failed writes become stable recoverable errors.</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K4, A4</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Failure signal</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If tests touch the real home directory, inject a temporary path and fail the test on escape.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K4, A4</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Cleanup</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Delete only temporary test stores; retain migration fixtures.</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K4, A4</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Evidence is a retrievable artifact or test result, not a statement that the activity was completed.</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199</a:t>
            </a:r>
          </a:p>
        </p:txBody>
      </p:sp>
    </p:spTree>
  </p:cSld>
  <p:clrMapOvr>
    <a:masterClrMapping/>
  </p:clrMapOvr>
  <p:transition advClick="1" spd="fast">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TEST IT</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7 · Verification Gate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52760" cy="1828800"/>
          </a:xfrm>
          <a:prstGeom prst="roundRect">
            <a:avLst>
              <a:gd name="adj" fmla="val 8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057400"/>
            <a:ext cx="1828800" cy="237744"/>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PASS WHEN</a:t>
            </a:r>
          </a:p>
        </p:txBody>
      </p:sp>
      <p:sp>
        <p:nvSpPr>
          <p:cNvPr id="9" name="TextBox 8"/>
          <p:cNvSpPr txBox="1"/>
          <p:nvPr/>
        </p:nvSpPr>
        <p:spPr>
          <a:xfrm>
            <a:off x="1078992" y="2542032"/>
            <a:ext cx="9646920" cy="566928"/>
          </a:xfrm>
          <a:prstGeom prst="rect">
            <a:avLst/>
          </a:prstGeom>
          <a:noFill/>
        </p:spPr>
        <p:txBody>
          <a:bodyPr wrap="square" anchor="ctr" lIns="18288" rIns="18288" tIns="18288" bIns="18288">
            <a:spAutoFit/>
          </a:bodyPr>
          <a:lstStyle/>
          <a:p>
            <a:pPr algn="l">
              <a:spcAft>
                <a:spcPts val="0"/>
              </a:spcAft>
            </a:pPr>
            <a:r>
              <a:rPr sz="2000" b="1">
                <a:solidFill>
                  <a:srgbClr val="161B26"/>
                </a:solidFill>
                <a:latin typeface="Arial"/>
              </a:rPr>
              <a:t>Restart restores accepted data; corrupt input and failed writes become stable recoverable errors.</a:t>
            </a:r>
          </a:p>
        </p:txBody>
      </p:sp>
      <p:sp>
        <p:nvSpPr>
          <p:cNvPr id="10" name="Rounded Rectangle 9"/>
          <p:cNvSpPr/>
          <p:nvPr/>
        </p:nvSpPr>
        <p:spPr>
          <a:xfrm>
            <a:off x="749808" y="3913632"/>
            <a:ext cx="5129784" cy="1298448"/>
          </a:xfrm>
          <a:prstGeom prst="roundRect">
            <a:avLst>
              <a:gd name="adj" fmla="val 8000"/>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151376"/>
            <a:ext cx="1645920" cy="219456"/>
          </a:xfrm>
          <a:prstGeom prst="rect">
            <a:avLst/>
          </a:prstGeom>
          <a:noFill/>
        </p:spPr>
        <p:txBody>
          <a:bodyPr wrap="square" anchor="t" lIns="18288" rIns="18288" tIns="18288" bIns="18288">
            <a:spAutoFit/>
          </a:bodyPr>
          <a:lstStyle/>
          <a:p>
            <a:pPr algn="l">
              <a:spcAft>
                <a:spcPts val="0"/>
              </a:spcAft>
            </a:pPr>
            <a:r>
              <a:rPr sz="1100" b="1">
                <a:solidFill>
                  <a:srgbClr val="C2413A"/>
                </a:solidFill>
                <a:latin typeface="Arial"/>
              </a:rPr>
              <a:t>IF IT FAILS</a:t>
            </a:r>
          </a:p>
        </p:txBody>
      </p:sp>
      <p:sp>
        <p:nvSpPr>
          <p:cNvPr id="12" name="TextBox 11"/>
          <p:cNvSpPr txBox="1"/>
          <p:nvPr/>
        </p:nvSpPr>
        <p:spPr>
          <a:xfrm>
            <a:off x="1033271" y="4517136"/>
            <a:ext cx="4498848" cy="475488"/>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If tests touch the real home directory, inject a temporary path and fail the test on escape.</a:t>
            </a:r>
          </a:p>
        </p:txBody>
      </p:sp>
      <p:sp>
        <p:nvSpPr>
          <p:cNvPr id="13" name="Rounded Rectangle 12"/>
          <p:cNvSpPr/>
          <p:nvPr/>
        </p:nvSpPr>
        <p:spPr>
          <a:xfrm>
            <a:off x="6181344" y="3913632"/>
            <a:ext cx="5221224" cy="12984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4151376"/>
            <a:ext cx="2194560"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LEAVE THE WORKSPACE</a:t>
            </a:r>
          </a:p>
        </p:txBody>
      </p:sp>
      <p:sp>
        <p:nvSpPr>
          <p:cNvPr id="15" name="TextBox 14"/>
          <p:cNvSpPr txBox="1"/>
          <p:nvPr/>
        </p:nvSpPr>
        <p:spPr>
          <a:xfrm>
            <a:off x="6464808" y="4517136"/>
            <a:ext cx="4590288" cy="475488"/>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Delete only temporary test stores; retain migration fixtures.</a:t>
            </a:r>
          </a:p>
        </p:txBody>
      </p:sp>
      <p:sp>
        <p:nvSpPr>
          <p:cNvPr id="16" name="TextBox 15"/>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7" name="TextBox 16"/>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18" name="TextBox 17"/>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200</a:t>
            </a:r>
          </a:p>
        </p:txBody>
      </p:sp>
    </p:spTree>
  </p:cSld>
  <p:clrMapOvr>
    <a:masterClrMapping/>
  </p:clrMapOvr>
  <p:transition advClick="1" spd="fast">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HANDS-ON ACTIVITY · 80 MIN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Activity 8: Interoperability Validation Scorecard</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812280" cy="1874519"/>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84248"/>
            <a:ext cx="1554480" cy="219456"/>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CHALLENGE</a:t>
            </a:r>
          </a:p>
        </p:txBody>
      </p:sp>
      <p:sp>
        <p:nvSpPr>
          <p:cNvPr id="9" name="TextBox 8"/>
          <p:cNvSpPr txBox="1"/>
          <p:nvPr/>
        </p:nvSpPr>
        <p:spPr>
          <a:xfrm>
            <a:off x="932688" y="2377440"/>
            <a:ext cx="6254496" cy="804672"/>
          </a:xfrm>
          <a:prstGeom prst="rect">
            <a:avLst/>
          </a:prstGeom>
          <a:noFill/>
        </p:spPr>
        <p:txBody>
          <a:bodyPr wrap="square" anchor="t" lIns="18288" rIns="18288" tIns="18288" bIns="18288">
            <a:spAutoFit/>
          </a:bodyPr>
          <a:lstStyle/>
          <a:p>
            <a:pPr algn="l">
              <a:spcAft>
                <a:spcPts val="0"/>
              </a:spcAft>
            </a:pPr>
            <a:r>
              <a:rPr sz="1700" b="1">
                <a:solidFill>
                  <a:srgbClr val="161B26"/>
                </a:solidFill>
                <a:latin typeface="Arial"/>
              </a:rPr>
              <a:t>Assess the C++/Objective-C++/SwiftUI system with domain, bridge and end-to-end evidence.</a:t>
            </a:r>
          </a:p>
        </p:txBody>
      </p:sp>
      <p:sp>
        <p:nvSpPr>
          <p:cNvPr id="10" name="Rounded Rectangle 9"/>
          <p:cNvSpPr/>
          <p:nvPr/>
        </p:nvSpPr>
        <p:spPr>
          <a:xfrm>
            <a:off x="7744968" y="1737360"/>
            <a:ext cx="3749039" cy="1874519"/>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19288" y="1984248"/>
            <a:ext cx="2560320" cy="219456"/>
          </a:xfrm>
          <a:prstGeom prst="rect">
            <a:avLst/>
          </a:prstGeom>
          <a:noFill/>
        </p:spPr>
        <p:txBody>
          <a:bodyPr wrap="square" anchor="t" lIns="18288" rIns="18288" tIns="18288" bIns="18288">
            <a:spAutoFit/>
          </a:bodyPr>
          <a:lstStyle/>
          <a:p>
            <a:pPr algn="l">
              <a:spcAft>
                <a:spcPts val="0"/>
              </a:spcAft>
            </a:pPr>
            <a:r>
              <a:rPr sz="1100" b="1">
                <a:solidFill>
                  <a:srgbClr val="7C3AED"/>
                </a:solidFill>
                <a:latin typeface="Arial"/>
              </a:rPr>
              <a:t>REGULATED MAPPING</a:t>
            </a:r>
          </a:p>
        </p:txBody>
      </p:sp>
      <p:sp>
        <p:nvSpPr>
          <p:cNvPr id="12" name="TextBox 11"/>
          <p:cNvSpPr txBox="1"/>
          <p:nvPr/>
        </p:nvSpPr>
        <p:spPr>
          <a:xfrm>
            <a:off x="8019288" y="2423160"/>
            <a:ext cx="2560320" cy="502920"/>
          </a:xfrm>
          <a:prstGeom prst="rect">
            <a:avLst/>
          </a:prstGeom>
          <a:noFill/>
        </p:spPr>
        <p:txBody>
          <a:bodyPr wrap="square" anchor="t" lIns="18288" rIns="18288" tIns="18288" bIns="18288">
            <a:spAutoFit/>
          </a:bodyPr>
          <a:lstStyle/>
          <a:p>
            <a:pPr algn="l">
              <a:spcAft>
                <a:spcPts val="0"/>
              </a:spcAft>
            </a:pPr>
            <a:r>
              <a:rPr sz="2600" b="1">
                <a:solidFill>
                  <a:srgbClr val="7C3AED"/>
                </a:solidFill>
                <a:latin typeface="Arial"/>
              </a:rPr>
              <a:t>K4, A4</a:t>
            </a:r>
          </a:p>
        </p:txBody>
      </p:sp>
      <p:sp>
        <p:nvSpPr>
          <p:cNvPr id="13" name="Rounded Rectangle 12"/>
          <p:cNvSpPr/>
          <p:nvPr/>
        </p:nvSpPr>
        <p:spPr>
          <a:xfrm>
            <a:off x="658368" y="3913632"/>
            <a:ext cx="10835640" cy="12984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4133087"/>
            <a:ext cx="2011680"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YOU WILL PRODUCE</a:t>
            </a:r>
          </a:p>
        </p:txBody>
      </p:sp>
      <p:sp>
        <p:nvSpPr>
          <p:cNvPr id="15" name="TextBox 14"/>
          <p:cNvSpPr txBox="1"/>
          <p:nvPr/>
        </p:nvSpPr>
        <p:spPr>
          <a:xfrm>
            <a:off x="932688" y="4517136"/>
            <a:ext cx="6766560" cy="502920"/>
          </a:xfrm>
          <a:prstGeom prst="rect">
            <a:avLst/>
          </a:prstGeom>
          <a:noFill/>
        </p:spPr>
        <p:txBody>
          <a:bodyPr wrap="square" anchor="t" lIns="18288" rIns="18288" tIns="18288" bIns="18288">
            <a:spAutoFit/>
          </a:bodyPr>
          <a:lstStyle/>
          <a:p>
            <a:pPr algn="l">
              <a:spcAft>
                <a:spcPts val="0"/>
              </a:spcAft>
            </a:pPr>
            <a:r>
              <a:rPr sz="1600" b="1">
                <a:solidFill>
                  <a:srgbClr val="161B26"/>
                </a:solidFill>
                <a:latin typeface="Arial"/>
              </a:rPr>
              <a:t>Test matrix, execution evidence and release scorecard</a:t>
            </a:r>
          </a:p>
        </p:txBody>
      </p:sp>
      <p:sp>
        <p:nvSpPr>
          <p:cNvPr id="16" name="TextBox 15"/>
          <p:cNvSpPr txBox="1"/>
          <p:nvPr/>
        </p:nvSpPr>
        <p:spPr>
          <a:xfrm>
            <a:off x="7909560" y="4352544"/>
            <a:ext cx="3182112" cy="502920"/>
          </a:xfrm>
          <a:prstGeom prst="rect">
            <a:avLst/>
          </a:prstGeom>
          <a:noFill/>
        </p:spPr>
        <p:txBody>
          <a:bodyPr wrap="square" anchor="t" lIns="18288" rIns="18288" tIns="18288" bIns="18288">
            <a:spAutoFit/>
          </a:bodyPr>
          <a:lstStyle/>
          <a:p>
            <a:pPr algn="l">
              <a:spcAft>
                <a:spcPts val="0"/>
              </a:spcAft>
            </a:pPr>
            <a:r>
              <a:rPr sz="1100" b="0">
                <a:solidFill>
                  <a:srgbClr val="5B6372"/>
                </a:solidFill>
                <a:latin typeface="Arial"/>
              </a:rPr>
              <a:t>CTest, XCTest, XCUITest, Instruments</a:t>
            </a:r>
          </a:p>
        </p:txBody>
      </p:sp>
      <p:sp>
        <p:nvSpPr>
          <p:cNvPr id="17" name="Rounded Rectangle 16"/>
          <p:cNvSpPr/>
          <p:nvPr/>
        </p:nvSpPr>
        <p:spPr>
          <a:xfrm>
            <a:off x="658368" y="5468112"/>
            <a:ext cx="10835640" cy="576072"/>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641848"/>
            <a:ext cx="10149840" cy="219456"/>
          </a:xfrm>
          <a:prstGeom prst="rect">
            <a:avLst/>
          </a:prstGeom>
          <a:noFill/>
        </p:spPr>
        <p:txBody>
          <a:bodyPr wrap="square" anchor="t" lIns="18288" rIns="18288" tIns="18288" bIns="18288">
            <a:spAutoFit/>
          </a:bodyPr>
          <a:lstStyle/>
          <a:p>
            <a:pPr algn="l">
              <a:spcAft>
                <a:spcPts val="0"/>
              </a:spcAft>
            </a:pPr>
            <a:r>
              <a:rPr sz="1200" b="1">
                <a:solidFill>
                  <a:srgbClr val="FFFFFF"/>
                </a:solidFill>
                <a:latin typeface="Arial"/>
              </a:rPr>
              <a:t>Detailed procedures: Learner Guide and activities/08-interop-validation-scorecard/README.md</a:t>
            </a:r>
          </a:p>
        </p:txBody>
      </p:sp>
      <p:sp>
        <p:nvSpPr>
          <p:cNvPr id="19" name="TextBox 18"/>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0" name="TextBox 19"/>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1" name="TextBox 20"/>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201</a:t>
            </a:r>
          </a:p>
        </p:txBody>
      </p:sp>
    </p:spTree>
  </p:cSld>
  <p:clrMapOvr>
    <a:masterClrMapping/>
  </p:clrMapOvr>
  <p:transition advClick="1" spd="fast">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ACTIVITY MECHANISM</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8 · Delivery Workflow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Frame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Map each requirement to a domain, bridge or UI test level.</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K4, A4</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Build</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Run exact-cent and typed-error domain tests.</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K4, A4</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Connect</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Exercise the golden SwiftUI journey through save and relaunch.</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K4, A4</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Verify</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Every release-gate score links to reproducible evidence and no criterion relies only on a visual demo.</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K4, A4</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The slide communicates the workflow; the Learner Guide carries the detailed procedure and commands.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202</a:t>
            </a:r>
          </a:p>
        </p:txBody>
      </p:sp>
    </p:spTree>
  </p:cSld>
  <p:clrMapOvr>
    <a:masterClrMapping/>
  </p:clrMapOvr>
  <p:transition advClick="1" spd="fast">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COPY / PASTE PROMPT · BUDGETBUDDY</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8 · Vibe Coding Generation Prompt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82496"/>
            <a:ext cx="6976872" cy="4425696"/>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82496"/>
            <a:ext cx="91440" cy="44256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874519"/>
            <a:ext cx="2157984" cy="201168"/>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GENERATION PROMPT</a:t>
            </a:r>
          </a:p>
        </p:txBody>
      </p:sp>
      <p:sp>
        <p:nvSpPr>
          <p:cNvPr id="10" name="TextBox 9"/>
          <p:cNvSpPr txBox="1"/>
          <p:nvPr/>
        </p:nvSpPr>
        <p:spPr>
          <a:xfrm>
            <a:off x="941832" y="2212848"/>
            <a:ext cx="6364224" cy="3502152"/>
          </a:xfrm>
          <a:prstGeom prst="rect">
            <a:avLst/>
          </a:prstGeom>
          <a:noFill/>
        </p:spPr>
        <p:txBody>
          <a:bodyPr wrap="square" anchor="t" lIns="18288" rIns="18288" tIns="18288" bIns="18288">
            <a:spAutoFit/>
          </a:bodyPr>
          <a:lstStyle/>
          <a:p>
            <a:pPr algn="l">
              <a:spcAft>
                <a:spcPts val="0"/>
              </a:spcAft>
            </a:pPr>
            <a:r>
              <a:rPr sz="1150" b="0">
                <a:solidFill>
                  <a:srgbClr val="D2E4FF"/>
                </a:solidFill>
                <a:latin typeface="Courier New"/>
              </a:rPr>
              <a:t>Generate the layered validation matrix. Use CTest for portable code, Swift Testing for Swift unit/integration behaviour and XCTest with XCUIAutomation for the visible journey. Map REQ-001..REQ-005 to exact test names, commands, thresholds and evidence. Reject screenshot-only proof or PASS with an empty path. Output complete matrix, scorecard and test files.</a:t>
            </a:r>
          </a:p>
        </p:txBody>
      </p:sp>
      <p:sp>
        <p:nvSpPr>
          <p:cNvPr id="11" name="Rounded Rectangle 10"/>
          <p:cNvSpPr/>
          <p:nvPr/>
        </p:nvSpPr>
        <p:spPr>
          <a:xfrm>
            <a:off x="7909560" y="1682496"/>
            <a:ext cx="3584448" cy="120700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74736" y="1892807"/>
            <a:ext cx="2926080" cy="182880"/>
          </a:xfrm>
          <a:prstGeom prst="rect">
            <a:avLst/>
          </a:prstGeom>
          <a:noFill/>
        </p:spPr>
        <p:txBody>
          <a:bodyPr wrap="square" anchor="t" lIns="18288" rIns="18288" tIns="18288" bIns="18288">
            <a:spAutoFit/>
          </a:bodyPr>
          <a:lstStyle/>
          <a:p>
            <a:pPr algn="l">
              <a:spcAft>
                <a:spcPts val="0"/>
              </a:spcAft>
            </a:pPr>
            <a:r>
              <a:rPr sz="900" b="1">
                <a:solidFill>
                  <a:srgbClr val="1F6FEB"/>
                </a:solidFill>
                <a:latin typeface="Arial"/>
              </a:rPr>
              <a:t>PROTECTED FILE SCOPE</a:t>
            </a:r>
          </a:p>
        </p:txBody>
      </p:sp>
      <p:sp>
        <p:nvSpPr>
          <p:cNvPr id="13" name="TextBox 12"/>
          <p:cNvSpPr txBox="1"/>
          <p:nvPr/>
        </p:nvSpPr>
        <p:spPr>
          <a:xfrm>
            <a:off x="8174736" y="2212848"/>
            <a:ext cx="2926080" cy="621792"/>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test-matrix.csv; scorecard.json; Swift Testing test files; BudgetBuddyUITests.swift; evidence logs</a:t>
            </a:r>
          </a:p>
        </p:txBody>
      </p:sp>
      <p:sp>
        <p:nvSpPr>
          <p:cNvPr id="14" name="Rounded Rectangle 13"/>
          <p:cNvSpPr/>
          <p:nvPr/>
        </p:nvSpPr>
        <p:spPr>
          <a:xfrm>
            <a:off x="7909560" y="3136392"/>
            <a:ext cx="3584448" cy="1435608"/>
          </a:xfrm>
          <a:prstGeom prst="roundRect">
            <a:avLst>
              <a:gd name="adj" fmla="val 8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4736" y="3355848"/>
            <a:ext cx="2057400" cy="182880"/>
          </a:xfrm>
          <a:prstGeom prst="rect">
            <a:avLst/>
          </a:prstGeom>
          <a:noFill/>
        </p:spPr>
        <p:txBody>
          <a:bodyPr wrap="square" anchor="t" lIns="18288" rIns="18288" tIns="18288" bIns="18288">
            <a:spAutoFit/>
          </a:bodyPr>
          <a:lstStyle/>
          <a:p>
            <a:pPr algn="l">
              <a:spcAft>
                <a:spcPts val="0"/>
              </a:spcAft>
            </a:pPr>
            <a:r>
              <a:rPr sz="900" b="1">
                <a:solidFill>
                  <a:srgbClr val="10B981"/>
                </a:solidFill>
                <a:latin typeface="Arial"/>
              </a:rPr>
              <a:t>EXPECTED GREEN</a:t>
            </a:r>
          </a:p>
        </p:txBody>
      </p:sp>
      <p:sp>
        <p:nvSpPr>
          <p:cNvPr id="16" name="TextBox 15"/>
          <p:cNvSpPr txBox="1"/>
          <p:nvPr/>
        </p:nvSpPr>
        <p:spPr>
          <a:xfrm>
            <a:off x="8174736" y="3666744"/>
            <a:ext cx="2926080" cy="621792"/>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Every requirement has domain, bridge/integration, or UI evidence as appropriate; all mandatory thresholds resolve to reproducible passing commands.</a:t>
            </a:r>
          </a:p>
        </p:txBody>
      </p:sp>
      <p:sp>
        <p:nvSpPr>
          <p:cNvPr id="17" name="Rounded Rectangle 16"/>
          <p:cNvSpPr/>
          <p:nvPr/>
        </p:nvSpPr>
        <p:spPr>
          <a:xfrm>
            <a:off x="7909560" y="4828032"/>
            <a:ext cx="3584448" cy="1261872"/>
          </a:xfrm>
          <a:prstGeom prst="roundRect">
            <a:avLst>
              <a:gd name="adj" fmla="val 8000"/>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4736" y="5029200"/>
            <a:ext cx="2057400" cy="182880"/>
          </a:xfrm>
          <a:prstGeom prst="rect">
            <a:avLst/>
          </a:prstGeom>
          <a:noFill/>
        </p:spPr>
        <p:txBody>
          <a:bodyPr wrap="square" anchor="t" lIns="18288" rIns="18288" tIns="18288" bIns="18288">
            <a:spAutoFit/>
          </a:bodyPr>
          <a:lstStyle/>
          <a:p>
            <a:pPr algn="l">
              <a:spcAft>
                <a:spcPts val="0"/>
              </a:spcAft>
            </a:pPr>
            <a:r>
              <a:rPr sz="900" b="1">
                <a:solidFill>
                  <a:srgbClr val="C2413A"/>
                </a:solidFill>
                <a:latin typeface="Arial"/>
              </a:rPr>
              <a:t>REVIEW / REPAIR</a:t>
            </a:r>
          </a:p>
        </p:txBody>
      </p:sp>
      <p:sp>
        <p:nvSpPr>
          <p:cNvPr id="19" name="TextBox 18"/>
          <p:cNvSpPr txBox="1"/>
          <p:nvPr/>
        </p:nvSpPr>
        <p:spPr>
          <a:xfrm>
            <a:off x="8174736" y="5330952"/>
            <a:ext cx="2926080" cy="493776"/>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Use the paired review prompt in the Activity guide. Fix the first causal failure, preserve tests, then rerun focused and full checks.</a:t>
            </a:r>
          </a:p>
        </p:txBody>
      </p:sp>
      <p:sp>
        <p:nvSpPr>
          <p:cNvPr id="20" name="TextBox 19"/>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1" name="TextBox 20"/>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203</a:t>
            </a:r>
          </a:p>
        </p:txBody>
      </p:sp>
    </p:spTree>
  </p:cSld>
  <p:clrMapOvr>
    <a:masterClrMapping/>
  </p:clrMapOvr>
  <p:transition advClick="1" spd="fast">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VERIFY BEFORE MOVING ON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8 · Evidence Contract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Artifact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Test matrix, execution evidence and release scorecard</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K4, A4</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Acceptance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Every release-gate score links to reproducible evidence and no criterion relies only on a visual demo.</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K4, A4</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Failure signal</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If a UI failure is ambiguous, reproduce it one layer lower before changing the architecture.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K4, A4</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Cleanup</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Remove disposable run artifacts; retain the scorecard and final evidence links.</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K4, A4</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Evidence is a retrievable artifact or test result, not a statement that the activity was completed.</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204</a:t>
            </a:r>
          </a:p>
        </p:txBody>
      </p:sp>
    </p:spTree>
  </p:cSld>
  <p:clrMapOvr>
    <a:masterClrMapping/>
  </p:clrMapOvr>
  <p:transition advClick="1" spd="fast">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TEST IT</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8 · Verification Gate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52760" cy="1828800"/>
          </a:xfrm>
          <a:prstGeom prst="roundRect">
            <a:avLst>
              <a:gd name="adj" fmla="val 8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057400"/>
            <a:ext cx="1828800" cy="237744"/>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PASS WHEN</a:t>
            </a:r>
          </a:p>
        </p:txBody>
      </p:sp>
      <p:sp>
        <p:nvSpPr>
          <p:cNvPr id="9" name="TextBox 8"/>
          <p:cNvSpPr txBox="1"/>
          <p:nvPr/>
        </p:nvSpPr>
        <p:spPr>
          <a:xfrm>
            <a:off x="1078992" y="2542032"/>
            <a:ext cx="9646920" cy="566928"/>
          </a:xfrm>
          <a:prstGeom prst="rect">
            <a:avLst/>
          </a:prstGeom>
          <a:noFill/>
        </p:spPr>
        <p:txBody>
          <a:bodyPr wrap="square" anchor="ctr" lIns="18288" rIns="18288" tIns="18288" bIns="18288">
            <a:spAutoFit/>
          </a:bodyPr>
          <a:lstStyle/>
          <a:p>
            <a:pPr algn="l">
              <a:spcAft>
                <a:spcPts val="0"/>
              </a:spcAft>
            </a:pPr>
            <a:r>
              <a:rPr sz="2000" b="1">
                <a:solidFill>
                  <a:srgbClr val="161B26"/>
                </a:solidFill>
                <a:latin typeface="Arial"/>
              </a:rPr>
              <a:t>Every release-gate score links to reproducible evidence and no criterion relies only on a visual demo.</a:t>
            </a:r>
          </a:p>
        </p:txBody>
      </p:sp>
      <p:sp>
        <p:nvSpPr>
          <p:cNvPr id="10" name="Rounded Rectangle 9"/>
          <p:cNvSpPr/>
          <p:nvPr/>
        </p:nvSpPr>
        <p:spPr>
          <a:xfrm>
            <a:off x="749808" y="3913632"/>
            <a:ext cx="5129784" cy="1298448"/>
          </a:xfrm>
          <a:prstGeom prst="roundRect">
            <a:avLst>
              <a:gd name="adj" fmla="val 8000"/>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151376"/>
            <a:ext cx="1645920" cy="219456"/>
          </a:xfrm>
          <a:prstGeom prst="rect">
            <a:avLst/>
          </a:prstGeom>
          <a:noFill/>
        </p:spPr>
        <p:txBody>
          <a:bodyPr wrap="square" anchor="t" lIns="18288" rIns="18288" tIns="18288" bIns="18288">
            <a:spAutoFit/>
          </a:bodyPr>
          <a:lstStyle/>
          <a:p>
            <a:pPr algn="l">
              <a:spcAft>
                <a:spcPts val="0"/>
              </a:spcAft>
            </a:pPr>
            <a:r>
              <a:rPr sz="1100" b="1">
                <a:solidFill>
                  <a:srgbClr val="C2413A"/>
                </a:solidFill>
                <a:latin typeface="Arial"/>
              </a:rPr>
              <a:t>IF IT FAILS</a:t>
            </a:r>
          </a:p>
        </p:txBody>
      </p:sp>
      <p:sp>
        <p:nvSpPr>
          <p:cNvPr id="12" name="TextBox 11"/>
          <p:cNvSpPr txBox="1"/>
          <p:nvPr/>
        </p:nvSpPr>
        <p:spPr>
          <a:xfrm>
            <a:off x="1033271" y="4517136"/>
            <a:ext cx="4498848" cy="475488"/>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If a UI failure is ambiguous, reproduce it one layer lower before changing the architecture.</a:t>
            </a:r>
          </a:p>
        </p:txBody>
      </p:sp>
      <p:sp>
        <p:nvSpPr>
          <p:cNvPr id="13" name="Rounded Rectangle 12"/>
          <p:cNvSpPr/>
          <p:nvPr/>
        </p:nvSpPr>
        <p:spPr>
          <a:xfrm>
            <a:off x="6181344" y="3913632"/>
            <a:ext cx="5221224" cy="12984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4151376"/>
            <a:ext cx="2194560"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LEAVE THE WORKSPACE</a:t>
            </a:r>
          </a:p>
        </p:txBody>
      </p:sp>
      <p:sp>
        <p:nvSpPr>
          <p:cNvPr id="15" name="TextBox 14"/>
          <p:cNvSpPr txBox="1"/>
          <p:nvPr/>
        </p:nvSpPr>
        <p:spPr>
          <a:xfrm>
            <a:off x="6464808" y="4517136"/>
            <a:ext cx="4590288" cy="475488"/>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Remove disposable run artifacts; retain the scorecard and final evidence links.</a:t>
            </a:r>
          </a:p>
        </p:txBody>
      </p:sp>
      <p:sp>
        <p:nvSpPr>
          <p:cNvPr id="16" name="TextBox 15"/>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7" name="TextBox 16"/>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18" name="TextBox 17"/>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205</a:t>
            </a:r>
          </a:p>
        </p:txBody>
      </p:sp>
    </p:spTree>
  </p:cSld>
  <p:clrMapOvr>
    <a:masterClrMapping/>
  </p:clrMapOvr>
  <p:transition advClick="1" spd="fast">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RETRIEVAL PRACTICE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Topic 4 · Review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Explain</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LO4: Examine the interoperability and functionality of C++ software components.</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LO4 · K4 · A4</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Demonstrate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Show the Activity evidence that operationalises the outcome.</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LO4 · K4 · A4</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Diagnose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Name the failure signal and the layer where it originates.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LO4 · K4 · A4</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Trace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Connect LO4 · K4 · A4 to the assessment and evidence pack.</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LO4 · K4 · A4</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Do not advance on confidence alone; point to the artifact or test result that supports the answer.</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206</a:t>
            </a:r>
          </a:p>
        </p:txBody>
      </p:sp>
    </p:spTree>
  </p:cSld>
  <p:clrMapOvr>
    <a:masterClrMapping/>
  </p:clrMapOvr>
  <p:transition advClick="1" spd="fast">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737360"/>
            <a:ext cx="10835640" cy="329184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28016" cy="3291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48840"/>
            <a:ext cx="7680960" cy="310896"/>
          </a:xfrm>
          <a:prstGeom prst="rect">
            <a:avLst/>
          </a:prstGeom>
          <a:noFill/>
        </p:spPr>
        <p:txBody>
          <a:bodyPr wrap="square" anchor="t" lIns="18288" rIns="18288" tIns="18288" bIns="18288">
            <a:spAutoFit/>
          </a:bodyPr>
          <a:lstStyle/>
          <a:p>
            <a:pPr algn="l">
              <a:spcAft>
                <a:spcPts val="0"/>
              </a:spcAft>
            </a:pPr>
            <a:r>
              <a:rPr sz="1500" b="1">
                <a:solidFill>
                  <a:srgbClr val="1F6FEB"/>
                </a:solidFill>
                <a:latin typeface="Arial"/>
              </a:rPr>
              <a:t>TOPIC 5 · LO5 · K5 · A5</a:t>
            </a:r>
          </a:p>
        </p:txBody>
      </p:sp>
      <p:sp>
        <p:nvSpPr>
          <p:cNvPr id="6" name="TextBox 5"/>
          <p:cNvSpPr txBox="1"/>
          <p:nvPr/>
        </p:nvSpPr>
        <p:spPr>
          <a:xfrm>
            <a:off x="1280160" y="2606040"/>
            <a:ext cx="8732520" cy="932688"/>
          </a:xfrm>
          <a:prstGeom prst="rect">
            <a:avLst/>
          </a:prstGeom>
          <a:noFill/>
        </p:spPr>
        <p:txBody>
          <a:bodyPr wrap="square" anchor="ctr" lIns="18288" rIns="18288" tIns="18288" bIns="18288">
            <a:spAutoFit/>
          </a:bodyPr>
          <a:lstStyle/>
          <a:p>
            <a:pPr algn="l">
              <a:spcAft>
                <a:spcPts val="0"/>
              </a:spcAft>
            </a:pPr>
            <a:r>
              <a:rPr sz="3400" b="1">
                <a:solidFill>
                  <a:srgbClr val="161B26"/>
                </a:solidFill>
                <a:latin typeface="Arial"/>
              </a:rPr>
              <a:t>Architecture Evidence, Documentation and Deployment</a:t>
            </a:r>
          </a:p>
        </p:txBody>
      </p:sp>
      <p:sp>
        <p:nvSpPr>
          <p:cNvPr id="7" name="TextBox 6"/>
          <p:cNvSpPr txBox="1"/>
          <p:nvPr/>
        </p:nvSpPr>
        <p:spPr>
          <a:xfrm>
            <a:off x="1280160" y="3767328"/>
            <a:ext cx="8732520" cy="658368"/>
          </a:xfrm>
          <a:prstGeom prst="rect">
            <a:avLst/>
          </a:prstGeom>
          <a:noFill/>
        </p:spPr>
        <p:txBody>
          <a:bodyPr wrap="square" anchor="t" lIns="18288" rIns="18288" tIns="18288" bIns="18288">
            <a:spAutoFit/>
          </a:bodyPr>
          <a:lstStyle/>
          <a:p>
            <a:pPr algn="l">
              <a:spcAft>
                <a:spcPts val="0"/>
              </a:spcAft>
            </a:pPr>
            <a:r>
              <a:rPr sz="1400" b="0">
                <a:solidFill>
                  <a:srgbClr val="5B6372"/>
                </a:solidFill>
                <a:latin typeface="Arial"/>
              </a:rPr>
              <a:t>LO5: Generate C++ design documentation aligned with user specifications.</a:t>
            </a:r>
          </a:p>
        </p:txBody>
      </p:sp>
      <p:sp>
        <p:nvSpPr>
          <p:cNvPr id="8" name="TextBox 7"/>
          <p:cNvSpPr txBox="1"/>
          <p:nvPr/>
        </p:nvSpPr>
        <p:spPr>
          <a:xfrm>
            <a:off x="9674352" y="658368"/>
            <a:ext cx="1417320" cy="658368"/>
          </a:xfrm>
          <a:prstGeom prst="rect">
            <a:avLst/>
          </a:prstGeom>
          <a:noFill/>
        </p:spPr>
        <p:txBody>
          <a:bodyPr wrap="square" anchor="t" lIns="18288" rIns="18288" tIns="18288" bIns="18288">
            <a:spAutoFit/>
          </a:bodyPr>
          <a:lstStyle/>
          <a:p>
            <a:pPr algn="r">
              <a:spcAft>
                <a:spcPts val="0"/>
              </a:spcAft>
            </a:pPr>
            <a:r>
              <a:rPr sz="5400" b="1">
                <a:solidFill>
                  <a:srgbClr val="D7E0EA"/>
                </a:solidFill>
                <a:latin typeface="Arial"/>
              </a:rPr>
              <a:t>05</a:t>
            </a:r>
          </a:p>
        </p:txBody>
      </p:sp>
      <p:sp>
        <p:nvSpPr>
          <p:cNvPr id="9" name="TextBox 8"/>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0" name="TextBox 9"/>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11" name="TextBox 10"/>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207</a:t>
            </a:r>
          </a:p>
        </p:txBody>
      </p:sp>
    </p:spTree>
  </p:cSld>
  <p:clrMapOvr>
    <a:masterClrMapping/>
  </p:clrMapOvr>
  <p:transition advClick="1" spd="med">
    <p:push dir="l"/>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5 · LO5 · K5 · A5</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C4 views explain different questions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Context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people</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DOC-C4</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Container</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deployables</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DOC-C4</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Component</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responsibilities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DOC-C4</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Code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interfaces</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DOC-C4</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Use layered diagrams and state the audience and decision for each.</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208</a:t>
            </a:r>
          </a:p>
        </p:txBody>
      </p:sp>
    </p:spTree>
  </p:cSld>
  <p:clrMapOvr>
    <a:masterClrMapping/>
  </p:clrMapOvr>
  <p:transition advClick="1" spd="fast">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5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C4 views explain different questions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Context</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Container</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Component</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Code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 single dense diagram mixes business actors with classes. Control: Use layered diagrams and state the audience and decision for each.</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209</a:t>
            </a:r>
          </a:p>
        </p:txBody>
      </p:sp>
    </p:spTree>
  </p:cSld>
  <p:clrMapOvr>
    <a:masterClrMapping/>
  </p:clrMapOvr>
  <p:transition advClick="1" spd="fast">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C4 views explain different questions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Context -&gt; iOS App -&gt; SwiftUI | Objective-C++ | C++ Core</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people</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deployables</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responsibilities</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interfaces</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Stakeholder question answered at correct zoom</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210</a:t>
            </a:r>
          </a:p>
        </p:txBody>
      </p:sp>
    </p:spTree>
  </p:cSld>
  <p:clrMapOvr>
    <a:masterClrMapping/>
  </p:clrMapOvr>
  <p:transition advClick="1" spd="fast">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5 · LO5 · K5 · A5</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ADRs preserve design reasoning</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Name decision</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status</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DOC-ADR</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Record context</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context</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DOC-ADR</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Compare options</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decision</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DOC-ADR</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State consequences</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consequence</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DOC-ADR</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Write a short ADR for boundaries, persistence and AI usage.</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211</a:t>
            </a:r>
          </a:p>
        </p:txBody>
      </p:sp>
    </p:spTree>
  </p:cSld>
  <p:clrMapOvr>
    <a:masterClrMapping/>
  </p:clrMapOvr>
  <p:transition advClick="1" spd="fast">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5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ADRs preserve design reasoning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Name decision</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Record context</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Compare options</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State consequences</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Documentation states what exists but not why alternatives were rejected. Control: Write a short ADR for boundaries, persistence and AI usage.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212</a:t>
            </a:r>
          </a:p>
        </p:txBody>
      </p:sp>
    </p:spTree>
  </p:cSld>
  <p:clrMapOvr>
    <a:masterClrMapping/>
  </p:clrMapOvr>
  <p:transition advClick="1" spd="fast">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ADRs preserve design reasoning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 ADR-002: Use Objective-C++ as the sole C++ translation boundary</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status</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context</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decision</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consequence</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Material choices have retrievable rationale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213</a:t>
            </a:r>
          </a:p>
        </p:txBody>
      </p:sp>
    </p:spTree>
  </p:cSld>
  <p:clrMapOvr>
    <a:masterClrMapping/>
  </p:clrMapOvr>
  <p:transition advClick="1" spd="fast">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5 · LO5 · K5 · A5</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Traceability closes the specification loop</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Assign IDs</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REQ</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TSC-A5</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Link design</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component</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TSC-A5</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Link test</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test</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TSC-A5</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Report status</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evidence</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TSC-A5</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Maintain a bidirectional matrix from requirement to implementation and test.</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214</a:t>
            </a:r>
          </a:p>
        </p:txBody>
      </p:sp>
    </p:spTree>
  </p:cSld>
  <p:clrMapOvr>
    <a:masterClrMapping/>
  </p:clrMapOvr>
  <p:transition advClick="1" spd="fast">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5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Traceability closes the specification loop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Assign IDs</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Link design</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Link test</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Report status</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 feature is marked done without proving the approved requirement. Control: Maintain a bidirectional matrix from requirement to implementation and test.</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215</a:t>
            </a:r>
          </a:p>
        </p:txBody>
      </p:sp>
    </p:spTree>
  </p:cSld>
  <p:clrMapOvr>
    <a:masterClrMapping/>
  </p:clrMapOvr>
  <p:transition advClick="1" spd="fast">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Traceability closes the specification loop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REQ-004 | BudgetPolicy | BudgetPolicyTests/RejectsNegative | PASS</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REQ</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component</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test</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evidence</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Requirements with design and passing evidence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216</a:t>
            </a:r>
          </a:p>
        </p:txBody>
      </p:sp>
    </p:spTree>
  </p:cSld>
  <p:clrMapOvr>
    <a:masterClrMapping/>
  </p:clrMapOvr>
  <p:transition advClick="1" spd="fast">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5 · LO5 · K5 · A5</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API documentation states contracts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Describe purpose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precondition</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DOC-API</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Name parameters</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unit</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DOC-API</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Define errors</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ownership</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DOC-API</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Give example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error</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DOC-API</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Document invariants, units, lifetime and failure semantics.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217</a:t>
            </a:r>
          </a:p>
        </p:txBody>
      </p:sp>
    </p:spTree>
  </p:cSld>
  <p:clrMapOvr>
    <a:masterClrMapping/>
  </p:clrMapOvr>
  <p:transition advClick="1" spd="fast">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5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API documentation states contracts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Describe purpose</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Name parameters</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Define errors</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Give example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Generated comments repeat the method name and omit units or ownership. Control: Document invariants, units, lifetime and failure semantics.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218</a:t>
            </a:r>
          </a:p>
        </p:txBody>
      </p:sp>
    </p:spTree>
  </p:cSld>
  <p:clrMapOvr>
    <a:masterClrMapping/>
  </p:clrMapOvr>
  <p:transition advClick="1" spd="fast">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API documentation states contracts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 Evaluates a draft. Amount is cents; returns typed error; no mutation.</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precondition</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unit</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ownership</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error</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Consumers implement without reading source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219</a:t>
            </a:r>
          </a:p>
        </p:txBody>
      </p:sp>
    </p:spTree>
  </p:cSld>
  <p:clrMapOvr>
    <a:masterClrMapping/>
  </p:clrMapOvr>
  <p:transition advClick="1" spd="fast">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5 · LO5 · K5 · A5</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Architecture diagrams must match code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Generate inventory</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target</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DOC-VERIFY</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Compare dependencies</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module</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DOC-VERIFY</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Update diagram</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edge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DOC-VERIFY</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Review diff</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owner</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DOC-VERIFY</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Validate diagrams against target membership and imports before release.</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220</a:t>
            </a:r>
          </a:p>
        </p:txBody>
      </p:sp>
    </p:spTree>
  </p:cSld>
  <p:clrMapOvr>
    <a:masterClrMapping/>
  </p:clrMapOvr>
  <p:transition advClick="1" spd="fast">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5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Architecture diagrams must match code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Generate inventory</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Compare dependencies</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Update diagram</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Review diff</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 polished diagram describes an architecture the build no longer uses. Control: Validate diagrams against target membership and imports before release.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221</a:t>
            </a:r>
          </a:p>
        </p:txBody>
      </p:sp>
    </p:spTree>
  </p:cSld>
  <p:clrMapOvr>
    <a:masterClrMapping/>
  </p:clrMapOvr>
  <p:transition advClick="1" spd="fast">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Architecture diagrams must match code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SwiftUI -&gt; BudgetBridge -&gt; DomainCore; no reverse dependency</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target</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module</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edge</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owner</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Zero undocumented or impossible dependency arrows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222</a:t>
            </a:r>
          </a:p>
        </p:txBody>
      </p:sp>
    </p:spTree>
  </p:cSld>
  <p:clrMapOvr>
    <a:masterClrMapping/>
  </p:clrMapOvr>
  <p:transition advClick="1" spd="fast">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5 · LO5 · K5 · A5</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Documentation is a tested deliverable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Build docs</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README</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DOC-QA</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Check links</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links</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DOC-QA</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Run examples</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commands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DOC-QA</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Review audience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roles</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DOC-QA</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Exercise documentation in a clean environment and capture the transcript.</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223</a:t>
            </a:r>
          </a:p>
        </p:txBody>
      </p:sp>
    </p:spTree>
  </p:cSld>
  <p:clrMapOvr>
    <a:masterClrMapping/>
  </p:clrMapOvr>
  <p:transition advClick="1" spd="fast">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5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Documentation is a tested deliverable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Build docs</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Check links</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Run examples</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Review audience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Setup steps depend on an unstated local path or secret. Control: Exercise documentation in a clean environment and capture the transcript.</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224</a:t>
            </a:r>
          </a:p>
        </p:txBody>
      </p:sp>
    </p:spTree>
  </p:cSld>
  <p:clrMapOvr>
    <a:masterClrMapping/>
  </p:clrMapOvr>
  <p:transition advClick="1" spd="fast">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Documentation is a tested deliverable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cmake -S DomainCore -B build &amp;&amp; cmake --build build &amp;&amp; ctest --test-dir build</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README</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links</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commands</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roles</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New developer reaches a passing test from clean checkout</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225</a:t>
            </a:r>
          </a:p>
        </p:txBody>
      </p:sp>
    </p:spTree>
  </p:cSld>
  <p:clrMapOvr>
    <a:masterClrMapping/>
  </p:clrMapOvr>
  <p:transition advClick="1" spd="fast">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5 · LO5 · K5 · A5</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Deployment separates signing from design</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Choose identity</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bundle id</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IOS-DEPLOY</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Create archive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certificate</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IOS-DEPLOY</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Validate build</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archive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IOS-DEPLOY</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Prepare release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metadata</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IOS-DEPLOY</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Treat signing, archive validation and store submission as separate evidence gates.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226</a:t>
            </a:r>
          </a:p>
        </p:txBody>
      </p:sp>
    </p:spTree>
  </p:cSld>
  <p:clrMapOvr>
    <a:masterClrMapping/>
  </p:clrMapOvr>
  <p:transition advClick="1" spd="fast">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5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Deployment separates signing from design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Choose identity</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Create archive</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Validate build</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Prepare release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 local simulator run is described as App Store readiness. Control: Treat signing, archive validation and store submission as separate evidence gates.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227</a:t>
            </a:r>
          </a:p>
        </p:txBody>
      </p:sp>
    </p:spTree>
  </p:cSld>
  <p:clrMapOvr>
    <a:masterClrMapping/>
  </p:clrMapOvr>
  <p:transition advClick="1" spd="fast">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Deployment separates signing from design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xcodebuild -scheme BudgetBridgeApp -configuration Release archive</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bundle id</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certificate</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archive</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metadata</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Validated archive with reproducible design evidence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228</a:t>
            </a:r>
          </a:p>
        </p:txBody>
      </p:sp>
    </p:spTree>
  </p:cSld>
  <p:clrMapOvr>
    <a:masterClrMapping/>
  </p:clrMapOvr>
  <p:transition advClick="1" spd="fast">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5 · LO5 · K5 · A5</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Privacy manifests document data use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Inventory APIs</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API</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IOS-PRIVACY</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Classify data</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data</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IOS-PRIVACY</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Declare reasons</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purpose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IOS-PRIVACY</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Verify package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manifest</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IOS-PRIVACY</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Re-run privacy inventory whenever dependencies or telemetry change.</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229</a:t>
            </a:r>
          </a:p>
        </p:txBody>
      </p:sp>
    </p:spTree>
  </p:cSld>
  <p:clrMapOvr>
    <a:masterClrMapping/>
  </p:clrMapOvr>
  <p:transition advClick="1" spd="fast">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5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Privacy manifests document data use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Inventory APIs</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Classify data</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Declare reasons</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Verify package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An AI-added SDK expands collection without documentation review. Control: Re-run privacy inventory whenever dependencies or telemetry change.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230</a:t>
            </a:r>
          </a:p>
        </p:txBody>
      </p:sp>
    </p:spTree>
  </p:cSld>
  <p:clrMapOvr>
    <a:masterClrMapping/>
  </p:clrMapOvr>
  <p:transition advClick="1" spd="fast">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Privacy manifests document data use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PrivacyInfo.xcprivacy // reviewed against linked frameworks</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API</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data</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purpose</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manifest</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Declared use matches code and third-party packages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231</a:t>
            </a:r>
          </a:p>
        </p:txBody>
      </p:sp>
    </p:spTree>
  </p:cSld>
  <p:clrMapOvr>
    <a:masterClrMapping/>
  </p:clrMapOvr>
  <p:transition advClick="1" spd="fast">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5 · LO5 · K5 · A5</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AI review needs accountable evidence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Request review</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prompt</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AI-REVIEW</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Verify claim</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evidence</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AI-REVIEW</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Classify finding</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severity</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AI-REVIEW</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Resolve or accept</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owner</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AI-REVIEW</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Require code locus and a repeatable test for material findings.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232</a:t>
            </a:r>
          </a:p>
        </p:txBody>
      </p:sp>
    </p:spTree>
  </p:cSld>
  <p:clrMapOvr>
    <a:masterClrMapping/>
  </p:clrMapOvr>
  <p:transition advClick="1" spd="fast">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5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AI review needs accountable evidence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Request review</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Verify claim</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Classify finding</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Resolve or accept</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AI review comments are copied into approval without reproduction. Control: Require code locus and a repeatable test for material findings.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233</a:t>
            </a:r>
          </a:p>
        </p:txBody>
      </p:sp>
    </p:spTree>
  </p:cSld>
  <p:clrMapOvr>
    <a:masterClrMapping/>
  </p:clrMapOvr>
  <p:transition advClick="1" spd="fast">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AI review needs accountable evidence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Finding: cents overflow. Evidence: boundary test with Int.max. Owner: developer.</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prompt</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evidence</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severity</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owner</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Accepted findings have owner and rationale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234</a:t>
            </a:r>
          </a:p>
        </p:txBody>
      </p:sp>
    </p:spTree>
  </p:cSld>
  <p:clrMapOvr>
    <a:masterClrMapping/>
  </p:clrMapOvr>
  <p:transition advClick="1" spd="fast">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5 · LO5 · K5 · A5</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Release notes map value to change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Name capability</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feature</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DOC-RELEASE</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State user impact</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impact</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DOC-RELEASE</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List risk</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known issue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DOC-RELEASE</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Link evidence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verification</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DOC-RELEASE</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Write outcome-oriented notes and disclose known limitations.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235</a:t>
            </a:r>
          </a:p>
        </p:txBody>
      </p:sp>
    </p:spTree>
  </p:cSld>
  <p:clrMapOvr>
    <a:masterClrMapping/>
  </p:clrMapOvr>
  <p:transition advClick="1" spd="fast">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5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Release notes map value to change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Name capability</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State user impact</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List risk</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Link evidence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Release notes list commits but not observable user outcomes. Control: Write outcome-oriented notes and disclose known limitations.</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236</a:t>
            </a:r>
          </a:p>
        </p:txBody>
      </p:sp>
    </p:spTree>
  </p:cSld>
  <p:clrMapOvr>
    <a:masterClrMapping/>
  </p:clrMapOvr>
  <p:transition advClick="1" spd="fast">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Release notes map value to change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Added exact-cent budgeting; validated restart persistence and VoiceOver flow.</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feature</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impact</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known issue</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verification</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Every release claim points to a checked artifact</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237</a:t>
            </a:r>
          </a:p>
        </p:txBody>
      </p:sp>
    </p:spTree>
  </p:cSld>
  <p:clrMapOvr>
    <a:masterClrMapping/>
  </p:clrMapOvr>
  <p:transition advClick="1" spd="fast">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TOPIC 5 · LO5 · K5 · A5</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The evidence pack supports handover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Index artifacts</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design</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TSC-K5</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Record versions</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tests</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TSC-K5</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Assign owners</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deployment</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TSC-K5</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Set review date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operations</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TSC-K5</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Package requirements, design, tests, risks and deployment evidence with provenance.</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238</a:t>
            </a:r>
          </a:p>
        </p:txBody>
      </p:sp>
    </p:spTree>
  </p:cSld>
  <p:clrMapOvr>
    <a:masterClrMapping/>
  </p:clrMapOvr>
  <p:transition advClick="1" spd="fast">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TOPIC 5 · PROCESS</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The evidence pack supports handover · Mechanism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Index artifacts</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Record versions</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Assign owners</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Set review date</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Failure mode: Evidence is scattered across local screenshots and chat history. Control: Package requirements, design, tests, risks and deployment evidence with provenance.</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239</a:t>
            </a:r>
          </a:p>
        </p:txBody>
      </p:sp>
    </p:spTree>
  </p:cSld>
  <p:clrMapOvr>
    <a:masterClrMapping/>
  </p:clrMapOvr>
  <p:transition advClick="1" spd="fast">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WORKED EXAMPLE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The evidence pack supports handover · Technical Anchor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537960" cy="1920240"/>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91440" cy="1920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011680"/>
            <a:ext cx="5943600" cy="1508760"/>
          </a:xfrm>
          <a:prstGeom prst="rect">
            <a:avLst/>
          </a:prstGeom>
          <a:noFill/>
        </p:spPr>
        <p:txBody>
          <a:bodyPr wrap="square" anchor="t" lIns="18288" rIns="18288" tIns="18288" bIns="18288">
            <a:spAutoFit/>
          </a:bodyPr>
          <a:lstStyle/>
          <a:p>
            <a:pPr algn="l">
              <a:spcAft>
                <a:spcPts val="0"/>
              </a:spcAft>
            </a:pPr>
            <a:r>
              <a:rPr sz="1400" b="0">
                <a:solidFill>
                  <a:srgbClr val="D2E4FF"/>
                </a:solidFill>
                <a:latin typeface="Courier New"/>
              </a:rPr>
              <a:t>EvidencePack v1.2: requirements, ADRs, tests, validation, release checklist</a:t>
            </a:r>
          </a:p>
        </p:txBody>
      </p:sp>
      <p:sp>
        <p:nvSpPr>
          <p:cNvPr id="10" name="Rounded Rectangle 9"/>
          <p:cNvSpPr/>
          <p:nvPr/>
        </p:nvSpPr>
        <p:spPr>
          <a:xfrm>
            <a:off x="7470648" y="175564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70648" y="175564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99248" y="192024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98424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1</a:t>
            </a:r>
          </a:p>
        </p:txBody>
      </p:sp>
      <p:sp>
        <p:nvSpPr>
          <p:cNvPr id="14" name="TextBox 13"/>
          <p:cNvSpPr txBox="1"/>
          <p:nvPr/>
        </p:nvSpPr>
        <p:spPr>
          <a:xfrm>
            <a:off x="8247888" y="192024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design</a:t>
            </a:r>
          </a:p>
        </p:txBody>
      </p:sp>
      <p:sp>
        <p:nvSpPr>
          <p:cNvPr id="15" name="Rounded Rectangle 14"/>
          <p:cNvSpPr/>
          <p:nvPr/>
        </p:nvSpPr>
        <p:spPr>
          <a:xfrm>
            <a:off x="7470648" y="276148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0648" y="2761488"/>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699248" y="292608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299008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2</a:t>
            </a:r>
          </a:p>
        </p:txBody>
      </p:sp>
      <p:sp>
        <p:nvSpPr>
          <p:cNvPr id="19" name="TextBox 18"/>
          <p:cNvSpPr txBox="1"/>
          <p:nvPr/>
        </p:nvSpPr>
        <p:spPr>
          <a:xfrm>
            <a:off x="8247888" y="292608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tests</a:t>
            </a:r>
          </a:p>
        </p:txBody>
      </p:sp>
      <p:sp>
        <p:nvSpPr>
          <p:cNvPr id="20" name="Rounded Rectangle 19"/>
          <p:cNvSpPr/>
          <p:nvPr/>
        </p:nvSpPr>
        <p:spPr>
          <a:xfrm>
            <a:off x="7470648" y="376732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0648" y="3767328"/>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99248" y="393192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9248" y="399592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3</a:t>
            </a:r>
          </a:p>
        </p:txBody>
      </p:sp>
      <p:sp>
        <p:nvSpPr>
          <p:cNvPr id="24" name="TextBox 23"/>
          <p:cNvSpPr txBox="1"/>
          <p:nvPr/>
        </p:nvSpPr>
        <p:spPr>
          <a:xfrm>
            <a:off x="8247888" y="3931920"/>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deployment</a:t>
            </a:r>
          </a:p>
        </p:txBody>
      </p:sp>
      <p:sp>
        <p:nvSpPr>
          <p:cNvPr id="25" name="Rounded Rectangle 24"/>
          <p:cNvSpPr/>
          <p:nvPr/>
        </p:nvSpPr>
        <p:spPr>
          <a:xfrm>
            <a:off x="7470648" y="4773168"/>
            <a:ext cx="4023360" cy="768096"/>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70648" y="4773168"/>
            <a:ext cx="82296" cy="768096"/>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99248" y="4937759"/>
            <a:ext cx="384048" cy="38404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5001768"/>
            <a:ext cx="384048" cy="182880"/>
          </a:xfrm>
          <a:prstGeom prst="rect">
            <a:avLst/>
          </a:prstGeom>
          <a:noFill/>
        </p:spPr>
        <p:txBody>
          <a:bodyPr wrap="square" anchor="t" lIns="18288" rIns="18288" tIns="18288" bIns="18288">
            <a:spAutoFit/>
          </a:bodyPr>
          <a:lstStyle/>
          <a:p>
            <a:pPr algn="ctr">
              <a:spcAft>
                <a:spcPts val="0"/>
              </a:spcAft>
            </a:pPr>
            <a:r>
              <a:rPr sz="1100" b="1">
                <a:solidFill>
                  <a:srgbClr val="FFFFFF"/>
                </a:solidFill>
                <a:latin typeface="Arial"/>
              </a:rPr>
              <a:t>4</a:t>
            </a:r>
          </a:p>
        </p:txBody>
      </p:sp>
      <p:sp>
        <p:nvSpPr>
          <p:cNvPr id="29" name="TextBox 28"/>
          <p:cNvSpPr txBox="1"/>
          <p:nvPr/>
        </p:nvSpPr>
        <p:spPr>
          <a:xfrm>
            <a:off x="8247888" y="4937759"/>
            <a:ext cx="2971800" cy="365760"/>
          </a:xfrm>
          <a:prstGeom prst="rect">
            <a:avLst/>
          </a:prstGeom>
          <a:noFill/>
        </p:spPr>
        <p:txBody>
          <a:bodyPr wrap="square" anchor="ctr" lIns="18288" rIns="18288" tIns="18288" bIns="18288">
            <a:spAutoFit/>
          </a:bodyPr>
          <a:lstStyle/>
          <a:p>
            <a:pPr algn="l">
              <a:spcAft>
                <a:spcPts val="0"/>
              </a:spcAft>
            </a:pPr>
            <a:r>
              <a:rPr sz="1200" b="1">
                <a:solidFill>
                  <a:srgbClr val="161B26"/>
                </a:solidFill>
                <a:latin typeface="Arial"/>
              </a:rPr>
              <a:t>operations</a:t>
            </a:r>
          </a:p>
        </p:txBody>
      </p:sp>
      <p:sp>
        <p:nvSpPr>
          <p:cNvPr id="30" name="Rounded Rectangle 29"/>
          <p:cNvSpPr/>
          <p:nvPr/>
        </p:nvSpPr>
        <p:spPr>
          <a:xfrm>
            <a:off x="658368" y="5513832"/>
            <a:ext cx="10835640" cy="53035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660136"/>
            <a:ext cx="1609344" cy="164592"/>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EVIDENCE METRIC</a:t>
            </a:r>
          </a:p>
        </p:txBody>
      </p:sp>
      <p:sp>
        <p:nvSpPr>
          <p:cNvPr id="32" name="TextBox 31"/>
          <p:cNvSpPr txBox="1"/>
          <p:nvPr/>
        </p:nvSpPr>
        <p:spPr>
          <a:xfrm>
            <a:off x="2487168" y="5623560"/>
            <a:ext cx="8613648"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A reviewer can reproduce the release decision</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240</a:t>
            </a:r>
          </a:p>
        </p:txBody>
      </p:sp>
    </p:spTree>
  </p:cSld>
  <p:clrMapOvr>
    <a:masterClrMapping/>
  </p:clrMapOvr>
  <p:transition advClick="1" spd="fast">
    <p:fade/>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C77600"/>
                </a:solidFill>
                <a:latin typeface="Arial"/>
              </a:rPr>
              <a:t>TOPIC 5 · NATIVE POWERPOINT CHART</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Topic 5 · Evidence Coverage by Layer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41248" y="1773936"/>
          <a:ext cx="717804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302752" y="1773936"/>
            <a:ext cx="3191256" cy="388620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77072" y="2048256"/>
            <a:ext cx="2651760" cy="228600"/>
          </a:xfrm>
          <a:prstGeom prst="rect">
            <a:avLst/>
          </a:prstGeom>
          <a:noFill/>
        </p:spPr>
        <p:txBody>
          <a:bodyPr wrap="square" anchor="t" lIns="18288" rIns="18288" tIns="18288" bIns="18288">
            <a:spAutoFit/>
          </a:bodyPr>
          <a:lstStyle/>
          <a:p>
            <a:pPr algn="l">
              <a:spcAft>
                <a:spcPts val="0"/>
              </a:spcAft>
            </a:pPr>
            <a:r>
              <a:rPr sz="1100" b="1">
                <a:solidFill>
                  <a:srgbClr val="C77600"/>
                </a:solidFill>
                <a:latin typeface="Arial"/>
              </a:rPr>
              <a:t>WHAT THE DATA SHOWS</a:t>
            </a:r>
          </a:p>
        </p:txBody>
      </p:sp>
      <p:sp>
        <p:nvSpPr>
          <p:cNvPr id="10" name="TextBox 9"/>
          <p:cNvSpPr txBox="1"/>
          <p:nvPr/>
        </p:nvSpPr>
        <p:spPr>
          <a:xfrm>
            <a:off x="8577072" y="2542032"/>
            <a:ext cx="2578608" cy="2231136"/>
          </a:xfrm>
          <a:prstGeom prst="rect">
            <a:avLst/>
          </a:prstGeom>
          <a:noFill/>
        </p:spPr>
        <p:txBody>
          <a:bodyPr wrap="square" anchor="ctr" lIns="18288" rIns="18288" tIns="18288" bIns="18288">
            <a:spAutoFit/>
          </a:bodyPr>
          <a:lstStyle/>
          <a:p>
            <a:pPr algn="l">
              <a:spcAft>
                <a:spcPts val="0"/>
              </a:spcAft>
            </a:pPr>
            <a:r>
              <a:rPr sz="1600" b="1">
                <a:solidFill>
                  <a:srgbClr val="161B26"/>
                </a:solidFill>
                <a:latin typeface="Arial"/>
              </a:rPr>
              <a:t>Coverage should form a connected chain. A polished UI cannot compensate for untested invariants or an undocumented seam.</a:t>
            </a:r>
          </a:p>
        </p:txBody>
      </p:sp>
      <p:sp>
        <p:nvSpPr>
          <p:cNvPr id="11" name="TextBox 10"/>
          <p:cNvSpPr txBox="1"/>
          <p:nvPr/>
        </p:nvSpPr>
        <p:spPr>
          <a:xfrm>
            <a:off x="8577072" y="5010912"/>
            <a:ext cx="2578608" cy="384048"/>
          </a:xfrm>
          <a:prstGeom prst="rect">
            <a:avLst/>
          </a:prstGeom>
          <a:noFill/>
        </p:spPr>
        <p:txBody>
          <a:bodyPr wrap="square" anchor="t" lIns="18288" rIns="18288" tIns="18288" bIns="18288">
            <a:spAutoFit/>
          </a:bodyPr>
          <a:lstStyle/>
          <a:p>
            <a:pPr algn="l">
              <a:spcAft>
                <a:spcPts val="0"/>
              </a:spcAft>
            </a:pPr>
            <a:r>
              <a:rPr sz="1000" b="0">
                <a:solidFill>
                  <a:srgbClr val="5B6372"/>
                </a:solidFill>
                <a:latin typeface="Arial"/>
              </a:rPr>
              <a:t>Editable chart · values are instructional thresholds, not production benchmarks</a:t>
            </a:r>
          </a:p>
        </p:txBody>
      </p:sp>
      <p:sp>
        <p:nvSpPr>
          <p:cNvPr id="12" name="TextBox 1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3" name="TextBox 1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14" name="TextBox 1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241</a:t>
            </a:r>
          </a:p>
        </p:txBody>
      </p:sp>
    </p:spTree>
  </p:cSld>
  <p:clrMapOvr>
    <a:masterClrMapping/>
  </p:clrMapOvr>
  <p:transition advClick="1" spd="fast">
    <p:fade/>
  </p:transition>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HANDS-ON ACTIVITY · 75 MIN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Activity 9: Architecture and Traceability Documentation</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812280" cy="1874519"/>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84248"/>
            <a:ext cx="1554480" cy="219456"/>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CHALLENGE</a:t>
            </a:r>
          </a:p>
        </p:txBody>
      </p:sp>
      <p:sp>
        <p:nvSpPr>
          <p:cNvPr id="9" name="TextBox 8"/>
          <p:cNvSpPr txBox="1"/>
          <p:nvPr/>
        </p:nvSpPr>
        <p:spPr>
          <a:xfrm>
            <a:off x="932688" y="2377440"/>
            <a:ext cx="6254496" cy="804672"/>
          </a:xfrm>
          <a:prstGeom prst="rect">
            <a:avLst/>
          </a:prstGeom>
          <a:noFill/>
        </p:spPr>
        <p:txBody>
          <a:bodyPr wrap="square" anchor="t" lIns="18288" rIns="18288" tIns="18288" bIns="18288">
            <a:spAutoFit/>
          </a:bodyPr>
          <a:lstStyle/>
          <a:p>
            <a:pPr algn="l">
              <a:spcAft>
                <a:spcPts val="0"/>
              </a:spcAft>
            </a:pPr>
            <a:r>
              <a:rPr sz="1700" b="1">
                <a:solidFill>
                  <a:srgbClr val="161B26"/>
                </a:solidFill>
                <a:latin typeface="Arial"/>
              </a:rPr>
              <a:t>Create design documentation that maps user specifications to architecture, interfaces and tests.</a:t>
            </a:r>
          </a:p>
        </p:txBody>
      </p:sp>
      <p:sp>
        <p:nvSpPr>
          <p:cNvPr id="10" name="Rounded Rectangle 9"/>
          <p:cNvSpPr/>
          <p:nvPr/>
        </p:nvSpPr>
        <p:spPr>
          <a:xfrm>
            <a:off x="7744968" y="1737360"/>
            <a:ext cx="3749039" cy="1874519"/>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19288" y="1984248"/>
            <a:ext cx="2560320" cy="219456"/>
          </a:xfrm>
          <a:prstGeom prst="rect">
            <a:avLst/>
          </a:prstGeom>
          <a:noFill/>
        </p:spPr>
        <p:txBody>
          <a:bodyPr wrap="square" anchor="t" lIns="18288" rIns="18288" tIns="18288" bIns="18288">
            <a:spAutoFit/>
          </a:bodyPr>
          <a:lstStyle/>
          <a:p>
            <a:pPr algn="l">
              <a:spcAft>
                <a:spcPts val="0"/>
              </a:spcAft>
            </a:pPr>
            <a:r>
              <a:rPr sz="1100" b="1">
                <a:solidFill>
                  <a:srgbClr val="7C3AED"/>
                </a:solidFill>
                <a:latin typeface="Arial"/>
              </a:rPr>
              <a:t>REGULATED MAPPING</a:t>
            </a:r>
          </a:p>
        </p:txBody>
      </p:sp>
      <p:sp>
        <p:nvSpPr>
          <p:cNvPr id="12" name="TextBox 11"/>
          <p:cNvSpPr txBox="1"/>
          <p:nvPr/>
        </p:nvSpPr>
        <p:spPr>
          <a:xfrm>
            <a:off x="8019288" y="2423160"/>
            <a:ext cx="2560320" cy="502920"/>
          </a:xfrm>
          <a:prstGeom prst="rect">
            <a:avLst/>
          </a:prstGeom>
          <a:noFill/>
        </p:spPr>
        <p:txBody>
          <a:bodyPr wrap="square" anchor="t" lIns="18288" rIns="18288" tIns="18288" bIns="18288">
            <a:spAutoFit/>
          </a:bodyPr>
          <a:lstStyle/>
          <a:p>
            <a:pPr algn="l">
              <a:spcAft>
                <a:spcPts val="0"/>
              </a:spcAft>
            </a:pPr>
            <a:r>
              <a:rPr sz="2600" b="1">
                <a:solidFill>
                  <a:srgbClr val="7C3AED"/>
                </a:solidFill>
                <a:latin typeface="Arial"/>
              </a:rPr>
              <a:t>K5, A5</a:t>
            </a:r>
          </a:p>
        </p:txBody>
      </p:sp>
      <p:sp>
        <p:nvSpPr>
          <p:cNvPr id="13" name="Rounded Rectangle 12"/>
          <p:cNvSpPr/>
          <p:nvPr/>
        </p:nvSpPr>
        <p:spPr>
          <a:xfrm>
            <a:off x="658368" y="3913632"/>
            <a:ext cx="10835640" cy="12984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4133087"/>
            <a:ext cx="2011680"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YOU WILL PRODUCE</a:t>
            </a:r>
          </a:p>
        </p:txBody>
      </p:sp>
      <p:sp>
        <p:nvSpPr>
          <p:cNvPr id="15" name="TextBox 14"/>
          <p:cNvSpPr txBox="1"/>
          <p:nvPr/>
        </p:nvSpPr>
        <p:spPr>
          <a:xfrm>
            <a:off x="932688" y="4517136"/>
            <a:ext cx="6766560" cy="502920"/>
          </a:xfrm>
          <a:prstGeom prst="rect">
            <a:avLst/>
          </a:prstGeom>
          <a:noFill/>
        </p:spPr>
        <p:txBody>
          <a:bodyPr wrap="square" anchor="t" lIns="18288" rIns="18288" tIns="18288" bIns="18288">
            <a:spAutoFit/>
          </a:bodyPr>
          <a:lstStyle/>
          <a:p>
            <a:pPr algn="l">
              <a:spcAft>
                <a:spcPts val="0"/>
              </a:spcAft>
            </a:pPr>
            <a:r>
              <a:rPr sz="1600" b="1">
                <a:solidFill>
                  <a:srgbClr val="161B26"/>
                </a:solidFill>
                <a:latin typeface="Arial"/>
              </a:rPr>
              <a:t>C4 diagrams, two ADRs, API contract and traceability matrix</a:t>
            </a:r>
          </a:p>
        </p:txBody>
      </p:sp>
      <p:sp>
        <p:nvSpPr>
          <p:cNvPr id="16" name="TextBox 15"/>
          <p:cNvSpPr txBox="1"/>
          <p:nvPr/>
        </p:nvSpPr>
        <p:spPr>
          <a:xfrm>
            <a:off x="7909560" y="4352544"/>
            <a:ext cx="3182112" cy="502920"/>
          </a:xfrm>
          <a:prstGeom prst="rect">
            <a:avLst/>
          </a:prstGeom>
          <a:noFill/>
        </p:spPr>
        <p:txBody>
          <a:bodyPr wrap="square" anchor="t" lIns="18288" rIns="18288" tIns="18288" bIns="18288">
            <a:spAutoFit/>
          </a:bodyPr>
          <a:lstStyle/>
          <a:p>
            <a:pPr algn="l">
              <a:spcAft>
                <a:spcPts val="0"/>
              </a:spcAft>
            </a:pPr>
            <a:r>
              <a:rPr sz="1100" b="0">
                <a:solidFill>
                  <a:srgbClr val="5B6372"/>
                </a:solidFill>
                <a:latin typeface="Arial"/>
              </a:rPr>
              <a:t>Markdown, Mermaid or editable shapes, Doxygen-style comments</a:t>
            </a:r>
          </a:p>
        </p:txBody>
      </p:sp>
      <p:sp>
        <p:nvSpPr>
          <p:cNvPr id="17" name="Rounded Rectangle 16"/>
          <p:cNvSpPr/>
          <p:nvPr/>
        </p:nvSpPr>
        <p:spPr>
          <a:xfrm>
            <a:off x="658368" y="5468112"/>
            <a:ext cx="10835640" cy="576072"/>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641848"/>
            <a:ext cx="10149840" cy="219456"/>
          </a:xfrm>
          <a:prstGeom prst="rect">
            <a:avLst/>
          </a:prstGeom>
          <a:noFill/>
        </p:spPr>
        <p:txBody>
          <a:bodyPr wrap="square" anchor="t" lIns="18288" rIns="18288" tIns="18288" bIns="18288">
            <a:spAutoFit/>
          </a:bodyPr>
          <a:lstStyle/>
          <a:p>
            <a:pPr algn="l">
              <a:spcAft>
                <a:spcPts val="0"/>
              </a:spcAft>
            </a:pPr>
            <a:r>
              <a:rPr sz="1200" b="1">
                <a:solidFill>
                  <a:srgbClr val="FFFFFF"/>
                </a:solidFill>
                <a:latin typeface="Arial"/>
              </a:rPr>
              <a:t>Detailed procedures: Learner Guide and activities/09-architecture-traceability-docs/README.md</a:t>
            </a:r>
          </a:p>
        </p:txBody>
      </p:sp>
      <p:sp>
        <p:nvSpPr>
          <p:cNvPr id="19" name="TextBox 18"/>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0" name="TextBox 19"/>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1" name="TextBox 20"/>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242</a:t>
            </a:r>
          </a:p>
        </p:txBody>
      </p:sp>
    </p:spTree>
  </p:cSld>
  <p:clrMapOvr>
    <a:masterClrMapping/>
  </p:clrMapOvr>
  <p:transition advClick="1" spd="fast">
    <p:fade/>
  </p:transition>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ACTIVITY MECHANISM</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9 · Delivery Workflow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Frame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Create context, container and component views at distinct levels of detail.</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K5, A5</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Build</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Write ADRs for the Objective-C++ boundary and JSON persistence.</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K5, A5</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Connect</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Build a requirement-to-component-to-test-to-evidence matrix.</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K5, A5</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Verify</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All five regulated outcomes are traceable and no documented dependency contradicts the build graph.</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K5, A5</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The slide communicates the workflow; the Learner Guide carries the detailed procedure and commands.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243</a:t>
            </a:r>
          </a:p>
        </p:txBody>
      </p:sp>
    </p:spTree>
  </p:cSld>
  <p:clrMapOvr>
    <a:masterClrMapping/>
  </p:clrMapOvr>
  <p:transition advClick="1" spd="fast">
    <p:fade/>
  </p:transition>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COPY / PASTE PROMPT · BUDGETBUDDY</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9 · Vibe Coding Generation Prompt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82496"/>
            <a:ext cx="6976872" cy="4425696"/>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82496"/>
            <a:ext cx="91440" cy="44256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874519"/>
            <a:ext cx="2157984" cy="201168"/>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GENERATION PROMPT</a:t>
            </a:r>
          </a:p>
        </p:txBody>
      </p:sp>
      <p:sp>
        <p:nvSpPr>
          <p:cNvPr id="10" name="TextBox 9"/>
          <p:cNvSpPr txBox="1"/>
          <p:nvPr/>
        </p:nvSpPr>
        <p:spPr>
          <a:xfrm>
            <a:off x="941832" y="2212848"/>
            <a:ext cx="6364224" cy="3502152"/>
          </a:xfrm>
          <a:prstGeom prst="rect">
            <a:avLst/>
          </a:prstGeom>
          <a:noFill/>
        </p:spPr>
        <p:txBody>
          <a:bodyPr wrap="square" anchor="t" lIns="18288" rIns="18288" tIns="18288" bIns="18288">
            <a:spAutoFit/>
          </a:bodyPr>
          <a:lstStyle/>
          <a:p>
            <a:pPr algn="l">
              <a:spcAft>
                <a:spcPts val="0"/>
              </a:spcAft>
            </a:pPr>
            <a:r>
              <a:rPr sz="1150" b="0">
                <a:solidFill>
                  <a:srgbClr val="D2E4FF"/>
                </a:solidFill>
                <a:latin typeface="Courier New"/>
              </a:rPr>
              <a:t>Generate C4 views, ADR-001 bridge boundary, ADR-002 persistence, bridge API contract and traceability.csv from the verified build graph. Document units, ownership, nullability and typed errors. Do not invent a module, test or evidence path. Output complete documents. Reconcile every dependency arrow and require implementation, test, evidence and status for REQ-001..REQ-005.</a:t>
            </a:r>
          </a:p>
        </p:txBody>
      </p:sp>
      <p:sp>
        <p:nvSpPr>
          <p:cNvPr id="11" name="Rounded Rectangle 10"/>
          <p:cNvSpPr/>
          <p:nvPr/>
        </p:nvSpPr>
        <p:spPr>
          <a:xfrm>
            <a:off x="7909560" y="1682496"/>
            <a:ext cx="3584448" cy="120700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74736" y="1892807"/>
            <a:ext cx="2926080" cy="182880"/>
          </a:xfrm>
          <a:prstGeom prst="rect">
            <a:avLst/>
          </a:prstGeom>
          <a:noFill/>
        </p:spPr>
        <p:txBody>
          <a:bodyPr wrap="square" anchor="t" lIns="18288" rIns="18288" tIns="18288" bIns="18288">
            <a:spAutoFit/>
          </a:bodyPr>
          <a:lstStyle/>
          <a:p>
            <a:pPr algn="l">
              <a:spcAft>
                <a:spcPts val="0"/>
              </a:spcAft>
            </a:pPr>
            <a:r>
              <a:rPr sz="900" b="1">
                <a:solidFill>
                  <a:srgbClr val="1F6FEB"/>
                </a:solidFill>
                <a:latin typeface="Arial"/>
              </a:rPr>
              <a:t>PROTECTED FILE SCOPE</a:t>
            </a:r>
          </a:p>
        </p:txBody>
      </p:sp>
      <p:sp>
        <p:nvSpPr>
          <p:cNvPr id="13" name="TextBox 12"/>
          <p:cNvSpPr txBox="1"/>
          <p:nvPr/>
        </p:nvSpPr>
        <p:spPr>
          <a:xfrm>
            <a:off x="8174736" y="2212848"/>
            <a:ext cx="2926080" cy="621792"/>
          </a:xfrm>
          <a:prstGeom prst="rect">
            <a:avLst/>
          </a:prstGeom>
          <a:noFill/>
        </p:spPr>
        <p:txBody>
          <a:bodyPr wrap="square" anchor="t" lIns="18288" rIns="18288" tIns="18288" bIns="18288">
            <a:spAutoFit/>
          </a:bodyPr>
          <a:lstStyle/>
          <a:p>
            <a:pPr algn="l">
              <a:spcAft>
                <a:spcPts val="0"/>
              </a:spcAft>
            </a:pPr>
            <a:r>
              <a:rPr sz="900" b="1">
                <a:solidFill>
                  <a:srgbClr val="161B26"/>
                </a:solidFill>
                <a:latin typeface="Arial"/>
              </a:rPr>
              <a:t>architecture.md; ADR-001-objective-cpp-boundary.md; ADR-002-json-persistence.md; bridge-contract.md; traceability.csv; README.md</a:t>
            </a:r>
          </a:p>
        </p:txBody>
      </p:sp>
      <p:sp>
        <p:nvSpPr>
          <p:cNvPr id="14" name="Rounded Rectangle 13"/>
          <p:cNvSpPr/>
          <p:nvPr/>
        </p:nvSpPr>
        <p:spPr>
          <a:xfrm>
            <a:off x="7909560" y="3136392"/>
            <a:ext cx="3584448" cy="1435608"/>
          </a:xfrm>
          <a:prstGeom prst="roundRect">
            <a:avLst>
              <a:gd name="adj" fmla="val 8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4736" y="3355848"/>
            <a:ext cx="2057400" cy="182880"/>
          </a:xfrm>
          <a:prstGeom prst="rect">
            <a:avLst/>
          </a:prstGeom>
          <a:noFill/>
        </p:spPr>
        <p:txBody>
          <a:bodyPr wrap="square" anchor="t" lIns="18288" rIns="18288" tIns="18288" bIns="18288">
            <a:spAutoFit/>
          </a:bodyPr>
          <a:lstStyle/>
          <a:p>
            <a:pPr algn="l">
              <a:spcAft>
                <a:spcPts val="0"/>
              </a:spcAft>
            </a:pPr>
            <a:r>
              <a:rPr sz="900" b="1">
                <a:solidFill>
                  <a:srgbClr val="10B981"/>
                </a:solidFill>
                <a:latin typeface="Arial"/>
              </a:rPr>
              <a:t>EXPECTED GREEN</a:t>
            </a:r>
          </a:p>
        </p:txBody>
      </p:sp>
      <p:sp>
        <p:nvSpPr>
          <p:cNvPr id="16" name="TextBox 15"/>
          <p:cNvSpPr txBox="1"/>
          <p:nvPr/>
        </p:nvSpPr>
        <p:spPr>
          <a:xfrm>
            <a:off x="8174736" y="3666744"/>
            <a:ext cx="2926080" cy="621792"/>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All REQ-001..REQ-005 rows have real implementation, test, evidence, and status; architecture imports match the inward dependency rule.</a:t>
            </a:r>
          </a:p>
        </p:txBody>
      </p:sp>
      <p:sp>
        <p:nvSpPr>
          <p:cNvPr id="17" name="Rounded Rectangle 16"/>
          <p:cNvSpPr/>
          <p:nvPr/>
        </p:nvSpPr>
        <p:spPr>
          <a:xfrm>
            <a:off x="7909560" y="4828032"/>
            <a:ext cx="3584448" cy="1261872"/>
          </a:xfrm>
          <a:prstGeom prst="roundRect">
            <a:avLst>
              <a:gd name="adj" fmla="val 8000"/>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4736" y="5029200"/>
            <a:ext cx="2057400" cy="182880"/>
          </a:xfrm>
          <a:prstGeom prst="rect">
            <a:avLst/>
          </a:prstGeom>
          <a:noFill/>
        </p:spPr>
        <p:txBody>
          <a:bodyPr wrap="square" anchor="t" lIns="18288" rIns="18288" tIns="18288" bIns="18288">
            <a:spAutoFit/>
          </a:bodyPr>
          <a:lstStyle/>
          <a:p>
            <a:pPr algn="l">
              <a:spcAft>
                <a:spcPts val="0"/>
              </a:spcAft>
            </a:pPr>
            <a:r>
              <a:rPr sz="900" b="1">
                <a:solidFill>
                  <a:srgbClr val="C2413A"/>
                </a:solidFill>
                <a:latin typeface="Arial"/>
              </a:rPr>
              <a:t>REVIEW / REPAIR</a:t>
            </a:r>
          </a:p>
        </p:txBody>
      </p:sp>
      <p:sp>
        <p:nvSpPr>
          <p:cNvPr id="19" name="TextBox 18"/>
          <p:cNvSpPr txBox="1"/>
          <p:nvPr/>
        </p:nvSpPr>
        <p:spPr>
          <a:xfrm>
            <a:off x="8174736" y="5330952"/>
            <a:ext cx="2926080" cy="493776"/>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Use the paired review prompt in the Activity guide. Fix the first causal failure, preserve tests, then rerun focused and full checks.</a:t>
            </a:r>
          </a:p>
        </p:txBody>
      </p:sp>
      <p:sp>
        <p:nvSpPr>
          <p:cNvPr id="20" name="TextBox 19"/>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1" name="TextBox 20"/>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244</a:t>
            </a:r>
          </a:p>
        </p:txBody>
      </p:sp>
    </p:spTree>
  </p:cSld>
  <p:clrMapOvr>
    <a:masterClrMapping/>
  </p:clrMapOvr>
  <p:transition advClick="1" spd="fast">
    <p:fade/>
  </p:transition>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VERIFY BEFORE MOVING ON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9 · Evidence Contract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Artifact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C4 diagrams, two ADRs, API contract and traceability matrix</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K5, A5</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Acceptance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All five regulated outcomes are traceable and no documented dependency contradicts the build graph.</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K5, A5</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Failure signal</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If the diagram is crowded, split by stakeholder question instead of shrinking labels.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K5, A5</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Cleanup</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Retain source diagrams and Markdown; remove obsolete exported drafts.</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K5, A5</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Evidence is a retrievable artifact or test result, not a statement that the activity was completed.</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245</a:t>
            </a:r>
          </a:p>
        </p:txBody>
      </p:sp>
    </p:spTree>
  </p:cSld>
  <p:clrMapOvr>
    <a:masterClrMapping/>
  </p:clrMapOvr>
  <p:transition advClick="1" spd="fast">
    <p:fade/>
  </p:transition>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TEST IT</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9 · Verification Gate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52760" cy="1828800"/>
          </a:xfrm>
          <a:prstGeom prst="roundRect">
            <a:avLst>
              <a:gd name="adj" fmla="val 8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057400"/>
            <a:ext cx="1828800" cy="237744"/>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PASS WHEN</a:t>
            </a:r>
          </a:p>
        </p:txBody>
      </p:sp>
      <p:sp>
        <p:nvSpPr>
          <p:cNvPr id="9" name="TextBox 8"/>
          <p:cNvSpPr txBox="1"/>
          <p:nvPr/>
        </p:nvSpPr>
        <p:spPr>
          <a:xfrm>
            <a:off x="1078992" y="2542032"/>
            <a:ext cx="9646920" cy="566928"/>
          </a:xfrm>
          <a:prstGeom prst="rect">
            <a:avLst/>
          </a:prstGeom>
          <a:noFill/>
        </p:spPr>
        <p:txBody>
          <a:bodyPr wrap="square" anchor="ctr" lIns="18288" rIns="18288" tIns="18288" bIns="18288">
            <a:spAutoFit/>
          </a:bodyPr>
          <a:lstStyle/>
          <a:p>
            <a:pPr algn="l">
              <a:spcAft>
                <a:spcPts val="0"/>
              </a:spcAft>
            </a:pPr>
            <a:r>
              <a:rPr sz="2000" b="1">
                <a:solidFill>
                  <a:srgbClr val="161B26"/>
                </a:solidFill>
                <a:latin typeface="Arial"/>
              </a:rPr>
              <a:t>All five regulated outcomes are traceable and no documented dependency contradicts the build graph.</a:t>
            </a:r>
          </a:p>
        </p:txBody>
      </p:sp>
      <p:sp>
        <p:nvSpPr>
          <p:cNvPr id="10" name="Rounded Rectangle 9"/>
          <p:cNvSpPr/>
          <p:nvPr/>
        </p:nvSpPr>
        <p:spPr>
          <a:xfrm>
            <a:off x="749808" y="3913632"/>
            <a:ext cx="5129784" cy="1298448"/>
          </a:xfrm>
          <a:prstGeom prst="roundRect">
            <a:avLst>
              <a:gd name="adj" fmla="val 8000"/>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151376"/>
            <a:ext cx="1645920" cy="219456"/>
          </a:xfrm>
          <a:prstGeom prst="rect">
            <a:avLst/>
          </a:prstGeom>
          <a:noFill/>
        </p:spPr>
        <p:txBody>
          <a:bodyPr wrap="square" anchor="t" lIns="18288" rIns="18288" tIns="18288" bIns="18288">
            <a:spAutoFit/>
          </a:bodyPr>
          <a:lstStyle/>
          <a:p>
            <a:pPr algn="l">
              <a:spcAft>
                <a:spcPts val="0"/>
              </a:spcAft>
            </a:pPr>
            <a:r>
              <a:rPr sz="1100" b="1">
                <a:solidFill>
                  <a:srgbClr val="C2413A"/>
                </a:solidFill>
                <a:latin typeface="Arial"/>
              </a:rPr>
              <a:t>IF IT FAILS</a:t>
            </a:r>
          </a:p>
        </p:txBody>
      </p:sp>
      <p:sp>
        <p:nvSpPr>
          <p:cNvPr id="12" name="TextBox 11"/>
          <p:cNvSpPr txBox="1"/>
          <p:nvPr/>
        </p:nvSpPr>
        <p:spPr>
          <a:xfrm>
            <a:off x="1033271" y="4517136"/>
            <a:ext cx="4498848" cy="475488"/>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If the diagram is crowded, split by stakeholder question instead of shrinking labels.</a:t>
            </a:r>
          </a:p>
        </p:txBody>
      </p:sp>
      <p:sp>
        <p:nvSpPr>
          <p:cNvPr id="13" name="Rounded Rectangle 12"/>
          <p:cNvSpPr/>
          <p:nvPr/>
        </p:nvSpPr>
        <p:spPr>
          <a:xfrm>
            <a:off x="6181344" y="3913632"/>
            <a:ext cx="5221224" cy="12984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4151376"/>
            <a:ext cx="2194560"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LEAVE THE WORKSPACE</a:t>
            </a:r>
          </a:p>
        </p:txBody>
      </p:sp>
      <p:sp>
        <p:nvSpPr>
          <p:cNvPr id="15" name="TextBox 14"/>
          <p:cNvSpPr txBox="1"/>
          <p:nvPr/>
        </p:nvSpPr>
        <p:spPr>
          <a:xfrm>
            <a:off x="6464808" y="4517136"/>
            <a:ext cx="4590288" cy="475488"/>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Retain source diagrams and Markdown; remove obsolete exported drafts.</a:t>
            </a:r>
          </a:p>
        </p:txBody>
      </p:sp>
      <p:sp>
        <p:nvSpPr>
          <p:cNvPr id="16" name="TextBox 15"/>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7" name="TextBox 16"/>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18" name="TextBox 17"/>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246</a:t>
            </a:r>
          </a:p>
        </p:txBody>
      </p:sp>
    </p:spTree>
  </p:cSld>
  <p:clrMapOvr>
    <a:masterClrMapping/>
  </p:clrMapOvr>
  <p:transition advClick="1" spd="fast">
    <p:fade/>
  </p:transition>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HANDS-ON ACTIVITY · 105 MIN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Activity 10: Capstone: BudgetBuddy Release Evidence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812280" cy="1874519"/>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84248"/>
            <a:ext cx="1554480" cy="219456"/>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CHALLENGE</a:t>
            </a:r>
          </a:p>
        </p:txBody>
      </p:sp>
      <p:sp>
        <p:nvSpPr>
          <p:cNvPr id="9" name="TextBox 8"/>
          <p:cNvSpPr txBox="1"/>
          <p:nvPr/>
        </p:nvSpPr>
        <p:spPr>
          <a:xfrm>
            <a:off x="932688" y="2377440"/>
            <a:ext cx="6254496" cy="804672"/>
          </a:xfrm>
          <a:prstGeom prst="rect">
            <a:avLst/>
          </a:prstGeom>
          <a:noFill/>
        </p:spPr>
        <p:txBody>
          <a:bodyPr wrap="square" anchor="t" lIns="18288" rIns="18288" tIns="18288" bIns="18288">
            <a:spAutoFit/>
          </a:bodyPr>
          <a:lstStyle/>
          <a:p>
            <a:pPr algn="l">
              <a:spcAft>
                <a:spcPts val="0"/>
              </a:spcAft>
            </a:pPr>
            <a:r>
              <a:rPr sz="1700" b="1">
                <a:solidFill>
                  <a:srgbClr val="161B26"/>
                </a:solidFill>
                <a:latin typeface="Arial"/>
              </a:rPr>
              <a:t>Integrate the portable C++ core, Objective-C++ adapter and SwiftUI shell into a verified release evidence pack.</a:t>
            </a:r>
          </a:p>
        </p:txBody>
      </p:sp>
      <p:sp>
        <p:nvSpPr>
          <p:cNvPr id="10" name="Rounded Rectangle 9"/>
          <p:cNvSpPr/>
          <p:nvPr/>
        </p:nvSpPr>
        <p:spPr>
          <a:xfrm>
            <a:off x="7744968" y="1737360"/>
            <a:ext cx="3749039" cy="1874519"/>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19288" y="1984248"/>
            <a:ext cx="2560320" cy="219456"/>
          </a:xfrm>
          <a:prstGeom prst="rect">
            <a:avLst/>
          </a:prstGeom>
          <a:noFill/>
        </p:spPr>
        <p:txBody>
          <a:bodyPr wrap="square" anchor="t" lIns="18288" rIns="18288" tIns="18288" bIns="18288">
            <a:spAutoFit/>
          </a:bodyPr>
          <a:lstStyle/>
          <a:p>
            <a:pPr algn="l">
              <a:spcAft>
                <a:spcPts val="0"/>
              </a:spcAft>
            </a:pPr>
            <a:r>
              <a:rPr sz="1100" b="1">
                <a:solidFill>
                  <a:srgbClr val="7C3AED"/>
                </a:solidFill>
                <a:latin typeface="Arial"/>
              </a:rPr>
              <a:t>REGULATED MAPPING</a:t>
            </a:r>
          </a:p>
        </p:txBody>
      </p:sp>
      <p:sp>
        <p:nvSpPr>
          <p:cNvPr id="12" name="TextBox 11"/>
          <p:cNvSpPr txBox="1"/>
          <p:nvPr/>
        </p:nvSpPr>
        <p:spPr>
          <a:xfrm>
            <a:off x="8019288" y="2423160"/>
            <a:ext cx="2560320" cy="502920"/>
          </a:xfrm>
          <a:prstGeom prst="rect">
            <a:avLst/>
          </a:prstGeom>
          <a:noFill/>
        </p:spPr>
        <p:txBody>
          <a:bodyPr wrap="square" anchor="t" lIns="18288" rIns="18288" tIns="18288" bIns="18288">
            <a:spAutoFit/>
          </a:bodyPr>
          <a:lstStyle/>
          <a:p>
            <a:pPr algn="l">
              <a:spcAft>
                <a:spcPts val="0"/>
              </a:spcAft>
            </a:pPr>
            <a:r>
              <a:rPr sz="2600" b="1">
                <a:solidFill>
                  <a:srgbClr val="7C3AED"/>
                </a:solidFill>
                <a:latin typeface="Arial"/>
              </a:rPr>
              <a:t>A1, A2, A3, A4, A5</a:t>
            </a:r>
          </a:p>
        </p:txBody>
      </p:sp>
      <p:sp>
        <p:nvSpPr>
          <p:cNvPr id="13" name="Rounded Rectangle 12"/>
          <p:cNvSpPr/>
          <p:nvPr/>
        </p:nvSpPr>
        <p:spPr>
          <a:xfrm>
            <a:off x="658368" y="3913632"/>
            <a:ext cx="10835640" cy="12984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4133087"/>
            <a:ext cx="2011680"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YOU WILL PRODUCE</a:t>
            </a:r>
          </a:p>
        </p:txBody>
      </p:sp>
      <p:sp>
        <p:nvSpPr>
          <p:cNvPr id="15" name="TextBox 14"/>
          <p:cNvSpPr txBox="1"/>
          <p:nvPr/>
        </p:nvSpPr>
        <p:spPr>
          <a:xfrm>
            <a:off x="932688" y="4517136"/>
            <a:ext cx="6766560" cy="502920"/>
          </a:xfrm>
          <a:prstGeom prst="rect">
            <a:avLst/>
          </a:prstGeom>
          <a:noFill/>
        </p:spPr>
        <p:txBody>
          <a:bodyPr wrap="square" anchor="t" lIns="18288" rIns="18288" tIns="18288" bIns="18288">
            <a:spAutoFit/>
          </a:bodyPr>
          <a:lstStyle/>
          <a:p>
            <a:pPr algn="l">
              <a:spcAft>
                <a:spcPts val="0"/>
              </a:spcAft>
            </a:pPr>
            <a:r>
              <a:rPr sz="1400" b="1">
                <a:solidFill>
                  <a:srgbClr val="161B26"/>
                </a:solidFill>
                <a:latin typeface="Arial"/>
              </a:rPr>
              <a:t>Working app, complete tests, architecture pack and deployment checklist</a:t>
            </a:r>
          </a:p>
        </p:txBody>
      </p:sp>
      <p:sp>
        <p:nvSpPr>
          <p:cNvPr id="16" name="TextBox 15"/>
          <p:cNvSpPr txBox="1"/>
          <p:nvPr/>
        </p:nvSpPr>
        <p:spPr>
          <a:xfrm>
            <a:off x="7909560" y="4352544"/>
            <a:ext cx="3182112" cy="502920"/>
          </a:xfrm>
          <a:prstGeom prst="rect">
            <a:avLst/>
          </a:prstGeom>
          <a:noFill/>
        </p:spPr>
        <p:txBody>
          <a:bodyPr wrap="square" anchor="t" lIns="18288" rIns="18288" tIns="18288" bIns="18288">
            <a:spAutoFit/>
          </a:bodyPr>
          <a:lstStyle/>
          <a:p>
            <a:pPr algn="l">
              <a:spcAft>
                <a:spcPts val="0"/>
              </a:spcAft>
            </a:pPr>
            <a:r>
              <a:rPr sz="1100" b="0">
                <a:solidFill>
                  <a:srgbClr val="5B6372"/>
                </a:solidFill>
                <a:latin typeface="Arial"/>
              </a:rPr>
              <a:t>C++20, CMake, Xcode, SwiftUI, XCTest, documentation templates</a:t>
            </a:r>
          </a:p>
        </p:txBody>
      </p:sp>
      <p:sp>
        <p:nvSpPr>
          <p:cNvPr id="17" name="Rounded Rectangle 16"/>
          <p:cNvSpPr/>
          <p:nvPr/>
        </p:nvSpPr>
        <p:spPr>
          <a:xfrm>
            <a:off x="658368" y="5468112"/>
            <a:ext cx="10835640" cy="576072"/>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641848"/>
            <a:ext cx="10149840" cy="219456"/>
          </a:xfrm>
          <a:prstGeom prst="rect">
            <a:avLst/>
          </a:prstGeom>
          <a:noFill/>
        </p:spPr>
        <p:txBody>
          <a:bodyPr wrap="square" anchor="t" lIns="18288" rIns="18288" tIns="18288" bIns="18288">
            <a:spAutoFit/>
          </a:bodyPr>
          <a:lstStyle/>
          <a:p>
            <a:pPr algn="l">
              <a:spcAft>
                <a:spcPts val="0"/>
              </a:spcAft>
            </a:pPr>
            <a:r>
              <a:rPr sz="1200" b="1">
                <a:solidFill>
                  <a:srgbClr val="FFFFFF"/>
                </a:solidFill>
                <a:latin typeface="Arial"/>
              </a:rPr>
              <a:t>Detailed procedures: Learner Guide and activities/10-capstone-release-evidence/README.md</a:t>
            </a:r>
          </a:p>
        </p:txBody>
      </p:sp>
      <p:sp>
        <p:nvSpPr>
          <p:cNvPr id="19" name="TextBox 18"/>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0" name="TextBox 19"/>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1" name="TextBox 20"/>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247</a:t>
            </a:r>
          </a:p>
        </p:txBody>
      </p:sp>
    </p:spTree>
  </p:cSld>
  <p:clrMapOvr>
    <a:masterClrMapping/>
  </p:clrMapOvr>
  <p:transition advClick="1" spd="fast">
    <p:fade/>
  </p:transition>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ACTIVITY MECHANISM</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10 · Delivery Workflow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Frame</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Confirm the approved requirement baseline and component boundary.</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A1, A2, A3, A4, A5</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Build</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Build and test the portable C++ domain core independently.</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A1, A2, A3, A4, A5</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Connect</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Complete the accessible SwiftUI flow and persistence recovery path.</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A1, A2, A3, A4, A5</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Verify</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 clean evidence index proves requirements, implementation, interoperability, documentation and deployment readiness without claiming App Store submission.</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A1, A2, A3, A4, A5</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The slide communicates the workflow; the Learner Guide carries the detailed procedure and commands.</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248</a:t>
            </a:r>
          </a:p>
        </p:txBody>
      </p:sp>
    </p:spTree>
  </p:cSld>
  <p:clrMapOvr>
    <a:masterClrMapping/>
  </p:clrMapOvr>
  <p:transition advClick="1" spd="fast">
    <p:fade/>
  </p:transition>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COPY / PASTE PROMPT · BUDGETBUDDY</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10 · Final Project Audit Prompt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82496"/>
            <a:ext cx="6976872" cy="4425696"/>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82496"/>
            <a:ext cx="91440" cy="44256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874519"/>
            <a:ext cx="2157984" cy="201168"/>
          </a:xfrm>
          <a:prstGeom prst="rect">
            <a:avLst/>
          </a:prstGeom>
          <a:noFill/>
        </p:spPr>
        <p:txBody>
          <a:bodyPr wrap="square" anchor="t" lIns="18288" rIns="18288" tIns="18288" bIns="18288">
            <a:spAutoFit/>
          </a:bodyPr>
          <a:lstStyle/>
          <a:p>
            <a:pPr algn="l">
              <a:spcAft>
                <a:spcPts val="0"/>
              </a:spcAft>
            </a:pPr>
            <a:r>
              <a:rPr sz="1000" b="1">
                <a:solidFill>
                  <a:srgbClr val="7C3AED"/>
                </a:solidFill>
                <a:latin typeface="Arial"/>
              </a:rPr>
              <a:t>GENERATION PROMPT</a:t>
            </a:r>
          </a:p>
        </p:txBody>
      </p:sp>
      <p:sp>
        <p:nvSpPr>
          <p:cNvPr id="10" name="TextBox 9"/>
          <p:cNvSpPr txBox="1"/>
          <p:nvPr/>
        </p:nvSpPr>
        <p:spPr>
          <a:xfrm>
            <a:off x="941832" y="2212848"/>
            <a:ext cx="6364224" cy="3502152"/>
          </a:xfrm>
          <a:prstGeom prst="rect">
            <a:avLst/>
          </a:prstGeom>
          <a:noFill/>
        </p:spPr>
        <p:txBody>
          <a:bodyPr wrap="square" anchor="t" lIns="18288" rIns="18288" tIns="18288" bIns="18288">
            <a:spAutoFit/>
          </a:bodyPr>
          <a:lstStyle/>
          <a:p>
            <a:pPr algn="l">
              <a:spcAft>
                <a:spcPts val="0"/>
              </a:spcAft>
            </a:pPr>
            <a:r>
              <a:rPr sz="1150" b="0">
                <a:solidFill>
                  <a:srgbClr val="D2E4FF"/>
                </a:solidFill>
                <a:latin typeface="Courier New"/>
              </a:rPr>
              <a:t>Verify BudgetBuddy, FocusCards and HabitPulse from project.yml: build, Swift Testing, XCUIAutomation, launch and inspect each AppIcon. Prove BudgetBuddy exact cents through Objective-C++. Prepare ASC identity, archive/export/upload, metadata, screenshots, privacy, age, availability, attach-build, submit and readback gates. Never expose secrets or claim external execution; leave trainer-only credentialled gates HOLD.</a:t>
            </a:r>
          </a:p>
        </p:txBody>
      </p:sp>
      <p:sp>
        <p:nvSpPr>
          <p:cNvPr id="11" name="Rounded Rectangle 10"/>
          <p:cNvSpPr/>
          <p:nvPr/>
        </p:nvSpPr>
        <p:spPr>
          <a:xfrm>
            <a:off x="7909560" y="1682496"/>
            <a:ext cx="3584448" cy="120700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74736" y="1892807"/>
            <a:ext cx="2926080" cy="182880"/>
          </a:xfrm>
          <a:prstGeom prst="rect">
            <a:avLst/>
          </a:prstGeom>
          <a:noFill/>
        </p:spPr>
        <p:txBody>
          <a:bodyPr wrap="square" anchor="t" lIns="18288" rIns="18288" tIns="18288" bIns="18288">
            <a:spAutoFit/>
          </a:bodyPr>
          <a:lstStyle/>
          <a:p>
            <a:pPr algn="l">
              <a:spcAft>
                <a:spcPts val="0"/>
              </a:spcAft>
            </a:pPr>
            <a:r>
              <a:rPr sz="900" b="1">
                <a:solidFill>
                  <a:srgbClr val="1F6FEB"/>
                </a:solidFill>
                <a:latin typeface="Arial"/>
              </a:rPr>
              <a:t>PROTECTED FILE SCOPE</a:t>
            </a:r>
          </a:p>
        </p:txBody>
      </p:sp>
      <p:sp>
        <p:nvSpPr>
          <p:cNvPr id="13" name="TextBox 12"/>
          <p:cNvSpPr txBox="1"/>
          <p:nvPr/>
        </p:nvSpPr>
        <p:spPr>
          <a:xfrm>
            <a:off x="8174736" y="2212848"/>
            <a:ext cx="2926080" cy="621792"/>
          </a:xfrm>
          <a:prstGeom prst="rect">
            <a:avLst/>
          </a:prstGeom>
          <a:noFill/>
        </p:spPr>
        <p:txBody>
          <a:bodyPr wrap="square" anchor="t" lIns="18288" rIns="18288" tIns="18288" bIns="18288">
            <a:spAutoFit/>
          </a:bodyPr>
          <a:lstStyle/>
          <a:p>
            <a:pPr algn="l">
              <a:spcAft>
                <a:spcPts val="0"/>
              </a:spcAft>
            </a:pPr>
            <a:r>
              <a:rPr sz="819" b="1">
                <a:solidFill>
                  <a:srgbClr val="161B26"/>
                </a:solidFill>
                <a:latin typeface="Arial"/>
              </a:rPr>
              <a:t>verify-local.sh; CI workflow; privacy-security-review.md; evidence-index.csv; release-scorecard.json; release-notes.md; deployment-position.md; file-inventory.txt; final-audit.md</a:t>
            </a:r>
          </a:p>
        </p:txBody>
      </p:sp>
      <p:sp>
        <p:nvSpPr>
          <p:cNvPr id="14" name="Rounded Rectangle 13"/>
          <p:cNvSpPr/>
          <p:nvPr/>
        </p:nvSpPr>
        <p:spPr>
          <a:xfrm>
            <a:off x="7909560" y="3136392"/>
            <a:ext cx="3584448" cy="1591056"/>
          </a:xfrm>
          <a:prstGeom prst="roundRect">
            <a:avLst>
              <a:gd name="adj" fmla="val 8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4736" y="3355848"/>
            <a:ext cx="2057400" cy="182880"/>
          </a:xfrm>
          <a:prstGeom prst="rect">
            <a:avLst/>
          </a:prstGeom>
          <a:noFill/>
        </p:spPr>
        <p:txBody>
          <a:bodyPr wrap="square" anchor="t" lIns="18288" rIns="18288" tIns="18288" bIns="18288">
            <a:spAutoFit/>
          </a:bodyPr>
          <a:lstStyle/>
          <a:p>
            <a:pPr algn="l">
              <a:spcAft>
                <a:spcPts val="0"/>
              </a:spcAft>
            </a:pPr>
            <a:r>
              <a:rPr sz="900" b="1">
                <a:solidFill>
                  <a:srgbClr val="10B981"/>
                </a:solidFill>
                <a:latin typeface="Arial"/>
              </a:rPr>
              <a:t>EXPECTED GREEN</a:t>
            </a:r>
          </a:p>
        </p:txBody>
      </p:sp>
      <p:sp>
        <p:nvSpPr>
          <p:cNvPr id="16" name="TextBox 15"/>
          <p:cNvSpPr txBox="1"/>
          <p:nvPr/>
        </p:nvSpPr>
        <p:spPr>
          <a:xfrm>
            <a:off x="8174736" y="3666744"/>
            <a:ext cx="2926080" cy="877824"/>
          </a:xfrm>
          <a:prstGeom prst="rect">
            <a:avLst/>
          </a:prstGeom>
          <a:noFill/>
        </p:spPr>
        <p:txBody>
          <a:bodyPr wrap="square" anchor="t" lIns="18288" rIns="18288" tIns="18288" bIns="18288">
            <a:spAutoFit/>
          </a:bodyPr>
          <a:lstStyle/>
          <a:p>
            <a:pPr algn="l">
              <a:spcAft>
                <a:spcPts val="0"/>
              </a:spcAft>
            </a:pPr>
            <a:r>
              <a:rPr sz="819" b="1">
                <a:solidFill>
                  <a:srgbClr val="161B26"/>
                </a:solidFill>
                <a:latin typeface="Arial"/>
              </a:rPr>
              <a:t>All three generated Xcode projects build, test and launch on a resolved iPhone Simulator; BudgetBuddy proves exact cents through Objective-C++; icons and privacy manifests are present; local evidence is complete; every unexecuted archive/upload/metadata/privacy/age/availability/attach/submit/readback gate remains HOLD.</a:t>
            </a:r>
          </a:p>
        </p:txBody>
      </p:sp>
      <p:sp>
        <p:nvSpPr>
          <p:cNvPr id="17" name="Rounded Rectangle 16"/>
          <p:cNvSpPr/>
          <p:nvPr/>
        </p:nvSpPr>
        <p:spPr>
          <a:xfrm>
            <a:off x="7909560" y="4846320"/>
            <a:ext cx="3584448" cy="1261872"/>
          </a:xfrm>
          <a:prstGeom prst="roundRect">
            <a:avLst>
              <a:gd name="adj" fmla="val 8000"/>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4736" y="5047488"/>
            <a:ext cx="2057400" cy="182880"/>
          </a:xfrm>
          <a:prstGeom prst="rect">
            <a:avLst/>
          </a:prstGeom>
          <a:noFill/>
        </p:spPr>
        <p:txBody>
          <a:bodyPr wrap="square" anchor="t" lIns="18288" rIns="18288" tIns="18288" bIns="18288">
            <a:spAutoFit/>
          </a:bodyPr>
          <a:lstStyle/>
          <a:p>
            <a:pPr algn="l">
              <a:spcAft>
                <a:spcPts val="0"/>
              </a:spcAft>
            </a:pPr>
            <a:r>
              <a:rPr sz="900" b="1">
                <a:solidFill>
                  <a:srgbClr val="C2413A"/>
                </a:solidFill>
                <a:latin typeface="Arial"/>
              </a:rPr>
              <a:t>REVIEW / REPAIR</a:t>
            </a:r>
          </a:p>
        </p:txBody>
      </p:sp>
      <p:sp>
        <p:nvSpPr>
          <p:cNvPr id="19" name="TextBox 18"/>
          <p:cNvSpPr txBox="1"/>
          <p:nvPr/>
        </p:nvSpPr>
        <p:spPr>
          <a:xfrm>
            <a:off x="8174736" y="5349240"/>
            <a:ext cx="2926080" cy="493776"/>
          </a:xfrm>
          <a:prstGeom prst="rect">
            <a:avLst/>
          </a:prstGeom>
          <a:noFill/>
        </p:spPr>
        <p:txBody>
          <a:bodyPr wrap="square" anchor="t" lIns="18288" rIns="18288" tIns="18288" bIns="18288">
            <a:spAutoFit/>
          </a:bodyPr>
          <a:lstStyle/>
          <a:p>
            <a:pPr algn="l">
              <a:spcAft>
                <a:spcPts val="0"/>
              </a:spcAft>
            </a:pPr>
            <a:r>
              <a:rPr sz="1019" b="1">
                <a:solidFill>
                  <a:srgbClr val="161B26"/>
                </a:solidFill>
                <a:latin typeface="Arial"/>
              </a:rPr>
              <a:t>Use the paired review prompt in the Activity guide. Fix the first causal failure, preserve tests, then rerun focused and full checks.</a:t>
            </a:r>
          </a:p>
        </p:txBody>
      </p:sp>
      <p:sp>
        <p:nvSpPr>
          <p:cNvPr id="20" name="TextBox 19"/>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1" name="TextBox 20"/>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2" name="TextBox 21"/>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249</a:t>
            </a:r>
          </a:p>
        </p:txBody>
      </p:sp>
    </p:spTree>
  </p:cSld>
  <p:clrMapOvr>
    <a:masterClrMapping/>
  </p:clrMapOvr>
  <p:transition advClick="1" spd="fast">
    <p:fade/>
  </p:transition>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VERIFY BEFORE MOVING ON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10 · Evidence Contract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Artifact</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Working app, complete tests, architecture pack and deployment checklist</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A1, A2, A3, A4, A5</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Acceptance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A clean evidence index proves requirements, implementation, interoperability, documentation and deployment readiness without claiming App Store submission.</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A1, A2, A3, A4, A5</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Failure signal</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When a system test fails, localise the fault by rerunning domain then bridge tests before editing UI code.</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A1, A2, A3, A4, A5</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Cleanup</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Remove local build caches and secrets; retain source, fixtures, tests and evidence pack.</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A1, A2, A3, A4, A5</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Evidence is a retrievable artifact or test result, not a statement that the activity was completed.</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250</a:t>
            </a:r>
          </a:p>
        </p:txBody>
      </p:sp>
    </p:spTree>
  </p:cSld>
  <p:clrMapOvr>
    <a:masterClrMapping/>
  </p:clrMapOvr>
  <p:transition advClick="1" spd="fast">
    <p:fade/>
  </p:transition>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TEST IT</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Activity 10 · Verification Gate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783080"/>
            <a:ext cx="10652760" cy="1828800"/>
          </a:xfrm>
          <a:prstGeom prst="roundRect">
            <a:avLst>
              <a:gd name="adj" fmla="val 8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057400"/>
            <a:ext cx="1828800" cy="237744"/>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PASS WHEN</a:t>
            </a:r>
          </a:p>
        </p:txBody>
      </p:sp>
      <p:sp>
        <p:nvSpPr>
          <p:cNvPr id="9" name="TextBox 8"/>
          <p:cNvSpPr txBox="1"/>
          <p:nvPr/>
        </p:nvSpPr>
        <p:spPr>
          <a:xfrm>
            <a:off x="1078992" y="2542032"/>
            <a:ext cx="9646920" cy="566928"/>
          </a:xfrm>
          <a:prstGeom prst="rect">
            <a:avLst/>
          </a:prstGeom>
          <a:noFill/>
        </p:spPr>
        <p:txBody>
          <a:bodyPr wrap="square" anchor="ctr" lIns="18288" rIns="18288" tIns="18288" bIns="18288">
            <a:spAutoFit/>
          </a:bodyPr>
          <a:lstStyle/>
          <a:p>
            <a:pPr algn="l">
              <a:spcAft>
                <a:spcPts val="0"/>
              </a:spcAft>
            </a:pPr>
            <a:r>
              <a:rPr sz="2000" b="1">
                <a:solidFill>
                  <a:srgbClr val="161B26"/>
                </a:solidFill>
                <a:latin typeface="Arial"/>
              </a:rPr>
              <a:t>A clean evidence index proves requirements, implementation, interoperability, documentation and deployment readiness without claiming App Store submission.</a:t>
            </a:r>
          </a:p>
        </p:txBody>
      </p:sp>
      <p:sp>
        <p:nvSpPr>
          <p:cNvPr id="10" name="Rounded Rectangle 9"/>
          <p:cNvSpPr/>
          <p:nvPr/>
        </p:nvSpPr>
        <p:spPr>
          <a:xfrm>
            <a:off x="749808" y="3913632"/>
            <a:ext cx="5129784" cy="1298448"/>
          </a:xfrm>
          <a:prstGeom prst="roundRect">
            <a:avLst>
              <a:gd name="adj" fmla="val 8000"/>
            </a:avLst>
          </a:prstGeom>
          <a:solidFill>
            <a:srgbClr val="FEF2F2"/>
          </a:solidFill>
          <a:ln w="12700">
            <a:solidFill>
              <a:srgbClr val="C241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151376"/>
            <a:ext cx="1645920" cy="219456"/>
          </a:xfrm>
          <a:prstGeom prst="rect">
            <a:avLst/>
          </a:prstGeom>
          <a:noFill/>
        </p:spPr>
        <p:txBody>
          <a:bodyPr wrap="square" anchor="t" lIns="18288" rIns="18288" tIns="18288" bIns="18288">
            <a:spAutoFit/>
          </a:bodyPr>
          <a:lstStyle/>
          <a:p>
            <a:pPr algn="l">
              <a:spcAft>
                <a:spcPts val="0"/>
              </a:spcAft>
            </a:pPr>
            <a:r>
              <a:rPr sz="1100" b="1">
                <a:solidFill>
                  <a:srgbClr val="C2413A"/>
                </a:solidFill>
                <a:latin typeface="Arial"/>
              </a:rPr>
              <a:t>IF IT FAILS</a:t>
            </a:r>
          </a:p>
        </p:txBody>
      </p:sp>
      <p:sp>
        <p:nvSpPr>
          <p:cNvPr id="12" name="TextBox 11"/>
          <p:cNvSpPr txBox="1"/>
          <p:nvPr/>
        </p:nvSpPr>
        <p:spPr>
          <a:xfrm>
            <a:off x="1033271" y="4517136"/>
            <a:ext cx="4498848" cy="475488"/>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When a system test fails, localise the fault by rerunning domain then bridge tests before editing UI code.</a:t>
            </a:r>
          </a:p>
        </p:txBody>
      </p:sp>
      <p:sp>
        <p:nvSpPr>
          <p:cNvPr id="13" name="Rounded Rectangle 12"/>
          <p:cNvSpPr/>
          <p:nvPr/>
        </p:nvSpPr>
        <p:spPr>
          <a:xfrm>
            <a:off x="6181344" y="3913632"/>
            <a:ext cx="5221224" cy="12984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4151376"/>
            <a:ext cx="2194560" cy="219456"/>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LEAVE THE WORKSPACE</a:t>
            </a:r>
          </a:p>
        </p:txBody>
      </p:sp>
      <p:sp>
        <p:nvSpPr>
          <p:cNvPr id="15" name="TextBox 14"/>
          <p:cNvSpPr txBox="1"/>
          <p:nvPr/>
        </p:nvSpPr>
        <p:spPr>
          <a:xfrm>
            <a:off x="6464808" y="4517136"/>
            <a:ext cx="4590288" cy="475488"/>
          </a:xfrm>
          <a:prstGeom prst="rect">
            <a:avLst/>
          </a:prstGeom>
          <a:noFill/>
        </p:spPr>
        <p:txBody>
          <a:bodyPr wrap="square" anchor="t" lIns="18288" rIns="18288" tIns="18288" bIns="18288">
            <a:spAutoFit/>
          </a:bodyPr>
          <a:lstStyle/>
          <a:p>
            <a:pPr algn="l">
              <a:spcAft>
                <a:spcPts val="0"/>
              </a:spcAft>
            </a:pPr>
            <a:r>
              <a:rPr sz="1200" b="0">
                <a:solidFill>
                  <a:srgbClr val="161B26"/>
                </a:solidFill>
                <a:latin typeface="Arial"/>
              </a:rPr>
              <a:t>Remove local build caches and secrets; retain source, fixtures, tests and evidence pack.</a:t>
            </a:r>
          </a:p>
        </p:txBody>
      </p:sp>
      <p:sp>
        <p:nvSpPr>
          <p:cNvPr id="16" name="TextBox 15"/>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7" name="TextBox 16"/>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18" name="TextBox 17"/>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251</a:t>
            </a:r>
          </a:p>
        </p:txBody>
      </p:sp>
    </p:spTree>
  </p:cSld>
  <p:clrMapOvr>
    <a:masterClrMapping/>
  </p:clrMapOvr>
  <p:transition advClick="1" spd="fast">
    <p:fade/>
  </p:transition>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RETRIEVAL PRACTICE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Topic 5 · Review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Explain</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LO5: Generate C++ design documentation aligned with user specifications.</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LO5 · K5 · A5</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Demonstrate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Show the Activity evidence that operationalises the outcome.</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LO5 · K5 · A5</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Diagnose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Name the failure signal and the layer where it originates.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LO5 · K5 · A5</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Trace</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Connect LO5 · K5 · A5 to the assessment and evidence pack.</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LO5 · K5 · A5</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Do not advance on confidence alone; point to the artifact or test result that supports the answer.</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252</a:t>
            </a:r>
          </a:p>
        </p:txBody>
      </p:sp>
    </p:spTree>
  </p:cSld>
  <p:clrMapOvr>
    <a:masterClrMapping/>
  </p:clrMapOvr>
  <p:transition advClick="1" spd="fast">
    <p:fade/>
  </p:transition>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TRAINER DEMO / FUTURE CREDENTIALLED GATE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500" b="1">
                <a:solidFill>
                  <a:srgbClr val="161B26"/>
                </a:solidFill>
                <a:latin typeface="Arial"/>
              </a:rPr>
              <a:t>App Store Connect · Evidence Gates, Not a Submission Claim</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1965960"/>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53312" y="2322576"/>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50976"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Prepare identity</a:t>
            </a:r>
          </a:p>
        </p:txBody>
      </p:sp>
      <p:cxnSp>
        <p:nvCxnSpPr>
          <p:cNvPr id="12" name="Connector 11"/>
          <p:cNvCxnSpPr/>
          <p:nvPr/>
        </p:nvCxnSpPr>
        <p:spPr>
          <a:xfrm>
            <a:off x="2706624" y="3127248"/>
            <a:ext cx="749808"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87368" y="2322576"/>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685032"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Archive + validate</a:t>
            </a:r>
          </a:p>
        </p:txBody>
      </p:sp>
      <p:cxnSp>
        <p:nvCxnSpPr>
          <p:cNvPr id="18" name="Connector 17"/>
          <p:cNvCxnSpPr/>
          <p:nvPr/>
        </p:nvCxnSpPr>
        <p:spPr>
          <a:xfrm>
            <a:off x="5440680" y="3127248"/>
            <a:ext cx="749808"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965960"/>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21424" y="2322576"/>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21424"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6419088"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Complete listing</a:t>
            </a:r>
          </a:p>
        </p:txBody>
      </p:sp>
      <p:cxnSp>
        <p:nvCxnSpPr>
          <p:cNvPr id="24" name="Connector 23"/>
          <p:cNvCxnSpPr/>
          <p:nvPr/>
        </p:nvCxnSpPr>
        <p:spPr>
          <a:xfrm>
            <a:off x="8174736" y="3127248"/>
            <a:ext cx="749808"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965960"/>
            <a:ext cx="1874519" cy="239572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1965960"/>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55480" y="2322576"/>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468880"/>
            <a:ext cx="749808" cy="347472"/>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9153144" y="3337560"/>
            <a:ext cx="1545336" cy="621792"/>
          </a:xfrm>
          <a:prstGeom prst="rect">
            <a:avLst/>
          </a:prstGeom>
          <a:noFill/>
        </p:spPr>
        <p:txBody>
          <a:bodyPr wrap="square" anchor="ctr" lIns="18288" rIns="18288" tIns="18288" bIns="18288">
            <a:spAutoFit/>
          </a:bodyPr>
          <a:lstStyle/>
          <a:p>
            <a:pPr algn="ctr">
              <a:spcAft>
                <a:spcPts val="0"/>
              </a:spcAft>
            </a:pPr>
            <a:r>
              <a:rPr sz="1400" b="1">
                <a:solidFill>
                  <a:srgbClr val="161B26"/>
                </a:solidFill>
                <a:latin typeface="Arial"/>
              </a:rPr>
              <a:t>Attach, submit, read back</a:t>
            </a:r>
          </a:p>
        </p:txBody>
      </p:sp>
      <p:sp>
        <p:nvSpPr>
          <p:cNvPr id="30" name="Rounded Rectangle 29"/>
          <p:cNvSpPr/>
          <p:nvPr/>
        </p:nvSpPr>
        <p:spPr>
          <a:xfrm>
            <a:off x="786384" y="4645152"/>
            <a:ext cx="10076688" cy="877824"/>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818888"/>
            <a:ext cx="1554480" cy="201168"/>
          </a:xfrm>
          <a:prstGeom prst="rect">
            <a:avLst/>
          </a:prstGeom>
          <a:noFill/>
        </p:spPr>
        <p:txBody>
          <a:bodyPr wrap="square" anchor="t" lIns="18288" rIns="18288" tIns="18288" bIns="18288">
            <a:spAutoFit/>
          </a:bodyPr>
          <a:lstStyle/>
          <a:p>
            <a:pPr algn="l">
              <a:spcAft>
                <a:spcPts val="0"/>
              </a:spcAft>
            </a:pPr>
            <a:r>
              <a:rPr sz="1100" b="1">
                <a:solidFill>
                  <a:srgbClr val="10B981"/>
                </a:solidFill>
                <a:latin typeface="Arial"/>
              </a:rPr>
              <a:t>MECHANISM</a:t>
            </a:r>
          </a:p>
        </p:txBody>
      </p:sp>
      <p:sp>
        <p:nvSpPr>
          <p:cNvPr id="32" name="TextBox 31"/>
          <p:cNvSpPr txBox="1"/>
          <p:nvPr/>
        </p:nvSpPr>
        <p:spPr>
          <a:xfrm>
            <a:off x="2240280" y="4764024"/>
            <a:ext cx="8284464" cy="365760"/>
          </a:xfrm>
          <a:prstGeom prst="rect">
            <a:avLst/>
          </a:prstGeom>
          <a:noFill/>
        </p:spPr>
        <p:txBody>
          <a:bodyPr wrap="square" anchor="t" lIns="18288" rIns="18288" tIns="18288" bIns="18288">
            <a:spAutoFit/>
          </a:bodyPr>
          <a:lstStyle/>
          <a:p>
            <a:pPr algn="l">
              <a:spcAft>
                <a:spcPts val="0"/>
              </a:spcAft>
            </a:pPr>
            <a:r>
              <a:rPr sz="1200" b="1">
                <a:solidFill>
                  <a:srgbClr val="161B26"/>
                </a:solidFill>
                <a:latin typeface="Arial"/>
              </a:rPr>
              <a:t>Local PASS covers XcodeGen, build, tests, Simulator and reviewed assets. Signing, upload, metadata, screenshots, privacy, age rating, availability, build attachment and submission remain HOLD until executed and read back by an authorised trainer.</a:t>
            </a:r>
          </a:p>
        </p:txBody>
      </p:sp>
      <p:sp>
        <p:nvSpPr>
          <p:cNvPr id="33" name="TextBox 32"/>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4" name="TextBox 33"/>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35" name="TextBox 34"/>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253</a:t>
            </a:r>
          </a:p>
        </p:txBody>
      </p:sp>
    </p:spTree>
  </p:cSld>
  <p:clrMapOvr>
    <a:masterClrMapping/>
  </p:clrMapOvr>
  <p:transition advClick="1" spd="fast">
    <p:fade/>
  </p:transition>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7C3AED"/>
                </a:solidFill>
                <a:latin typeface="Arial"/>
              </a:rPr>
              <a:t>COPY / ADAPT · KEEP EXTERNAL GATES HOLD</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App Store Connect · Bounded Release Prompt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64208"/>
            <a:ext cx="7360920" cy="4462272"/>
          </a:xfrm>
          <a:prstGeom prst="roundRect">
            <a:avLst>
              <a:gd name="adj" fmla="val 8000"/>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1993392"/>
            <a:ext cx="6784848" cy="3529584"/>
          </a:xfrm>
          <a:prstGeom prst="rect">
            <a:avLst/>
          </a:prstGeom>
          <a:noFill/>
        </p:spPr>
        <p:txBody>
          <a:bodyPr wrap="square" anchor="t" lIns="18288" rIns="18288" tIns="18288" bIns="18288">
            <a:spAutoFit/>
          </a:bodyPr>
          <a:lstStyle/>
          <a:p>
            <a:pPr algn="l">
              <a:spcAft>
                <a:spcPts val="0"/>
              </a:spcAft>
            </a:pPr>
            <a:r>
              <a:rPr sz="1300" b="0">
                <a:solidFill>
                  <a:srgbClr val="D2E4FF"/>
                </a:solidFill>
                <a:latin typeface="Courier New"/>
              </a:rPr>
              <a:t>Audit the selected app identity, version/build, Release settings, opaque 1024px icon, privacy manifest, required-reason APIs and test evidence. Prepare complete archive/export/upload commands and checklists for metadata, real-app screenshots, App Privacy, age rating, rights, price and explicit availability. Then define processed-build attachment, submission and Apple-side readback evidence. Never invent identifiers or credentials; never claim a gated action ran. Mark signing, upload and real ASC mutations TRAINER DEMO / FUTURE CREDENTIALLED GATE and HOLD until read back.</a:t>
            </a:r>
          </a:p>
        </p:txBody>
      </p:sp>
      <p:sp>
        <p:nvSpPr>
          <p:cNvPr id="9" name="Rounded Rectangle 8"/>
          <p:cNvSpPr/>
          <p:nvPr/>
        </p:nvSpPr>
        <p:spPr>
          <a:xfrm>
            <a:off x="8275320" y="1664208"/>
            <a:ext cx="3218688" cy="1216152"/>
          </a:xfrm>
          <a:prstGeom prst="roundRect">
            <a:avLst>
              <a:gd name="adj" fmla="val 8000"/>
            </a:avLst>
          </a:prstGeom>
          <a:solidFill>
            <a:srgbClr val="F5F8FC"/>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22208" y="1847088"/>
            <a:ext cx="2697480" cy="173736"/>
          </a:xfrm>
          <a:prstGeom prst="rect">
            <a:avLst/>
          </a:prstGeom>
          <a:noFill/>
        </p:spPr>
        <p:txBody>
          <a:bodyPr wrap="square" anchor="t" lIns="18288" rIns="18288" tIns="18288" bIns="18288">
            <a:spAutoFit/>
          </a:bodyPr>
          <a:lstStyle/>
          <a:p>
            <a:pPr algn="l">
              <a:spcAft>
                <a:spcPts val="0"/>
              </a:spcAft>
            </a:pPr>
            <a:r>
              <a:rPr sz="900" b="1">
                <a:solidFill>
                  <a:srgbClr val="10B981"/>
                </a:solidFill>
                <a:latin typeface="Arial"/>
              </a:rPr>
              <a:t>LOCAL PASS</a:t>
            </a:r>
          </a:p>
        </p:txBody>
      </p:sp>
      <p:sp>
        <p:nvSpPr>
          <p:cNvPr id="11" name="TextBox 10"/>
          <p:cNvSpPr txBox="1"/>
          <p:nvPr/>
        </p:nvSpPr>
        <p:spPr>
          <a:xfrm>
            <a:off x="8522208" y="2130552"/>
            <a:ext cx="2697480" cy="548640"/>
          </a:xfrm>
          <a:prstGeom prst="rect">
            <a:avLst/>
          </a:prstGeom>
          <a:noFill/>
        </p:spPr>
        <p:txBody>
          <a:bodyPr wrap="square" anchor="t" lIns="18288" rIns="18288" tIns="18288" bIns="18288">
            <a:spAutoFit/>
          </a:bodyPr>
          <a:lstStyle/>
          <a:p>
            <a:pPr algn="l">
              <a:spcAft>
                <a:spcPts val="0"/>
              </a:spcAft>
            </a:pPr>
            <a:r>
              <a:rPr sz="969" b="1">
                <a:solidFill>
                  <a:srgbClr val="161B26"/>
                </a:solidFill>
                <a:latin typeface="Arial"/>
              </a:rPr>
              <a:t>Generate · build · Swift Testing · XCTest UI · Simulator · icon/privacy inspection</a:t>
            </a:r>
          </a:p>
        </p:txBody>
      </p:sp>
      <p:sp>
        <p:nvSpPr>
          <p:cNvPr id="12" name="Rounded Rectangle 11"/>
          <p:cNvSpPr/>
          <p:nvPr/>
        </p:nvSpPr>
        <p:spPr>
          <a:xfrm>
            <a:off x="8275320" y="3154680"/>
            <a:ext cx="3218688" cy="1216152"/>
          </a:xfrm>
          <a:prstGeom prst="roundRect">
            <a:avLst>
              <a:gd name="adj" fmla="val 8000"/>
            </a:avLst>
          </a:prstGeom>
          <a:solidFill>
            <a:srgbClr val="F5F8FC"/>
          </a:solidFill>
          <a:ln w="12700">
            <a:solidFill>
              <a:srgbClr val="C77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22208" y="3337560"/>
            <a:ext cx="2697480" cy="173736"/>
          </a:xfrm>
          <a:prstGeom prst="rect">
            <a:avLst/>
          </a:prstGeom>
          <a:noFill/>
        </p:spPr>
        <p:txBody>
          <a:bodyPr wrap="square" anchor="t" lIns="18288" rIns="18288" tIns="18288" bIns="18288">
            <a:spAutoFit/>
          </a:bodyPr>
          <a:lstStyle/>
          <a:p>
            <a:pPr algn="l">
              <a:spcAft>
                <a:spcPts val="0"/>
              </a:spcAft>
            </a:pPr>
            <a:r>
              <a:rPr sz="900" b="1">
                <a:solidFill>
                  <a:srgbClr val="C77600"/>
                </a:solidFill>
                <a:latin typeface="Arial"/>
              </a:rPr>
              <a:t>EXTERNAL HOLD</a:t>
            </a:r>
          </a:p>
        </p:txBody>
      </p:sp>
      <p:sp>
        <p:nvSpPr>
          <p:cNvPr id="14" name="TextBox 13"/>
          <p:cNvSpPr txBox="1"/>
          <p:nvPr/>
        </p:nvSpPr>
        <p:spPr>
          <a:xfrm>
            <a:off x="8522208" y="3621024"/>
            <a:ext cx="2697480" cy="548640"/>
          </a:xfrm>
          <a:prstGeom prst="rect">
            <a:avLst/>
          </a:prstGeom>
          <a:noFill/>
        </p:spPr>
        <p:txBody>
          <a:bodyPr wrap="square" anchor="t" lIns="18288" rIns="18288" tIns="18288" bIns="18288">
            <a:spAutoFit/>
          </a:bodyPr>
          <a:lstStyle/>
          <a:p>
            <a:pPr algn="l">
              <a:spcAft>
                <a:spcPts val="0"/>
              </a:spcAft>
            </a:pPr>
            <a:r>
              <a:rPr sz="969" b="1">
                <a:solidFill>
                  <a:srgbClr val="161B26"/>
                </a:solidFill>
                <a:latin typeface="Arial"/>
              </a:rPr>
              <a:t>Sign · archive · upload · listing · privacy · age · availability · submit</a:t>
            </a:r>
          </a:p>
        </p:txBody>
      </p:sp>
      <p:sp>
        <p:nvSpPr>
          <p:cNvPr id="15" name="Rounded Rectangle 14"/>
          <p:cNvSpPr/>
          <p:nvPr/>
        </p:nvSpPr>
        <p:spPr>
          <a:xfrm>
            <a:off x="8275320" y="4645152"/>
            <a:ext cx="3218688" cy="1216152"/>
          </a:xfrm>
          <a:prstGeom prst="roundRect">
            <a:avLst>
              <a:gd name="adj" fmla="val 8000"/>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22208" y="4828032"/>
            <a:ext cx="2697480" cy="173736"/>
          </a:xfrm>
          <a:prstGeom prst="rect">
            <a:avLst/>
          </a:prstGeom>
          <a:noFill/>
        </p:spPr>
        <p:txBody>
          <a:bodyPr wrap="square" anchor="t" lIns="18288" rIns="18288" tIns="18288" bIns="18288">
            <a:spAutoFit/>
          </a:bodyPr>
          <a:lstStyle/>
          <a:p>
            <a:pPr algn="l">
              <a:spcAft>
                <a:spcPts val="0"/>
              </a:spcAft>
            </a:pPr>
            <a:r>
              <a:rPr sz="900" b="1">
                <a:solidFill>
                  <a:srgbClr val="1F6FEB"/>
                </a:solidFill>
                <a:latin typeface="Arial"/>
              </a:rPr>
              <a:t>DONE ONLY WHEN</a:t>
            </a:r>
          </a:p>
        </p:txBody>
      </p:sp>
      <p:sp>
        <p:nvSpPr>
          <p:cNvPr id="17" name="TextBox 16"/>
          <p:cNvSpPr txBox="1"/>
          <p:nvPr/>
        </p:nvSpPr>
        <p:spPr>
          <a:xfrm>
            <a:off x="8522208" y="5111496"/>
            <a:ext cx="2697480" cy="548640"/>
          </a:xfrm>
          <a:prstGeom prst="rect">
            <a:avLst/>
          </a:prstGeom>
          <a:noFill/>
        </p:spPr>
        <p:txBody>
          <a:bodyPr wrap="square" anchor="t" lIns="18288" rIns="18288" tIns="18288" bIns="18288">
            <a:spAutoFit/>
          </a:bodyPr>
          <a:lstStyle/>
          <a:p>
            <a:pPr algn="l">
              <a:spcAft>
                <a:spcPts val="0"/>
              </a:spcAft>
            </a:pPr>
            <a:r>
              <a:rPr sz="969" b="1">
                <a:solidFill>
                  <a:srgbClr val="161B26"/>
                </a:solidFill>
                <a:latin typeface="Arial"/>
              </a:rPr>
              <a:t>Identity, build, availability and review state are read back from Apple</a:t>
            </a:r>
          </a:p>
        </p:txBody>
      </p:sp>
      <p:sp>
        <p:nvSpPr>
          <p:cNvPr id="18" name="TextBox 17"/>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19" name="TextBox 18"/>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0" name="TextBox 19"/>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254</a:t>
            </a:r>
          </a:p>
        </p:txBody>
      </p:sp>
    </p:spTree>
  </p:cSld>
  <p:clrMapOvr>
    <a:masterClrMapping/>
  </p:clrMapOvr>
  <p:transition advClick="1" spd="fast">
    <p:fade/>
  </p:transition>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REAL RUNTIME EVIDENCE · XCODE 26.6</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Three Apps · Proven in the iPhone Simulator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481328"/>
            <a:ext cx="3310128" cy="455371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BudgetBuddy.png"/>
          <p:cNvPicPr>
            <a:picLocks noChangeAspect="1"/>
          </p:cNvPicPr>
          <p:nvPr/>
        </p:nvPicPr>
        <p:blipFill>
          <a:blip r:embed="rId2"/>
          <a:srcRect t="4500"/>
          <a:stretch>
            <a:fillRect/>
          </a:stretch>
        </p:blipFill>
        <p:spPr>
          <a:xfrm>
            <a:off x="822959" y="1673352"/>
            <a:ext cx="1609344" cy="3502152"/>
          </a:xfrm>
          <a:prstGeom prst="rect">
            <a:avLst/>
          </a:prstGeom>
        </p:spPr>
      </p:pic>
      <p:sp>
        <p:nvSpPr>
          <p:cNvPr id="9" name="TextBox 8"/>
          <p:cNvSpPr txBox="1"/>
          <p:nvPr/>
        </p:nvSpPr>
        <p:spPr>
          <a:xfrm>
            <a:off x="2560320" y="1792224"/>
            <a:ext cx="1152144" cy="347472"/>
          </a:xfrm>
          <a:prstGeom prst="rect">
            <a:avLst/>
          </a:prstGeom>
          <a:noFill/>
        </p:spPr>
        <p:txBody>
          <a:bodyPr wrap="square" anchor="t" lIns="18288" rIns="18288" tIns="18288" bIns="18288">
            <a:spAutoFit/>
          </a:bodyPr>
          <a:lstStyle/>
          <a:p>
            <a:pPr algn="l">
              <a:spcAft>
                <a:spcPts val="0"/>
              </a:spcAft>
            </a:pPr>
            <a:r>
              <a:rPr sz="1300" b="1">
                <a:solidFill>
                  <a:srgbClr val="1F6FEB"/>
                </a:solidFill>
                <a:latin typeface="Arial"/>
              </a:rPr>
              <a:t>BudgetBuddy</a:t>
            </a:r>
          </a:p>
        </p:txBody>
      </p:sp>
      <p:sp>
        <p:nvSpPr>
          <p:cNvPr id="10" name="TextBox 9"/>
          <p:cNvSpPr txBox="1"/>
          <p:nvPr/>
        </p:nvSpPr>
        <p:spPr>
          <a:xfrm>
            <a:off x="2560320" y="2295144"/>
            <a:ext cx="1133856" cy="1938528"/>
          </a:xfrm>
          <a:prstGeom prst="rect">
            <a:avLst/>
          </a:prstGeom>
          <a:noFill/>
        </p:spPr>
        <p:txBody>
          <a:bodyPr wrap="square" anchor="t" lIns="18288" rIns="18288" tIns="18288" bIns="18288">
            <a:spAutoFit/>
          </a:bodyPr>
          <a:lstStyle/>
          <a:p>
            <a:pPr algn="l">
              <a:spcAft>
                <a:spcPts val="0"/>
              </a:spcAft>
            </a:pPr>
            <a:r>
              <a:rPr sz="1040" b="1">
                <a:solidFill>
                  <a:srgbClr val="161B26"/>
                </a:solidFill>
                <a:latin typeface="Arial"/>
              </a:rPr>
              <a:t>Exact-cent save routes through Objective-C++ into the C++ policy.</a:t>
            </a:r>
          </a:p>
        </p:txBody>
      </p:sp>
      <p:sp>
        <p:nvSpPr>
          <p:cNvPr id="11" name="TextBox 10"/>
          <p:cNvSpPr txBox="1"/>
          <p:nvPr/>
        </p:nvSpPr>
        <p:spPr>
          <a:xfrm>
            <a:off x="2560320" y="4919472"/>
            <a:ext cx="1115568" cy="384048"/>
          </a:xfrm>
          <a:prstGeom prst="rect">
            <a:avLst/>
          </a:prstGeom>
          <a:noFill/>
        </p:spPr>
        <p:txBody>
          <a:bodyPr wrap="square" anchor="t" lIns="18288" rIns="18288" tIns="18288" bIns="18288">
            <a:spAutoFit/>
          </a:bodyPr>
          <a:lstStyle/>
          <a:p>
            <a:pPr algn="l">
              <a:spcAft>
                <a:spcPts val="0"/>
              </a:spcAft>
            </a:pPr>
            <a:r>
              <a:rPr sz="819" b="1">
                <a:solidFill>
                  <a:srgbClr val="1F6FEB"/>
                </a:solidFill>
                <a:latin typeface="Arial"/>
              </a:rPr>
              <a:t>BUILD + TEST + LAUNCH</a:t>
            </a:r>
          </a:p>
        </p:txBody>
      </p:sp>
      <p:sp>
        <p:nvSpPr>
          <p:cNvPr id="12" name="Rounded Rectangle 11"/>
          <p:cNvSpPr/>
          <p:nvPr/>
        </p:nvSpPr>
        <p:spPr>
          <a:xfrm>
            <a:off x="4315968" y="1481328"/>
            <a:ext cx="3310128" cy="455371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ocusCards.png"/>
          <p:cNvPicPr>
            <a:picLocks noChangeAspect="1"/>
          </p:cNvPicPr>
          <p:nvPr/>
        </p:nvPicPr>
        <p:blipFill>
          <a:blip r:embed="rId3"/>
          <a:srcRect t="4500"/>
          <a:stretch>
            <a:fillRect/>
          </a:stretch>
        </p:blipFill>
        <p:spPr>
          <a:xfrm>
            <a:off x="4480559" y="1673352"/>
            <a:ext cx="1609344" cy="3502152"/>
          </a:xfrm>
          <a:prstGeom prst="rect">
            <a:avLst/>
          </a:prstGeom>
        </p:spPr>
      </p:pic>
      <p:sp>
        <p:nvSpPr>
          <p:cNvPr id="14" name="TextBox 13"/>
          <p:cNvSpPr txBox="1"/>
          <p:nvPr/>
        </p:nvSpPr>
        <p:spPr>
          <a:xfrm>
            <a:off x="6217920" y="1792224"/>
            <a:ext cx="1152144" cy="347472"/>
          </a:xfrm>
          <a:prstGeom prst="rect">
            <a:avLst/>
          </a:prstGeom>
          <a:noFill/>
        </p:spPr>
        <p:txBody>
          <a:bodyPr wrap="square" anchor="t" lIns="18288" rIns="18288" tIns="18288" bIns="18288">
            <a:spAutoFit/>
          </a:bodyPr>
          <a:lstStyle/>
          <a:p>
            <a:pPr algn="l">
              <a:spcAft>
                <a:spcPts val="0"/>
              </a:spcAft>
            </a:pPr>
            <a:r>
              <a:rPr sz="1300" b="1">
                <a:solidFill>
                  <a:srgbClr val="7C3AED"/>
                </a:solidFill>
                <a:latin typeface="Arial"/>
              </a:rPr>
              <a:t>FocusCards</a:t>
            </a:r>
          </a:p>
        </p:txBody>
      </p:sp>
      <p:sp>
        <p:nvSpPr>
          <p:cNvPr id="15" name="TextBox 14"/>
          <p:cNvSpPr txBox="1"/>
          <p:nvPr/>
        </p:nvSpPr>
        <p:spPr>
          <a:xfrm>
            <a:off x="6217920" y="2295144"/>
            <a:ext cx="1133856" cy="1938528"/>
          </a:xfrm>
          <a:prstGeom prst="rect">
            <a:avLst/>
          </a:prstGeom>
          <a:noFill/>
        </p:spPr>
        <p:txBody>
          <a:bodyPr wrap="square" anchor="t" lIns="18288" rIns="18288" tIns="18288" bIns="18288">
            <a:spAutoFit/>
          </a:bodyPr>
          <a:lstStyle/>
          <a:p>
            <a:pPr algn="l">
              <a:spcAft>
                <a:spcPts val="0"/>
              </a:spcAft>
            </a:pPr>
            <a:r>
              <a:rPr sz="1040" b="1">
                <a:solidFill>
                  <a:srgbClr val="161B26"/>
                </a:solidFill>
                <a:latin typeface="Arial"/>
              </a:rPr>
              <a:t>Reveal/advance state is generated with Observation and verified by tests.</a:t>
            </a:r>
          </a:p>
        </p:txBody>
      </p:sp>
      <p:sp>
        <p:nvSpPr>
          <p:cNvPr id="16" name="TextBox 15"/>
          <p:cNvSpPr txBox="1"/>
          <p:nvPr/>
        </p:nvSpPr>
        <p:spPr>
          <a:xfrm>
            <a:off x="6217920" y="4919472"/>
            <a:ext cx="1115568" cy="384048"/>
          </a:xfrm>
          <a:prstGeom prst="rect">
            <a:avLst/>
          </a:prstGeom>
          <a:noFill/>
        </p:spPr>
        <p:txBody>
          <a:bodyPr wrap="square" anchor="t" lIns="18288" rIns="18288" tIns="18288" bIns="18288">
            <a:spAutoFit/>
          </a:bodyPr>
          <a:lstStyle/>
          <a:p>
            <a:pPr algn="l">
              <a:spcAft>
                <a:spcPts val="0"/>
              </a:spcAft>
            </a:pPr>
            <a:r>
              <a:rPr sz="819" b="1">
                <a:solidFill>
                  <a:srgbClr val="7C3AED"/>
                </a:solidFill>
                <a:latin typeface="Arial"/>
              </a:rPr>
              <a:t>BUILD + TEST + LAUNCH</a:t>
            </a:r>
          </a:p>
        </p:txBody>
      </p:sp>
      <p:sp>
        <p:nvSpPr>
          <p:cNvPr id="17" name="Rounded Rectangle 16"/>
          <p:cNvSpPr/>
          <p:nvPr/>
        </p:nvSpPr>
        <p:spPr>
          <a:xfrm>
            <a:off x="7973568" y="1481328"/>
            <a:ext cx="3310128" cy="4553712"/>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abitPulse.png"/>
          <p:cNvPicPr>
            <a:picLocks noChangeAspect="1"/>
          </p:cNvPicPr>
          <p:nvPr/>
        </p:nvPicPr>
        <p:blipFill>
          <a:blip r:embed="rId4"/>
          <a:srcRect t="4500"/>
          <a:stretch>
            <a:fillRect/>
          </a:stretch>
        </p:blipFill>
        <p:spPr>
          <a:xfrm>
            <a:off x="8138160" y="1673352"/>
            <a:ext cx="1609344" cy="3502152"/>
          </a:xfrm>
          <a:prstGeom prst="rect">
            <a:avLst/>
          </a:prstGeom>
        </p:spPr>
      </p:pic>
      <p:sp>
        <p:nvSpPr>
          <p:cNvPr id="19" name="TextBox 18"/>
          <p:cNvSpPr txBox="1"/>
          <p:nvPr/>
        </p:nvSpPr>
        <p:spPr>
          <a:xfrm>
            <a:off x="9875520" y="1792224"/>
            <a:ext cx="1152144" cy="347472"/>
          </a:xfrm>
          <a:prstGeom prst="rect">
            <a:avLst/>
          </a:prstGeom>
          <a:noFill/>
        </p:spPr>
        <p:txBody>
          <a:bodyPr wrap="square" anchor="t" lIns="18288" rIns="18288" tIns="18288" bIns="18288">
            <a:spAutoFit/>
          </a:bodyPr>
          <a:lstStyle/>
          <a:p>
            <a:pPr algn="l">
              <a:spcAft>
                <a:spcPts val="0"/>
              </a:spcAft>
            </a:pPr>
            <a:r>
              <a:rPr sz="1300" b="1">
                <a:solidFill>
                  <a:srgbClr val="10B981"/>
                </a:solidFill>
                <a:latin typeface="Arial"/>
              </a:rPr>
              <a:t>HabitPulse</a:t>
            </a:r>
          </a:p>
        </p:txBody>
      </p:sp>
      <p:sp>
        <p:nvSpPr>
          <p:cNvPr id="20" name="TextBox 19"/>
          <p:cNvSpPr txBox="1"/>
          <p:nvPr/>
        </p:nvSpPr>
        <p:spPr>
          <a:xfrm>
            <a:off x="9875520" y="2295144"/>
            <a:ext cx="1133856" cy="1938528"/>
          </a:xfrm>
          <a:prstGeom prst="rect">
            <a:avLst/>
          </a:prstGeom>
          <a:noFill/>
        </p:spPr>
        <p:txBody>
          <a:bodyPr wrap="square" anchor="t" lIns="18288" rIns="18288" tIns="18288" bIns="18288">
            <a:spAutoFit/>
          </a:bodyPr>
          <a:lstStyle/>
          <a:p>
            <a:pPr algn="l">
              <a:spcAft>
                <a:spcPts val="0"/>
              </a:spcAft>
            </a:pPr>
            <a:r>
              <a:rPr sz="1040" b="1">
                <a:solidFill>
                  <a:srgbClr val="161B26"/>
                </a:solidFill>
                <a:latin typeface="Arial"/>
              </a:rPr>
              <a:t>Stable-identity habit actions expose the red → repair → green routine.</a:t>
            </a:r>
          </a:p>
        </p:txBody>
      </p:sp>
      <p:sp>
        <p:nvSpPr>
          <p:cNvPr id="21" name="TextBox 20"/>
          <p:cNvSpPr txBox="1"/>
          <p:nvPr/>
        </p:nvSpPr>
        <p:spPr>
          <a:xfrm>
            <a:off x="9875520" y="4919472"/>
            <a:ext cx="1115568" cy="384048"/>
          </a:xfrm>
          <a:prstGeom prst="rect">
            <a:avLst/>
          </a:prstGeom>
          <a:noFill/>
        </p:spPr>
        <p:txBody>
          <a:bodyPr wrap="square" anchor="t" lIns="18288" rIns="18288" tIns="18288" bIns="18288">
            <a:spAutoFit/>
          </a:bodyPr>
          <a:lstStyle/>
          <a:p>
            <a:pPr algn="l">
              <a:spcAft>
                <a:spcPts val="0"/>
              </a:spcAft>
            </a:pPr>
            <a:r>
              <a:rPr sz="819" b="1">
                <a:solidFill>
                  <a:srgbClr val="10B981"/>
                </a:solidFill>
                <a:latin typeface="Arial"/>
              </a:rPr>
              <a:t>BUILD + TEST + LAUNCH</a:t>
            </a:r>
          </a:p>
        </p:txBody>
      </p:sp>
      <p:sp>
        <p:nvSpPr>
          <p:cNvPr id="22" name="TextBox 2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23" name="TextBox 2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24" name="TextBox 2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255</a:t>
            </a:r>
          </a:p>
        </p:txBody>
      </p:sp>
    </p:spTree>
  </p:cSld>
  <p:clrMapOvr>
    <a:masterClrMapping/>
  </p:clrMapOvr>
  <p:transition advClick="1" spd="fast">
    <p:fade/>
  </p:transition>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LMS WORKFLOW</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Download Course Material</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1 · Sign in</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Open the LMS using your assigned learner account.</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LMS</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2 · Open course</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Confirm TGS-2023037545 and the full course title.</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LMS</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3 · Download</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Use the Learner Guide PDF and Activity folders for detailed procedures.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LMS</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4 · Submit</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Upload completed assessment documents to the same course record.</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LMS</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Always confirm course identity before downloading or submitting.</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257</a:t>
            </a:r>
          </a:p>
        </p:txBody>
      </p:sp>
      <p:sp>
        <p:nvSpPr>
          <p:cNvPr id="45" name="TextBox 44"/>
          <p:cNvSpPr txBox="1"/>
          <p:nvPr/>
        </p:nvSpPr>
        <p:spPr>
          <a:xfrm>
            <a:off x="4160520" y="5879592"/>
            <a:ext cx="388620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hlinkClick r:id="rId3"/>
              </a:rPr>
              <a:t>https://lms-tms.tertiaryinfotech.com/</a:t>
            </a:r>
          </a:p>
        </p:txBody>
      </p:sp>
    </p:spTree>
  </p:cSld>
  <p:clrMapOvr>
    <a:masterClrMapping/>
  </p:clrMapOvr>
  <p:transition advClick="1" spd="fast">
    <p:fade/>
  </p:transition>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CLOSING ADMINISTRATION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Assessment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WA</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Five open-ended questions covering K1–K5.</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ASSESSMENT</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PP</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Three practical tasks covering A1–A5.</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ASSESSMENT</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Time</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One hour for each instrument.</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ASSESSMENT</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Submit</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Upload candidate papers to the LMS and retain confirmation.</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ASSESSMENT</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Answer keys remain trainer-only.</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258</a:t>
            </a:r>
          </a:p>
        </p:txBody>
      </p:sp>
    </p:spTree>
  </p:cSld>
  <p:clrMapOvr>
    <a:masterClrMapping/>
  </p:clrMapOvr>
  <p:transition advClick="1" spd="fast">
    <p:fade/>
  </p:transition>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0B981"/>
                </a:solidFill>
                <a:latin typeface="Arial"/>
              </a:rPr>
              <a:t>ASSESSMENT ADMINISTRATION</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Assessment Flow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74519"/>
            <a:ext cx="1874519" cy="288036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39595" y="22585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39595" y="2414016"/>
            <a:ext cx="749808" cy="320040"/>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1</a:t>
            </a:r>
          </a:p>
        </p:txBody>
      </p:sp>
      <p:sp>
        <p:nvSpPr>
          <p:cNvPr id="11" name="TextBox 10"/>
          <p:cNvSpPr txBox="1"/>
          <p:nvPr/>
        </p:nvSpPr>
        <p:spPr>
          <a:xfrm>
            <a:off x="941832" y="3319272"/>
            <a:ext cx="1545336" cy="749808"/>
          </a:xfrm>
          <a:prstGeom prst="rect">
            <a:avLst/>
          </a:prstGeom>
          <a:noFill/>
        </p:spPr>
        <p:txBody>
          <a:bodyPr wrap="square" anchor="ctr" lIns="18288" rIns="18288" tIns="18288" bIns="18288">
            <a:spAutoFit/>
          </a:bodyPr>
          <a:lstStyle/>
          <a:p>
            <a:pPr algn="ctr">
              <a:spcAft>
                <a:spcPts val="0"/>
              </a:spcAft>
            </a:pPr>
            <a:r>
              <a:rPr sz="1300" b="1">
                <a:solidFill>
                  <a:srgbClr val="161B26"/>
                </a:solidFill>
                <a:latin typeface="Arial"/>
              </a:rPr>
              <a:t>TRAQOM</a:t>
            </a:r>
          </a:p>
        </p:txBody>
      </p:sp>
      <p:cxnSp>
        <p:nvCxnSpPr>
          <p:cNvPr id="12" name="Connector 11"/>
          <p:cNvCxnSpPr/>
          <p:nvPr/>
        </p:nvCxnSpPr>
        <p:spPr>
          <a:xfrm>
            <a:off x="2651760" y="3246120"/>
            <a:ext cx="310896" cy="0"/>
          </a:xfrm>
          <a:prstGeom prst="line">
            <a:avLst/>
          </a:prstGeom>
          <a:ln w="2540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62656" y="1874519"/>
            <a:ext cx="1874519" cy="288036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1874519"/>
            <a:ext cx="187451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25012" y="22585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5012" y="2414016"/>
            <a:ext cx="749808" cy="320040"/>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2</a:t>
            </a:r>
          </a:p>
        </p:txBody>
      </p:sp>
      <p:sp>
        <p:nvSpPr>
          <p:cNvPr id="17" name="TextBox 16"/>
          <p:cNvSpPr txBox="1"/>
          <p:nvPr/>
        </p:nvSpPr>
        <p:spPr>
          <a:xfrm>
            <a:off x="3127248" y="3319272"/>
            <a:ext cx="1545336" cy="749808"/>
          </a:xfrm>
          <a:prstGeom prst="rect">
            <a:avLst/>
          </a:prstGeom>
          <a:noFill/>
        </p:spPr>
        <p:txBody>
          <a:bodyPr wrap="square" anchor="ctr" lIns="18288" rIns="18288" tIns="18288" bIns="18288">
            <a:spAutoFit/>
          </a:bodyPr>
          <a:lstStyle/>
          <a:p>
            <a:pPr algn="ctr">
              <a:spcAft>
                <a:spcPts val="0"/>
              </a:spcAft>
            </a:pPr>
            <a:r>
              <a:rPr sz="1300" b="1">
                <a:solidFill>
                  <a:srgbClr val="161B26"/>
                </a:solidFill>
                <a:latin typeface="Arial"/>
              </a:rPr>
              <a:t>Assessment
attendance</a:t>
            </a:r>
          </a:p>
        </p:txBody>
      </p:sp>
      <p:cxnSp>
        <p:nvCxnSpPr>
          <p:cNvPr id="18" name="Connector 17"/>
          <p:cNvCxnSpPr/>
          <p:nvPr/>
        </p:nvCxnSpPr>
        <p:spPr>
          <a:xfrm>
            <a:off x="4837176" y="3246120"/>
            <a:ext cx="320040" cy="0"/>
          </a:xfrm>
          <a:prstGeom prst="line">
            <a:avLst/>
          </a:prstGeom>
          <a:ln w="25400">
            <a:solidFill>
              <a:srgbClr val="7C3AED"/>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57216" y="1874519"/>
            <a:ext cx="1874519" cy="288036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7216" y="1874519"/>
            <a:ext cx="187451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2" y="22585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2" y="2414016"/>
            <a:ext cx="749808" cy="320040"/>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3</a:t>
            </a:r>
          </a:p>
        </p:txBody>
      </p:sp>
      <p:sp>
        <p:nvSpPr>
          <p:cNvPr id="23" name="TextBox 22"/>
          <p:cNvSpPr txBox="1"/>
          <p:nvPr/>
        </p:nvSpPr>
        <p:spPr>
          <a:xfrm>
            <a:off x="5321807" y="3319272"/>
            <a:ext cx="1545336" cy="749808"/>
          </a:xfrm>
          <a:prstGeom prst="rect">
            <a:avLst/>
          </a:prstGeom>
          <a:noFill/>
        </p:spPr>
        <p:txBody>
          <a:bodyPr wrap="square" anchor="ctr" lIns="18288" rIns="18288" tIns="18288" bIns="18288">
            <a:spAutoFit/>
          </a:bodyPr>
          <a:lstStyle/>
          <a:p>
            <a:pPr algn="ctr">
              <a:spcAft>
                <a:spcPts val="0"/>
              </a:spcAft>
            </a:pPr>
            <a:r>
              <a:rPr sz="1300" b="1">
                <a:solidFill>
                  <a:srgbClr val="161B26"/>
                </a:solidFill>
                <a:latin typeface="Arial"/>
              </a:rPr>
              <a:t>WA then PP</a:t>
            </a:r>
          </a:p>
        </p:txBody>
      </p:sp>
      <p:cxnSp>
        <p:nvCxnSpPr>
          <p:cNvPr id="24" name="Connector 23"/>
          <p:cNvCxnSpPr/>
          <p:nvPr/>
        </p:nvCxnSpPr>
        <p:spPr>
          <a:xfrm>
            <a:off x="7031736" y="3246120"/>
            <a:ext cx="310895" cy="0"/>
          </a:xfrm>
          <a:prstGeom prst="line">
            <a:avLst/>
          </a:prstGeom>
          <a:ln w="25400">
            <a:solidFill>
              <a:srgbClr val="10B981"/>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42631" y="1874519"/>
            <a:ext cx="1874519" cy="288036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2631" y="1874519"/>
            <a:ext cx="1874519" cy="91440"/>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258568"/>
            <a:ext cx="749808" cy="749808"/>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14016"/>
            <a:ext cx="749808" cy="320040"/>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4</a:t>
            </a:r>
          </a:p>
        </p:txBody>
      </p:sp>
      <p:sp>
        <p:nvSpPr>
          <p:cNvPr id="29" name="TextBox 28"/>
          <p:cNvSpPr txBox="1"/>
          <p:nvPr/>
        </p:nvSpPr>
        <p:spPr>
          <a:xfrm>
            <a:off x="7507223" y="3319272"/>
            <a:ext cx="1545336" cy="749808"/>
          </a:xfrm>
          <a:prstGeom prst="rect">
            <a:avLst/>
          </a:prstGeom>
          <a:noFill/>
        </p:spPr>
        <p:txBody>
          <a:bodyPr wrap="square" anchor="ctr" lIns="18288" rIns="18288" tIns="18288" bIns="18288">
            <a:spAutoFit/>
          </a:bodyPr>
          <a:lstStyle/>
          <a:p>
            <a:pPr algn="ctr">
              <a:spcAft>
                <a:spcPts val="0"/>
              </a:spcAft>
            </a:pPr>
            <a:r>
              <a:rPr sz="1300" b="1">
                <a:solidFill>
                  <a:srgbClr val="161B26"/>
                </a:solidFill>
                <a:latin typeface="Arial"/>
              </a:rPr>
              <a:t>Submit on
the LMS</a:t>
            </a:r>
          </a:p>
        </p:txBody>
      </p:sp>
      <p:cxnSp>
        <p:nvCxnSpPr>
          <p:cNvPr id="30" name="Connector 29"/>
          <p:cNvCxnSpPr/>
          <p:nvPr/>
        </p:nvCxnSpPr>
        <p:spPr>
          <a:xfrm>
            <a:off x="9217151" y="3246120"/>
            <a:ext cx="320041" cy="0"/>
          </a:xfrm>
          <a:prstGeom prst="line">
            <a:avLst/>
          </a:prstGeom>
          <a:ln w="25400">
            <a:solidFill>
              <a:srgbClr val="C77600"/>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37192" y="1874519"/>
            <a:ext cx="1874519" cy="288036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7192" y="1874519"/>
            <a:ext cx="187451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9548" y="22585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9548" y="2414016"/>
            <a:ext cx="749808" cy="320040"/>
          </a:xfrm>
          <a:prstGeom prst="rect">
            <a:avLst/>
          </a:prstGeom>
          <a:noFill/>
        </p:spPr>
        <p:txBody>
          <a:bodyPr wrap="square" anchor="t" lIns="18288" rIns="18288" tIns="18288" bIns="18288">
            <a:spAutoFit/>
          </a:bodyPr>
          <a:lstStyle/>
          <a:p>
            <a:pPr algn="ctr">
              <a:spcAft>
                <a:spcPts val="0"/>
              </a:spcAft>
            </a:pPr>
            <a:r>
              <a:rPr sz="2600" b="1">
                <a:solidFill>
                  <a:srgbClr val="FFFFFF"/>
                </a:solidFill>
                <a:latin typeface="Arial"/>
              </a:rPr>
              <a:t>5</a:t>
            </a:r>
          </a:p>
        </p:txBody>
      </p:sp>
      <p:sp>
        <p:nvSpPr>
          <p:cNvPr id="35" name="TextBox 34"/>
          <p:cNvSpPr txBox="1"/>
          <p:nvPr/>
        </p:nvSpPr>
        <p:spPr>
          <a:xfrm>
            <a:off x="9701784" y="3319272"/>
            <a:ext cx="1545336" cy="749808"/>
          </a:xfrm>
          <a:prstGeom prst="rect">
            <a:avLst/>
          </a:prstGeom>
          <a:noFill/>
        </p:spPr>
        <p:txBody>
          <a:bodyPr wrap="square" anchor="ctr" lIns="18288" rIns="18288" tIns="18288" bIns="18288">
            <a:spAutoFit/>
          </a:bodyPr>
          <a:lstStyle/>
          <a:p>
            <a:pPr algn="ctr">
              <a:spcAft>
                <a:spcPts val="0"/>
              </a:spcAft>
            </a:pPr>
            <a:r>
              <a:rPr sz="1300" b="1">
                <a:solidFill>
                  <a:srgbClr val="161B26"/>
                </a:solidFill>
                <a:latin typeface="Arial"/>
              </a:rPr>
              <a:t>Sign the
ASR</a:t>
            </a:r>
          </a:p>
        </p:txBody>
      </p:sp>
      <p:sp>
        <p:nvSpPr>
          <p:cNvPr id="36" name="Rounded Rectangle 35"/>
          <p:cNvSpPr/>
          <p:nvPr/>
        </p:nvSpPr>
        <p:spPr>
          <a:xfrm>
            <a:off x="777240" y="5047488"/>
            <a:ext cx="10634472" cy="61264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5840" y="5230368"/>
            <a:ext cx="10104120" cy="228600"/>
          </a:xfrm>
          <a:prstGeom prst="rect">
            <a:avLst/>
          </a:prstGeom>
          <a:noFill/>
        </p:spPr>
        <p:txBody>
          <a:bodyPr wrap="square" anchor="t" lIns="18288" rIns="18288" tIns="18288" bIns="18288">
            <a:spAutoFit/>
          </a:bodyPr>
          <a:lstStyle/>
          <a:p>
            <a:pPr algn="l">
              <a:spcAft>
                <a:spcPts val="0"/>
              </a:spcAft>
            </a:pPr>
            <a:r>
              <a:rPr sz="1100" b="1">
                <a:solidFill>
                  <a:srgbClr val="161B26"/>
                </a:solidFill>
                <a:latin typeface="Arial"/>
              </a:rPr>
              <a:t>ASR = Assessment Summary Record · complete the sign-off only after both instruments are submitted.</a:t>
            </a:r>
          </a:p>
        </p:txBody>
      </p:sp>
      <p:sp>
        <p:nvSpPr>
          <p:cNvPr id="38" name="TextBox 37"/>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39" name="TextBox 38"/>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0" name="TextBox 39"/>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259</a:t>
            </a:r>
          </a:p>
        </p:txBody>
      </p:sp>
    </p:spTree>
  </p:cSld>
  <p:clrMapOvr>
    <a:masterClrMapping/>
  </p:clrMapOvr>
  <p:transition advClick="1" spd="fast">
    <p:fade/>
  </p:transition>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MANDATORY · SSG DIGITAL ATTENDANCE</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Digital Attendance · Mandatory Close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82296" cy="2304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8745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1</a:t>
            </a:r>
          </a:p>
        </p:txBody>
      </p:sp>
      <p:sp>
        <p:nvSpPr>
          <p:cNvPr id="11" name="TextBox 10"/>
          <p:cNvSpPr txBox="1"/>
          <p:nvPr/>
        </p:nvSpPr>
        <p:spPr>
          <a:xfrm>
            <a:off x="14081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01</a:t>
            </a:r>
          </a:p>
        </p:txBody>
      </p:sp>
      <p:sp>
        <p:nvSpPr>
          <p:cNvPr id="12" name="TextBox 11"/>
          <p:cNvSpPr txBox="1"/>
          <p:nvPr/>
        </p:nvSpPr>
        <p:spPr>
          <a:xfrm>
            <a:off x="9144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Open the SSG TRAQOM attendance request shown by the trainer.</a:t>
            </a:r>
          </a:p>
        </p:txBody>
      </p:sp>
      <p:sp>
        <p:nvSpPr>
          <p:cNvPr id="13" name="Rounded Rectangle 12"/>
          <p:cNvSpPr/>
          <p:nvPr/>
        </p:nvSpPr>
        <p:spPr>
          <a:xfrm>
            <a:off x="914400" y="3666744"/>
            <a:ext cx="1353312" cy="228600"/>
          </a:xfrm>
          <a:prstGeom prst="roundRect">
            <a:avLst>
              <a:gd name="adj" fmla="val 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TRAQOM</a:t>
            </a:r>
          </a:p>
        </p:txBody>
      </p:sp>
      <p:sp>
        <p:nvSpPr>
          <p:cNvPr id="15" name="Rounded Rectangle 14"/>
          <p:cNvSpPr/>
          <p:nvPr/>
        </p:nvSpPr>
        <p:spPr>
          <a:xfrm>
            <a:off x="34015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01568" y="1691640"/>
            <a:ext cx="82296" cy="23042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21024" y="1874519"/>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2</a:t>
            </a:r>
          </a:p>
        </p:txBody>
      </p:sp>
      <p:sp>
        <p:nvSpPr>
          <p:cNvPr id="19" name="TextBox 18"/>
          <p:cNvSpPr txBox="1"/>
          <p:nvPr/>
        </p:nvSpPr>
        <p:spPr>
          <a:xfrm>
            <a:off x="41513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02</a:t>
            </a:r>
          </a:p>
        </p:txBody>
      </p:sp>
      <p:sp>
        <p:nvSpPr>
          <p:cNvPr id="20" name="TextBox 19"/>
          <p:cNvSpPr txBox="1"/>
          <p:nvPr/>
        </p:nvSpPr>
        <p:spPr>
          <a:xfrm>
            <a:off x="36576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Verify course, session and identity details before confirming.</a:t>
            </a:r>
          </a:p>
        </p:txBody>
      </p:sp>
      <p:sp>
        <p:nvSpPr>
          <p:cNvPr id="21" name="Rounded Rectangle 20"/>
          <p:cNvSpPr/>
          <p:nvPr/>
        </p:nvSpPr>
        <p:spPr>
          <a:xfrm>
            <a:off x="3657600" y="3666744"/>
            <a:ext cx="1353312" cy="228600"/>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TRAQOM</a:t>
            </a:r>
          </a:p>
        </p:txBody>
      </p:sp>
      <p:sp>
        <p:nvSpPr>
          <p:cNvPr id="23" name="Rounded Rectangle 22"/>
          <p:cNvSpPr/>
          <p:nvPr/>
        </p:nvSpPr>
        <p:spPr>
          <a:xfrm>
            <a:off x="61447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1691640"/>
            <a:ext cx="82296" cy="23042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874519"/>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3</a:t>
            </a:r>
          </a:p>
        </p:txBody>
      </p:sp>
      <p:sp>
        <p:nvSpPr>
          <p:cNvPr id="27" name="TextBox 26"/>
          <p:cNvSpPr txBox="1"/>
          <p:nvPr/>
        </p:nvSpPr>
        <p:spPr>
          <a:xfrm>
            <a:off x="68945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03</a:t>
            </a:r>
          </a:p>
        </p:txBody>
      </p:sp>
      <p:sp>
        <p:nvSpPr>
          <p:cNvPr id="28" name="TextBox 27"/>
          <p:cNvSpPr txBox="1"/>
          <p:nvPr/>
        </p:nvSpPr>
        <p:spPr>
          <a:xfrm>
            <a:off x="64008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Complete attendance at the required start and end checkpoints.</a:t>
            </a:r>
          </a:p>
        </p:txBody>
      </p:sp>
      <p:sp>
        <p:nvSpPr>
          <p:cNvPr id="29" name="Rounded Rectangle 28"/>
          <p:cNvSpPr/>
          <p:nvPr/>
        </p:nvSpPr>
        <p:spPr>
          <a:xfrm>
            <a:off x="6400800" y="3666744"/>
            <a:ext cx="1353312" cy="228600"/>
          </a:xfrm>
          <a:prstGeom prst="roundRect">
            <a:avLst>
              <a:gd name="adj" fmla="val 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TRAQOM</a:t>
            </a:r>
          </a:p>
        </p:txBody>
      </p:sp>
      <p:sp>
        <p:nvSpPr>
          <p:cNvPr id="31" name="Rounded Rectangle 30"/>
          <p:cNvSpPr/>
          <p:nvPr/>
        </p:nvSpPr>
        <p:spPr>
          <a:xfrm>
            <a:off x="8887968" y="1691640"/>
            <a:ext cx="2487168" cy="2304288"/>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87968" y="1691640"/>
            <a:ext cx="82296" cy="2304288"/>
          </a:xfrm>
          <a:prstGeom prst="rect">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07424" y="1874519"/>
            <a:ext cx="420624" cy="420624"/>
          </a:xfrm>
          <a:prstGeom prst="ellipse">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901952"/>
            <a:ext cx="420624" cy="256032"/>
          </a:xfrm>
          <a:prstGeom prst="rect">
            <a:avLst/>
          </a:prstGeom>
          <a:noFill/>
        </p:spPr>
        <p:txBody>
          <a:bodyPr wrap="square" anchor="t" lIns="18288" rIns="18288" tIns="18288" bIns="18288">
            <a:spAutoFit/>
          </a:bodyPr>
          <a:lstStyle/>
          <a:p>
            <a:pPr algn="ctr">
              <a:spcAft>
                <a:spcPts val="0"/>
              </a:spcAft>
            </a:pPr>
            <a:r>
              <a:rPr sz="1500" b="1">
                <a:solidFill>
                  <a:srgbClr val="FFFFFF"/>
                </a:solidFill>
                <a:latin typeface="Arial"/>
              </a:rPr>
              <a:t>4</a:t>
            </a:r>
          </a:p>
        </p:txBody>
      </p:sp>
      <p:sp>
        <p:nvSpPr>
          <p:cNvPr id="35" name="TextBox 34"/>
          <p:cNvSpPr txBox="1"/>
          <p:nvPr/>
        </p:nvSpPr>
        <p:spPr>
          <a:xfrm>
            <a:off x="9637776" y="1847088"/>
            <a:ext cx="1444752" cy="384048"/>
          </a:xfrm>
          <a:prstGeom prst="rect">
            <a:avLst/>
          </a:prstGeom>
          <a:noFill/>
        </p:spPr>
        <p:txBody>
          <a:bodyPr wrap="square" anchor="t" lIns="18288" rIns="18288" tIns="18288" bIns="18288">
            <a:spAutoFit/>
          </a:bodyPr>
          <a:lstStyle/>
          <a:p>
            <a:pPr algn="l">
              <a:spcAft>
                <a:spcPts val="0"/>
              </a:spcAft>
            </a:pPr>
            <a:r>
              <a:rPr sz="1300" b="1">
                <a:solidFill>
                  <a:srgbClr val="161B26"/>
                </a:solidFill>
                <a:latin typeface="Arial"/>
              </a:rPr>
              <a:t>04</a:t>
            </a:r>
          </a:p>
        </p:txBody>
      </p:sp>
      <p:sp>
        <p:nvSpPr>
          <p:cNvPr id="36" name="TextBox 35"/>
          <p:cNvSpPr txBox="1"/>
          <p:nvPr/>
        </p:nvSpPr>
        <p:spPr>
          <a:xfrm>
            <a:off x="9144000" y="2459736"/>
            <a:ext cx="1993392" cy="1152144"/>
          </a:xfrm>
          <a:prstGeom prst="rect">
            <a:avLst/>
          </a:prstGeom>
          <a:noFill/>
        </p:spPr>
        <p:txBody>
          <a:bodyPr wrap="square" anchor="t" lIns="18288" rIns="18288" tIns="18288" bIns="18288">
            <a:spAutoFit/>
          </a:bodyPr>
          <a:lstStyle/>
          <a:p>
            <a:pPr algn="l">
              <a:spcAft>
                <a:spcPts val="0"/>
              </a:spcAft>
            </a:pPr>
            <a:r>
              <a:rPr sz="1100" b="0">
                <a:solidFill>
                  <a:srgbClr val="161B26"/>
                </a:solidFill>
                <a:latin typeface="Arial"/>
              </a:rPr>
              <a:t>Tell the trainer immediately if the status is not confirmed.</a:t>
            </a:r>
          </a:p>
        </p:txBody>
      </p:sp>
      <p:sp>
        <p:nvSpPr>
          <p:cNvPr id="37" name="Rounded Rectangle 36"/>
          <p:cNvSpPr/>
          <p:nvPr/>
        </p:nvSpPr>
        <p:spPr>
          <a:xfrm>
            <a:off x="9144000" y="3666744"/>
            <a:ext cx="1353312" cy="228600"/>
          </a:xfrm>
          <a:prstGeom prst="roundRect">
            <a:avLst>
              <a:gd name="adj" fmla="val 8000"/>
            </a:avLst>
          </a:prstGeom>
          <a:solidFill>
            <a:srgbClr val="C77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08008" y="3694176"/>
            <a:ext cx="1225296" cy="128016"/>
          </a:xfrm>
          <a:prstGeom prst="rect">
            <a:avLst/>
          </a:prstGeom>
          <a:noFill/>
        </p:spPr>
        <p:txBody>
          <a:bodyPr wrap="square" anchor="t" lIns="18288" rIns="18288" tIns="18288" bIns="18288">
            <a:spAutoFit/>
          </a:bodyPr>
          <a:lstStyle/>
          <a:p>
            <a:pPr algn="ctr">
              <a:spcAft>
                <a:spcPts val="0"/>
              </a:spcAft>
            </a:pPr>
            <a:r>
              <a:rPr sz="800" b="1">
                <a:solidFill>
                  <a:srgbClr val="FFFFFF"/>
                </a:solidFill>
                <a:latin typeface="Arial"/>
              </a:rPr>
              <a:t>TRAQOM</a:t>
            </a:r>
          </a:p>
        </p:txBody>
      </p:sp>
      <p:sp>
        <p:nvSpPr>
          <p:cNvPr id="39" name="Rounded Rectangle 38"/>
          <p:cNvSpPr/>
          <p:nvPr/>
        </p:nvSpPr>
        <p:spPr>
          <a:xfrm>
            <a:off x="658368" y="4279392"/>
            <a:ext cx="10835640" cy="1325880"/>
          </a:xfrm>
          <a:prstGeom prst="roundRect">
            <a:avLst>
              <a:gd name="adj" fmla="val 8000"/>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443984"/>
            <a:ext cx="2011680" cy="228600"/>
          </a:xfrm>
          <a:prstGeom prst="rect">
            <a:avLst/>
          </a:prstGeom>
          <a:noFill/>
        </p:spPr>
        <p:txBody>
          <a:bodyPr wrap="square" anchor="t" lIns="18288" rIns="18288" tIns="18288" bIns="18288">
            <a:spAutoFit/>
          </a:bodyPr>
          <a:lstStyle/>
          <a:p>
            <a:pPr algn="l">
              <a:spcAft>
                <a:spcPts val="0"/>
              </a:spcAft>
            </a:pPr>
            <a:r>
              <a:rPr sz="1100" b="1">
                <a:solidFill>
                  <a:srgbClr val="1F6FEB"/>
                </a:solidFill>
                <a:latin typeface="Arial"/>
              </a:rPr>
              <a:t>DESIGN JUDGEMENT</a:t>
            </a:r>
          </a:p>
        </p:txBody>
      </p:sp>
      <p:sp>
        <p:nvSpPr>
          <p:cNvPr id="41" name="TextBox 40"/>
          <p:cNvSpPr txBox="1"/>
          <p:nvPr/>
        </p:nvSpPr>
        <p:spPr>
          <a:xfrm>
            <a:off x="914400" y="4809744"/>
            <a:ext cx="10287000" cy="530352"/>
          </a:xfrm>
          <a:prstGeom prst="rect">
            <a:avLst/>
          </a:prstGeom>
          <a:noFill/>
        </p:spPr>
        <p:txBody>
          <a:bodyPr wrap="square" anchor="ctr" lIns="18288" rIns="18288" tIns="18288" bIns="18288">
            <a:spAutoFit/>
          </a:bodyPr>
          <a:lstStyle/>
          <a:p>
            <a:pPr algn="l">
              <a:spcAft>
                <a:spcPts val="0"/>
              </a:spcAft>
            </a:pPr>
            <a:r>
              <a:rPr sz="1300" b="1">
                <a:solidFill>
                  <a:srgbClr val="161B26"/>
                </a:solidFill>
                <a:latin typeface="Arial"/>
              </a:rPr>
              <a:t>TRAQOM records SSG digital attendance. It is not a course survey.</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260</a:t>
            </a:r>
          </a:p>
        </p:txBody>
      </p:sp>
    </p:spTree>
  </p:cSld>
  <p:clrMapOvr>
    <a:masterClrMapping/>
  </p:clrMapOvr>
  <p:transition advClick="1" spd="fast">
    <p:fade/>
  </p:transition>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078992"/>
            <a:ext cx="4572000" cy="320040"/>
          </a:xfrm>
          <a:prstGeom prst="rect">
            <a:avLst/>
          </a:prstGeom>
          <a:noFill/>
        </p:spPr>
        <p:txBody>
          <a:bodyPr wrap="square" anchor="t" lIns="18288" rIns="18288" tIns="18288" bIns="18288">
            <a:spAutoFit/>
          </a:bodyPr>
          <a:lstStyle/>
          <a:p>
            <a:pPr algn="l">
              <a:spcAft>
                <a:spcPts val="0"/>
              </a:spcAft>
            </a:pPr>
            <a:r>
              <a:rPr sz="1500" b="1">
                <a:solidFill>
                  <a:srgbClr val="10B981"/>
                </a:solidFill>
                <a:latin typeface="Arial"/>
              </a:rPr>
              <a:t>THANK YOU</a:t>
            </a:r>
          </a:p>
        </p:txBody>
      </p:sp>
      <p:sp>
        <p:nvSpPr>
          <p:cNvPr id="5" name="TextBox 4"/>
          <p:cNvSpPr txBox="1"/>
          <p:nvPr/>
        </p:nvSpPr>
        <p:spPr>
          <a:xfrm>
            <a:off x="841248" y="1783080"/>
            <a:ext cx="9601200" cy="1965960"/>
          </a:xfrm>
          <a:prstGeom prst="rect">
            <a:avLst/>
          </a:prstGeom>
          <a:noFill/>
        </p:spPr>
        <p:txBody>
          <a:bodyPr wrap="square" anchor="t" lIns="18288" rIns="18288" tIns="18288" bIns="18288">
            <a:spAutoFit/>
          </a:bodyPr>
          <a:lstStyle/>
          <a:p>
            <a:pPr algn="l">
              <a:spcAft>
                <a:spcPts val="0"/>
              </a:spcAft>
            </a:pPr>
            <a:r>
              <a:rPr sz="3400" b="1">
                <a:solidFill>
                  <a:srgbClr val="161B26"/>
                </a:solidFill>
                <a:latin typeface="Arial"/>
              </a:rPr>
              <a:t>Build the boundary.
Prove the behaviour.
Document the decision.</a:t>
            </a:r>
          </a:p>
        </p:txBody>
      </p:sp>
      <p:sp>
        <p:nvSpPr>
          <p:cNvPr id="6" name="TextBox 5"/>
          <p:cNvSpPr txBox="1"/>
          <p:nvPr/>
        </p:nvSpPr>
        <p:spPr>
          <a:xfrm>
            <a:off x="841248" y="4709160"/>
            <a:ext cx="7132320" cy="658368"/>
          </a:xfrm>
          <a:prstGeom prst="rect">
            <a:avLst/>
          </a:prstGeom>
          <a:noFill/>
        </p:spPr>
        <p:txBody>
          <a:bodyPr wrap="square" anchor="t" lIns="18288" rIns="18288" tIns="18288" bIns="18288">
            <a:spAutoFit/>
          </a:bodyPr>
          <a:lstStyle/>
          <a:p>
            <a:pPr algn="l">
              <a:spcAft>
                <a:spcPts val="0"/>
              </a:spcAft>
            </a:pPr>
            <a:r>
              <a:rPr sz="1400" b="0">
                <a:solidFill>
                  <a:srgbClr val="5B6372"/>
                </a:solidFill>
                <a:latin typeface="Arial"/>
              </a:rPr>
              <a:t>Tertiary Infotech Academy Pte Ltd · UEN 201200696W
enquiry@tertiaryinfotech.com · +65 6100 0613</a:t>
            </a:r>
          </a:p>
        </p:txBody>
      </p:sp>
      <p:sp>
        <p:nvSpPr>
          <p:cNvPr id="7" name="TextBox 6"/>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8" name="TextBox 7"/>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9" name="TextBox 8"/>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261</a:t>
            </a:r>
          </a:p>
        </p:txBody>
      </p:sp>
    </p:spTree>
  </p:cSld>
  <p:clrMapOvr>
    <a:masterClrMapping/>
  </p:clrMapOvr>
  <p:transition advClick="1" spd="med">
    <p:push dir="l"/>
  </p:transition>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256032"/>
          </a:xfrm>
          <a:prstGeom prst="rect">
            <a:avLst/>
          </a:prstGeom>
          <a:noFill/>
        </p:spPr>
        <p:txBody>
          <a:bodyPr wrap="square" anchor="t" lIns="18288" rIns="18288" tIns="18288" bIns="18288">
            <a:spAutoFit/>
          </a:bodyPr>
          <a:lstStyle/>
          <a:p>
            <a:pPr algn="l">
              <a:spcAft>
                <a:spcPts val="0"/>
              </a:spcAft>
            </a:pPr>
            <a:r>
              <a:rPr sz="1200" b="1">
                <a:solidFill>
                  <a:srgbClr val="1F6FEB"/>
                </a:solidFill>
                <a:latin typeface="Arial"/>
              </a:rPr>
              <a:t>COURSE PORTAL</a:t>
            </a:r>
          </a:p>
        </p:txBody>
      </p:sp>
      <p:sp>
        <p:nvSpPr>
          <p:cNvPr id="5" name="TextBox 4"/>
          <p:cNvSpPr txBox="1"/>
          <p:nvPr/>
        </p:nvSpPr>
        <p:spPr>
          <a:xfrm>
            <a:off x="658368" y="621792"/>
            <a:ext cx="10835640" cy="530352"/>
          </a:xfrm>
          <a:prstGeom prst="rect">
            <a:avLst/>
          </a:prstGeom>
          <a:noFill/>
        </p:spPr>
        <p:txBody>
          <a:bodyPr wrap="square" anchor="t" lIns="18288" rIns="18288" tIns="18288" bIns="18288">
            <a:spAutoFit/>
          </a:bodyPr>
          <a:lstStyle/>
          <a:p>
            <a:pPr algn="l">
              <a:spcAft>
                <a:spcPts val="0"/>
              </a:spcAft>
            </a:pPr>
            <a:r>
              <a:rPr sz="2900" b="1">
                <a:solidFill>
                  <a:srgbClr val="161B26"/>
                </a:solidFill>
                <a:latin typeface="Arial"/>
              </a:rPr>
              <a:t>Login to LMS and Download Course Material</a:t>
            </a:r>
          </a:p>
        </p:txBody>
      </p:sp>
      <p:sp>
        <p:nvSpPr>
          <p:cNvPr id="42" name="TextBox 41"/>
          <p:cNvSpPr txBox="1"/>
          <p:nvPr/>
        </p:nvSpPr>
        <p:spPr>
          <a:xfrm>
            <a:off x="658368" y="6446520"/>
            <a:ext cx="5577840" cy="201168"/>
          </a:xfrm>
          <a:prstGeom prst="rect">
            <a:avLst/>
          </a:prstGeom>
          <a:noFill/>
        </p:spPr>
        <p:txBody>
          <a:bodyPr wrap="square" anchor="t" lIns="18288" rIns="18288" tIns="18288" bIns="18288">
            <a:spAutoFit/>
          </a:bodyPr>
          <a:lstStyle/>
          <a:p>
            <a:pPr algn="l">
              <a:spcAft>
                <a:spcPts val="0"/>
              </a:spcAft>
            </a:pPr>
            <a:r>
              <a:rPr sz="800" b="0">
                <a:solidFill>
                  <a:srgbClr val="5B6372"/>
                </a:solidFill>
                <a:latin typeface="Arial"/>
              </a:rPr>
              <a:t>AI Vibe Coding for iOS Mobile Apps Development · TGS-2023037545</a:t>
            </a:r>
          </a:p>
        </p:txBody>
      </p:sp>
      <p:sp>
        <p:nvSpPr>
          <p:cNvPr id="43" name="TextBox 42"/>
          <p:cNvSpPr txBox="1"/>
          <p:nvPr/>
        </p:nvSpPr>
        <p:spPr>
          <a:xfrm>
            <a:off x="4297680" y="6446520"/>
            <a:ext cx="3657600" cy="201168"/>
          </a:xfrm>
          <a:prstGeom prst="rect">
            <a:avLst/>
          </a:prstGeom>
          <a:noFill/>
        </p:spPr>
        <p:txBody>
          <a:bodyPr wrap="square" anchor="t" lIns="18288" rIns="18288" tIns="18288" bIns="18288">
            <a:spAutoFit/>
          </a:bodyPr>
          <a:lstStyle/>
          <a:p>
            <a:pPr algn="ctr">
              <a:spcAft>
                <a:spcPts val="0"/>
              </a:spcAft>
            </a:pPr>
            <a:r>
              <a:rPr sz="800" b="0">
                <a:solidFill>
                  <a:srgbClr val="5B6372"/>
                </a:solidFill>
                <a:latin typeface="Arial"/>
              </a:rPr>
              <a:t>© 2026 Tertiary Infotech Academy Pte Ltd</a:t>
            </a:r>
          </a:p>
        </p:txBody>
      </p:sp>
      <p:sp>
        <p:nvSpPr>
          <p:cNvPr id="44" name="TextBox 43"/>
          <p:cNvSpPr txBox="1"/>
          <p:nvPr/>
        </p:nvSpPr>
        <p:spPr>
          <a:xfrm>
            <a:off x="10881360" y="6446520"/>
            <a:ext cx="594360" cy="201168"/>
          </a:xfrm>
          <a:prstGeom prst="rect">
            <a:avLst/>
          </a:prstGeom>
          <a:noFill/>
        </p:spPr>
        <p:txBody>
          <a:bodyPr wrap="square" anchor="t" lIns="18288" rIns="18288" tIns="18288" bIns="18288">
            <a:spAutoFit/>
          </a:bodyPr>
          <a:lstStyle/>
          <a:p>
            <a:pPr algn="r">
              <a:spcAft>
                <a:spcPts val="0"/>
              </a:spcAft>
            </a:pPr>
            <a:r>
              <a:rPr sz="800" b="0">
                <a:solidFill>
                  <a:srgbClr val="5B6372"/>
                </a:solidFill>
                <a:latin typeface="Arial"/>
              </a:rPr>
              <a:t>256</a:t>
            </a:r>
          </a:p>
        </p:txBody>
      </p:sp>
      <p:pic>
        <p:nvPicPr>
          <p:cNvPr id="45" name="Picture 44" descr="ref_login.png"/>
          <p:cNvPicPr>
            <a:picLocks noChangeAspect="1"/>
          </p:cNvPicPr>
          <p:nvPr/>
        </p:nvPicPr>
        <p:blipFill>
          <a:blip r:embed="rId3"/>
          <a:stretch>
            <a:fillRect/>
          </a:stretch>
        </p:blipFill>
        <p:spPr>
          <a:xfrm>
            <a:off x="1615747" y="1357884"/>
            <a:ext cx="8960201" cy="4457700"/>
          </a:xfrm>
          <a:prstGeom prst="rect">
            <a:avLst/>
          </a:prstGeom>
          <a:ln w="12700">
            <a:solidFill>
              <a:srgbClr val="E2E8F0"/>
            </a:solidFill>
          </a:ln>
        </p:spPr>
      </p:pic>
      <p:sp>
        <p:nvSpPr>
          <p:cNvPr id="46" name="TextBox 45"/>
          <p:cNvSpPr txBox="1"/>
          <p:nvPr/>
        </p:nvSpPr>
        <p:spPr>
          <a:xfrm>
            <a:off x="658368" y="5897880"/>
            <a:ext cx="10874959"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
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Evidence coverage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Requirements</c:v>
                </c:pt>
                <c:pt idx="1">
                  <c:v>Core</c:v>
                </c:pt>
                <c:pt idx="2">
                  <c:v>Bridge</c:v>
                </c:pt>
                <c:pt idx="3">
                  <c:v>UI</c:v>
                </c:pt>
                <c:pt idx="4">
                  <c:v>Docs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90</c:v>
                </c:pt>
                <c:pt idx="2">
                  <c:v>80</c:v>
                </c:pt>
                <c:pt idx="3">
                  <c:v>70</c:v>
                </c:pt>
                <c:pt idx="4">
                  <c:v>60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Evidence coverage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Requirements</c:v>
                </c:pt>
                <c:pt idx="1">
                  <c:v>Core</c:v>
                </c:pt>
                <c:pt idx="2">
                  <c:v>Bridge</c:v>
                </c:pt>
                <c:pt idx="3">
                  <c:v>UI</c:v>
                </c:pt>
                <c:pt idx="4">
                  <c:v>Docs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90</c:v>
                </c:pt>
                <c:pt idx="2">
                  <c:v>80</c:v>
                </c:pt>
                <c:pt idx="3">
                  <c:v>70</c:v>
                </c:pt>
                <c:pt idx="4">
                  <c:v>60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Evidence coverage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Requirements</c:v>
                </c:pt>
                <c:pt idx="1">
                  <c:v>Core</c:v>
                </c:pt>
                <c:pt idx="2">
                  <c:v>Bridge</c:v>
                </c:pt>
                <c:pt idx="3">
                  <c:v>UI</c:v>
                </c:pt>
                <c:pt idx="4">
                  <c:v>Docs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90</c:v>
                </c:pt>
                <c:pt idx="2">
                  <c:v>80</c:v>
                </c:pt>
                <c:pt idx="3">
                  <c:v>70</c:v>
                </c:pt>
                <c:pt idx="4">
                  <c:v>60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Evidence coverage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Requirements</c:v>
                </c:pt>
                <c:pt idx="1">
                  <c:v>Core</c:v>
                </c:pt>
                <c:pt idx="2">
                  <c:v>Bridge</c:v>
                </c:pt>
                <c:pt idx="3">
                  <c:v>UI</c:v>
                </c:pt>
                <c:pt idx="4">
                  <c:v>Docs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90</c:v>
                </c:pt>
                <c:pt idx="2">
                  <c:v>80</c:v>
                </c:pt>
                <c:pt idx="3">
                  <c:v>70</c:v>
                </c:pt>
                <c:pt idx="4">
                  <c:v>60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Evidence coverage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Requirements</c:v>
                </c:pt>
                <c:pt idx="1">
                  <c:v>Core</c:v>
                </c:pt>
                <c:pt idx="2">
                  <c:v>Bridge</c:v>
                </c:pt>
                <c:pt idx="3">
                  <c:v>UI</c:v>
                </c:pt>
                <c:pt idx="4">
                  <c:v>Docs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90</c:v>
                </c:pt>
                <c:pt idx="2">
                  <c:v>80</c:v>
                </c:pt>
                <c:pt idx="3">
                  <c:v>70</c:v>
                </c:pt>
                <c:pt idx="4">
                  <c:v>60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SOURCE_REGISTER.md; visual asset cover-hero-v1.png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HOUSE; anchor: TRAQOM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HOUSE; anchor: LEARNER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HOUSE; anchor: GOVERNANCE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ARCH-CLEAN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COURSE-MAP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SCHEDULE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SCHEDULE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TSC; anchor: LO1-LO4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TSC; anchor: K/A-MAP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ASSESS; anchor: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HOUSE; anchor: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ACTIVITY-ACCESS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WSQ house assessment administration; five-stage flow with ASR as stage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regulated mapping: LO1 · K1 · A1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anchor: TSC-K1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real connectors; anchor: TSC-K1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technical anchor: TSC-K1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anchor: CPP-BOUNDARY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real connectors; anchor: CPP-BOUNDARY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technical anchor: CPP-BOUNDARY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anchor: OBJCXX-ABI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real connectors; anchor: OBJCXX-ABI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technical anchor: OBJCXX-ABI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anchor: CPP-VALUE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real connectors; anchor: CPP-VALUE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technical anchor: CPP-VALUE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anchor: CPP-OOP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real connectors; anchor: CPP-OOP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technical anchor: CPP-OOP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anchor: TSC-A1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real connectors; anchor: TSC-A1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technical anchor: TSC-A1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anchor: REQ-TRACE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real connectors; anchor: REQ-TRACE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technical anchor: REQ-TRACE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anchor: ARCH-CLEAN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real connectors; anchor: ARCH-CLEAN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technical anchor: ARCH-CLEAN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anchor: CPP-ERROR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real connectors; anchor: CPP-ERROR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technical anchor: CPP-ERROR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anchor: DESIGN-TOOL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real connectors; anchor: DESIGN-TOOL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technical anchor: DESIGN-TOOL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anchor: GOV-AI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real connectors; anchor: GOV-AI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technical anchor: GOV-AI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native pptx chart; anchor: LO1 · K1 · A1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activity specification; mapping: K1, A1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K1, A1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K1, A1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activity specification; mapping: K1, A1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activity specification; mapping: K1, A1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K1, A1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K1, A1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activity specification; mapping: K1, A1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TSC Mapping; C++ proposal; AI Driven Swift Architecture Build; anchor: LO1 · K1 · A1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regulated mapping: LO2 · K2 · A2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anchor: CPP-CMAKE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real connectors; anchor: CPP-CMAKE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technical anchor: CPP-CMAKE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anchor: AI-TDD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real connectors; anchor: AI-TDD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technical anchor: AI-TDD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anchor: AI-PROMPT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real connectors; anchor: AI-PROMPT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technical anchor: AI-PROMPT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anchor: CPP-TYPES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real connectors; anchor: CPP-TYPES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technical anchor: CPP-TYPES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anchor: CPP-FUNCTION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real connectors; anchor: CPP-FUNCTION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technical anchor: CPP-FUNCTION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anchor: CPP-CONTROL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real connectors; anchor: CPP-CONTROL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technical anchor: CPP-CONTROL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anchor: CPP-RAII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real connectors; anchor: CPP-RAII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technical anchor: CPP-RAII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anchor: ARCH-DI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real connectors; anchor: ARCH-DI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technical anchor: ARCH-DI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anchor: CPP-TOOLCHAIN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real connectors; anchor: CPP-TOOLCHAIN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technical anchor: CPP-TOOLCHAIN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anchor: AI-REVIEW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real connectors; anchor: AI-REVIEW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technical anchor: AI-REVIEW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image: ai-code-review-v1.png; anchor: AI-REVIEW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anchor: TSC-A2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real connectors; anchor: TSC-A2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technical anchor: TSC-A2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native pptx chart; anchor: LO2 · K2 · A2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activity specification; mapping: K2, A2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K2, A2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K2, A2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activity specification; mapping: K2, A2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activity specification; mapping: K2, A2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K2, A2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K2, A2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activity specification; mapping: K2, A2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AI Driven Swift Architecture Build; C++ proposal; anchor: LO2 · K2 · A2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regulated mapping: LO3 · K3 · 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anchor: SWIFTUI-STATE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real connectors; anchor: SWIFTUI-STATE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technical anchor: SWIFTUI-STATE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anchor: TSC-A3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real connectors; anchor: TSC-A3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technical anchor: TSC-A3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anchor: 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real connectors; anchor: 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technical anchor: 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anchor: SWIFTUI-NAV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real connectors; anchor: SWIFTUI-NAV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technical anchor: SWIFTUI-NAV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anchor: SWIFTUI-LIST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real connectors; anchor: SWIFTUI-LIST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technical anchor: SWIFTUI-LIST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anchor: SWIFT-CONCURRENCY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real connectors; anchor: SWIFT-CONCURRENCY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technical anchor: SWIFT-CONCURRENCY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anchor: IOS-A11Y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real connectors; anchor: IOS-A11Y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technical anchor: IOS-A11Y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anchor: SWIFTUI-PREVIEW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real connectors; anchor: SWIFTUI-PREVIEW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technical anchor: SWIFTUI-PREVIEW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anchor: GOV-FLAG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real connectors; anchor: GOV-FLAG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technical anchor: GOV-FLAG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anchor: AI-ONDEVICE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real connectors; anchor: AI-ONDEVICE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technical anchor: AI-ONDEVICE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anchor: TSC-K3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real connectors; anchor: TSC-K3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technical anchor: TSC-K3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native pptx chart; anchor: LO3 · K3 · 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activity specification; mapping: K3, 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K3, 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K3, 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activity specification; mapping: K3, 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activity specification; mapping: K3, 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K3, 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K3, 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activity specification; mapping: K3, 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Full Swift Training v2; iOS Apps with Swift v5; AI Driven Swift Architecture Build; anchor: LO3 · K3 · 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regulated mapping: LO4 · K4 · A4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anchor: OBJCXX-BRIDGE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real connectors; anchor: OBJCXX-BRIDGE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technical anchor: OBJCXX-BRIDGE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anchor: OBJCXX-OWNERSHIP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real connectors; anchor: OBJCXX-OWNERSHIP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technical anchor: OBJCXX-OWNERSHIP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anchor: OBJCXX-ERROR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real connectors; anchor: OBJCXX-ERROR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technical anchor: OBJCXX-ERROR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anchor: OBJCXX-DTO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real connectors; anchor: OBJCXX-DTO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technical anchor: OBJCXX-DTO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anchor: CPP-PERSIST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real connectors; anchor: CPP-PERSIST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technical anchor: CPP-PERSIST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anchor: CPP-SCHEMA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real connectors; anchor: CPP-SCHEMA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technical anchor: CPP-SCHEMA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anchor: TSC-K4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real connectors; anchor: TSC-K4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technical anchor: TSC-K4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anchor: TEST-INTEROP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real connectors; anchor: TEST-INTEROP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technical anchor: TEST-INTEROP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anchor: XCTEST-E2E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real connectors; anchor: XCTEST-E2E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technical anchor: XCTEST-E2E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anchor: TEST-FAILURE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real connectors; anchor: TEST-FAILURE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technical anchor: TEST-FAILURE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anchor: TSC-A4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real connectors; anchor: TSC-A4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technical anchor: TSC-A4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image: app-validation-v1.png; anchor: TEST-EVIDENCE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native pptx chart; anchor: LO4 · K4 · A4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activity specification; mapping: K4, A4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K4, A4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K4, A4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activity specification; mapping: K4, A4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activity specification; mapping: K4, A4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K4, A4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K4, A4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activity specification; mapping: K4, A4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iOS Apps with Swift v5; AI Driven Swift Architecture Build; C++ proposal; anchor: LO4 · K4 · A4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regulated mapping: LO5 · K5 · A5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anchor: DOC-C4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real connectors; anchor: DOC-C4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technical anchor: DOC-C4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anchor: DOC-ADR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real connectors; anchor: DOC-ADR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technical anchor: DOC-ADR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anchor: TSC-A5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real connectors; anchor: TSC-A5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technical anchor: TSC-A5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anchor: DOC-API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real connectors; anchor: DOC-API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technical anchor: DOC-API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anchor: DOC-VERIFY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real connectors; anchor: DOC-VERIFY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technical anchor: DOC-VERIFY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anchor: DOC-QA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real connectors; anchor: DOC-QA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technical anchor: DOC-QA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anchor: IOS-DEPLOY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real connectors; anchor: IOS-DEPLOY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technical anchor: IOS-DEPLOY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anchor: IOS-PRIVACY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real connectors; anchor: IOS-PRIVACY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technical anchor: IOS-PRIVACY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anchor: AI-REVIEW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real connectors; anchor: AI-REVIEW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technical anchor: AI-REVIEW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anchor: DOC-RELEASE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real connectors; anchor: DOC-RELEASE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technical anchor: DOC-RELEASE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anchor: TSC-K5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real connectors; anchor: TSC-K5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technical anchor: TSC-K5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native pptx chart; anchor: LO5 · K5 · A5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activity specification; mapping: K5, A5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K5, A5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K5, A5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activity specification; mapping: K5, A5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activity specification; mapping: A1, A2, A3, A4, A5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A1, A2, A3, A4, A5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BRIEF; anchor: A1, A2, A3, A4, A5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activity specification; mapping: A1, A2, A3, A4, A5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AI Driven Swift Architecture Build; TSC Mapping; iOS Apps with Swift v5; anchor: LO5 · K5 · A5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HOUSE; anchor: LMS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ASSESS; anchor: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WSQ house assessment administration; five-stage flow with ASR as stage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HOUSE; anchor: TRAQOM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tertiarycourses/TGS-2023037545-AI-Vibe-Coding-for-iOS-Mobile-Apps-Development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0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94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38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82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83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1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2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3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4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5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6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8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9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0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1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2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3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4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5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6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8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9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0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1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2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3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4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5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6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22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8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9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0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1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2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3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4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5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6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7.xml"/><Relationship Id="rId3" Type="http://schemas.openxmlformats.org/officeDocument/2006/relationships/hyperlink" Target="https://lms-tms.tertiaryinfotech.com/" TargetMode="Externa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8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9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0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8912"/>
            <a:ext cx="731520" cy="731520"/>
          </a:xfrm>
          <a:prstGeom prst="rect">
            <a:avLst/>
          </a:prstGeom>
        </p:spPr>
      </p:pic>
      <p:pic>
        <p:nvPicPr>
          <p:cNvPr id="5" name="Picture 4" descr="wsq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429768"/>
            <a:ext cx="1572768" cy="722376"/>
          </a:xfrm>
          <a:prstGeom prst="rect">
            <a:avLst/>
          </a:prstGeom>
        </p:spPr>
      </p:pic>
      <p:pic>
        <p:nvPicPr>
          <p:cNvPr id="6" name="Picture 5" descr="cover-hero-v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594360"/>
            <a:ext cx="4343400" cy="5440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1481328"/>
            <a:ext cx="78638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19072"/>
            <a:ext cx="61264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SLIDES · WSQ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84831"/>
            <a:ext cx="6172200" cy="1508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AI Vibe Coding for iOS Mobile Apps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67328"/>
            <a:ext cx="59893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Portable C++ core · Objective-C++ adapter · SwiftUI shell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443984"/>
            <a:ext cx="5897880" cy="10241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590288"/>
            <a:ext cx="5440680" cy="713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TGS-2023037545  ·  Software Design 3 · ICT-DES-3005-1.1
Tertiary Infotech Academy Pte Ltd  ·  UEN 201200696W
Trainer: Dr Alfred 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80644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v1.0 · 12 September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53035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clrMapOvr>
    <a:masterClrMapping/>
  </p:clrMapOvr>
  <p:transition advClick="1" spd="med">
    <p:push dir="l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MANDATORY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· TRAQOM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 the SSG TRAQOM attendance request shown by the trainer.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TRAQOM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Verify course, session and identity details before confirming.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TRAQOM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Complete attendance at the required start and end checkpoints.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TRAQOM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Tell the trainer immediately if the status is not confirmed.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TRAQOM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records SSG digital attendance. It is not a course survey.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3017520" cy="43159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45336" y="2139696"/>
            <a:ext cx="1243584" cy="1243584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5336" y="2441448"/>
            <a:ext cx="1243584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94760"/>
            <a:ext cx="2468880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General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315968"/>
            <a:ext cx="2468880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Template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95928" y="1719072"/>
            <a:ext cx="7498079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95928" y="1719072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1856231"/>
            <a:ext cx="1536192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2" y="1828800"/>
            <a:ext cx="5422392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95928" y="2441448"/>
            <a:ext cx="7498079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95928" y="2441448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2578608"/>
            <a:ext cx="1536192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TITLE / DESIGNATION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2551176"/>
            <a:ext cx="5422392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95928" y="3163824"/>
            <a:ext cx="7498079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95928" y="3163824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300984"/>
            <a:ext cx="1536192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2" y="3273552"/>
            <a:ext cx="5422392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95928" y="3886200"/>
            <a:ext cx="7498079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95928" y="3886200"/>
            <a:ext cx="82296" cy="58521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9392" y="4023360"/>
            <a:ext cx="1536192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77600"/>
                </a:solidFill>
                <a:latin typeface="Arial"/>
              </a:rPr>
              <a:t>AREAS OF EXPERTISE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2432" y="3995928"/>
            <a:ext cx="5422392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95928" y="4608576"/>
            <a:ext cx="7498079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95928" y="4608576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9392" y="4745736"/>
            <a:ext cx="1536192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TRAINING 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2432" y="4718304"/>
            <a:ext cx="5422392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95928" y="5330952"/>
            <a:ext cx="7498079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95928" y="5330952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79392" y="5468112"/>
            <a:ext cx="1536192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42432" y="5440680"/>
            <a:ext cx="5422392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3017520" cy="43159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45336" y="2139696"/>
            <a:ext cx="1243584" cy="124358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5336" y="2441448"/>
            <a:ext cx="1243584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94760"/>
            <a:ext cx="2468880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315968"/>
            <a:ext cx="2468880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Lead Trainer · AI and Software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95928" y="1719072"/>
            <a:ext cx="7498079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95928" y="1719072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1856231"/>
            <a:ext cx="1536192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2" y="1828800"/>
            <a:ext cx="5422392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Founder and principal trainer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95928" y="2441448"/>
            <a:ext cx="7498079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95928" y="2441448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2578608"/>
            <a:ext cx="1536192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CERTIFICATION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2551176"/>
            <a:ext cx="5422392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Adult educator and technology specialist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95928" y="3163824"/>
            <a:ext cx="7498079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95928" y="3163824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300984"/>
            <a:ext cx="1536192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DELIVERS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2" y="3273552"/>
            <a:ext cx="5422392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AI, mobile, cloud and software design programmes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95928" y="3886200"/>
            <a:ext cx="7498079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95928" y="3886200"/>
            <a:ext cx="82296" cy="58521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9392" y="4023360"/>
            <a:ext cx="1536192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77600"/>
                </a:solidFill>
                <a:latin typeface="Arial"/>
              </a:rPr>
              <a:t>INDUSTRY 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2432" y="3995928"/>
            <a:ext cx="5422392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Applied architecture and product delivery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95928" y="4608576"/>
            <a:ext cx="7498079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95928" y="4608576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9392" y="4745736"/>
            <a:ext cx="1536192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TRAINING APPROACH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2432" y="4718304"/>
            <a:ext cx="5422392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Mechanism-led, evidence-backed practice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95928" y="5330952"/>
            <a:ext cx="7498079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95928" y="5330952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79392" y="5468112"/>
            <a:ext cx="1536192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42432" y="5440680"/>
            <a:ext cx="5422392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Learner 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Share your Swift, C++ and iOS development background.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LEARNER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Name one iOS capability you want to design and validate.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LEARNER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Describe how you currently decide that software works.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LEARNER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Identify one area where AI assistance needs review.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LEARNER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 the introductions to calibrate examples without changing the regulated learning outcomes.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GROUND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Working Agreements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Safe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mock data; never paste credentials or personal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GOVERNANCE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Protect unrelated files and approved requirements.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GOVERNANCE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checks and retain evidence for material claims.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GOVERNANCE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Accountable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Human review owns consequential design and release decisions.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GOVERNANCE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Ask early when a requirement, permission or acceptance criterion is unclear.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THE THROUGH-LINE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SwiftUI 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Apple-native controls, navigation, accessibility and 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ARCH-CLEAN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Objective-C++ adapter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single translation seam for types, ownership and errors.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ARCH-CLEAN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Portable C++ 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Business invariants, exact values, ports and domain tests.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ARCH-CLEAN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pack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Traceability, tests, ADRs, privacy and deployment checklist.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ARCH-CLEAN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Swift supplements the regulated C++ scope; it does not replace it.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TWO-DAY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Topic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Requirements and the Portable Component Boundary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COURSE-MAP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Topic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C++ Methods, Toolchain and AI-Assisted TDD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COURSE-MAP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Topic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Controls, Features and the SwiftUI Shell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COURSE-MAP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Topic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Objective-C++ Interoperability, Persistence and Validation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COURSE-MAP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Topic 5 completes the evidence and deployment thread; ten Activities progressively build BudgetBuddy.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8 CONTACT HOURS · LUNCH 13:00–14:00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·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09:30–11:00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Requirements, component boundaries and Activity 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SCHEDULE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11:00–13:00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Portable C++ design and Activity 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SCHEDULE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14:00–16:00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C++ methods, tools and AI-assisted TDD.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SCHEDULE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16:00–18:30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Activities 3–4, reflection and evidence review.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SCHEDULE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Detailed timings, methods and slide references are in the Lesson Plan.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8 CONTACT HOURS · LUNCH 13:00–14:00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· Day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09:30–11:15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SwiftUI controls and Objective-C++ interoperability.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SCHEDULE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11:15–13:00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Activities 5–6 and state validation.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SCHEDULE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14:00–16:30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Activities 7–10, documentation and release evidence.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SCHEDULE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16:30–18:30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Written Assessment 1 h · Practical Performance 1 h.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SCHEDULE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Both assessments retain the approved one-hour duration.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SOFTWARE DESIGN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Regulated 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Determine basic software components using C++ methodologies to meet functional specifications.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LO1-LO4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Apply C++ methodologies and tools for software creation.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LO1-LO4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Select essential C++ controls and features to meet software design requirements.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LO1-LO4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Examine the interoperability and functionality of C++ software components.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LO1-LO4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LO5: Generate C++ design documentation aligned with user specifications.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TSC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and Ability Pairing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K1 / A1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Design requirements for simple, basic software components. Apply through the corresponding Activity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K/A-MAP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K2 / A2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Basic software design tools and techniques. Apply through the corresponding Activity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K/A-MAP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K3 / A3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Types of controls, elements and features in software. Apply through the corresponding Activity evidence.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K/A-MAP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K4 / A4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Indicators of software functionality and interoperability. Apply through the corresponding Activity evidence.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K/A-MAP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K5 / A5: Documentation of design details. Produce detailed design documentation mapped to user specifications.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READ 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Written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Five open-ended questions · K1–K5 · 1 hour.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Three coherent tasks · A1–A5 · 1 hour.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Complete the provided document and upload it to the LMS.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Competent or Not Yet Competent, based on stated criteria.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Candidate papers contain instructions and grading on page 2; questions and scenario begin on page 3.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Meet the required attendance threshold and complete TRAQOM.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Submit both assessment instruments through the LMS.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Authenticity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Complete individual work and explain your implementation.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Ask the assessor to clarify instructions, not supply answers.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Assessment answer keys are trainer-only and never linked from learner channels.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LEARNER MATERIALS ·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Course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Git when you want version history and can run a terminal command.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ACTIVITY-ACCESS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Download ZIP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Code → Download ZIP when Git is not available on the learner device.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ACTIVITY-ACCESS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identity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Confirm the repository name and course code TGS-2023037545 before using files.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ACTIVITY-ACCESS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 the guides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 activities/README.md, then enter the matching numbered Activity folder.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ACTIVITY-ACCESS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Clone: git clone https://github.com/tertiarycourses/TGS-2023037545-AI-Vibe-Coding-for-iOS-Mobile-Apps-Development.git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93392" y="5843016"/>
            <a:ext cx="8183879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  <a:hlinkClick r:id="rId3"/>
              </a:rPr>
              <a:t>https://github.com/tertiarycourses/TGS-2023037545-AI-Vibe-Coding-for-iOS-Mobile-Apps-Development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ASSESSMENT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874519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9595" y="22585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9595" y="2414016"/>
            <a:ext cx="749808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19272"/>
            <a:ext cx="1545336" cy="7498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246120"/>
            <a:ext cx="31089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62656" y="1874519"/>
            <a:ext cx="1874519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874519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5012" y="22585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5012" y="2414016"/>
            <a:ext cx="749808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3319272"/>
            <a:ext cx="1545336" cy="7498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Assessment
attendance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246120"/>
            <a:ext cx="320040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57216" y="1874519"/>
            <a:ext cx="1874519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874519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2" y="22585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2" y="2414016"/>
            <a:ext cx="749808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7" y="3319272"/>
            <a:ext cx="1545336" cy="7498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WA then PP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246120"/>
            <a:ext cx="310895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42631" y="1874519"/>
            <a:ext cx="1874519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874519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4988" y="2258568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4988" y="2414016"/>
            <a:ext cx="749808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7223" y="3319272"/>
            <a:ext cx="1545336" cy="7498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on
the LMS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246120"/>
            <a:ext cx="320041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37192" y="1874519"/>
            <a:ext cx="1874519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874519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9548" y="22585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9548" y="2414016"/>
            <a:ext cx="749808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01784" y="3319272"/>
            <a:ext cx="1545336" cy="7498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the
ASR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047488"/>
            <a:ext cx="10634472" cy="6126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230368"/>
            <a:ext cx="101041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ASR = Assessment Summary Record · complete the sign-off only after both instruments are submitted.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737360"/>
            <a:ext cx="10835640" cy="32918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768096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1 · LO1 · K1 · 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8732520" cy="9326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Requirements and the Portable Component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67328"/>
            <a:ext cx="8732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LO1: Determine basic software components using C++ methodologies to meet functional specifications.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4352" y="658368"/>
            <a:ext cx="1417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5400" b="1">
                <a:solidFill>
                  <a:srgbClr val="D7E0EA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advClick="1" spd="med">
    <p:push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LO1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Functional requirements become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Elicit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TSC-K1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State invariant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TSC-K1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TSC-K1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Write acceptance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TSC-K1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Translate each user story into an invariant and testable acceptance criterion.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Functional requirements become contracts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Elicit need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invariant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Define interface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Write acceptance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 prompt says build an app but never defines observable success. Control: Translate each user story into an invariant and testable acceptance criterion.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Functional requirements become contracts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struct Requirement { std::string id; bool testable; };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Accepted behaviours / specified behaviours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LO1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business rules from the iOS shell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SwiftUI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CPP-BOUNDARY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Adapter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Bridge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CPP-BOUNDARY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C++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Domain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CPP-BOUNDARY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Value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Result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CPP-BOUNDARY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Keep portable policy in C++; keep presentation and Apple frameworks in Swift.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Separate business rules from the iOS shell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SwiftUI event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Adapter call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C++ rule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Value result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Rules leak into View bodies and cannot be reused or isolated. Control: Keep portable policy in C++; keep presentation and Apple frameworks in Swift.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Separate business rules from the iOS shell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class BudgetPolicy { public: Decision evaluate(const Input&amp;) const; };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Bridge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Domain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Result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Domain tests runnable without Simulator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LO1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Define a narrow C ABI seam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int64_t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OBJCXX-ABI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Stabilise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const char*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OBJCXX-ABI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Expose function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opaque handle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OBJCXX-ABI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Wrap in Swift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status code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OBJCXX-ABI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Expose C-compatible data at the boundary; hide implementation behind the adapter.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Define a narrow C ABI seam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Choose values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Stabilise types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Expose function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Wrap in Swift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C++ templates or STL containers cross directly into Swift. Control: Expose C-compatible data at the boundary; hide implementation behind the adapter.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Define a narrow C ABI seam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extern "C" BudgetResult budget_evaluate(BudgetInput input);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int64_t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const char*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opaque handle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status code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Boundary surface measured in stable operations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LO1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money without floating-point drift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 decimal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minor units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Convert to cents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currency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Compute in integer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rounding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CPP-VALUE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Format for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display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CPP-VALUE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Represent monetary amounts as signed 64-bit minor units in the domain.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Model money without floating-point drift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 decimal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Convert to cents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Compute in integer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Format for 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Binary floating point creates a one-cent mismatch. Control: Represent monetary amounts as signed 64-bit minor units in the domain.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Model money without floating-point drift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struct Money { std::int64_t cents; };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minor units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currency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rounding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display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Exact equality for ledger totals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LO1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immutable value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invariant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CPP-OOP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Construct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constructor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CPP-OOP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Pass by const ref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CPP-OOP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Return new 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equality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CPP-OOP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Make invariants constructor-level and expose values through read-only accessors.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immutable value objects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Validate 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Construct value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Pass by const ref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Return new value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Partially initialised objects travel through the system. Control: Make invariants constructor-level and expose values through read-only accessors.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Design immutable value objects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class Category { std::string value_; public: explicit Category(std::string); };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invariant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constructor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equality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Invalid states rejected at construction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LO1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a user story to an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TSC-A1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Find verb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command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TSC-A1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Name operation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query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TSC-A1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Specify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error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TSC-A1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Name operations after domain decisions, then let SwiftUI adapt them.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a user story to an interface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story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Find verb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Name operation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Specify result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The API mirrors screen widgets instead of business intent. Control: Name operations after domain decisions, then let SwiftUI adapt them.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Map a user story to an interface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virtual AddResult addExpense(const ExpenseDraft&amp;) = 0;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command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query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Traceable story-to-operation mapping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LO1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acceptance criteria as design pressure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Given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precondition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REQ-TRACE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When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trigger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REQ-TRACE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Then outcome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postcondition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REQ-TRACE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And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artifact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REQ-TRACE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Write externally observable outcomes before selecting controls or tools.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Use acceptance criteria as design pressure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Given state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When action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Then outcome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And 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Acceptance criteria describe implementation steps rather than outcomes. Control: Write externally observable outcomes before selecting controls or tools.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Use acceptance criteria as design pressure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// Given valid draft, when added, then total increases by exact cents.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precondition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trigger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postcondition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artifact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Criteria with deterministic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LO1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Choose component granularity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Find responsibility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responsibility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ARCH-CLEAN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 cohesion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cohesion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ARCH-CLEAN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 coupling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dependency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ARCH-CLEAN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Cut boundary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contract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ARCH-CLEAN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Partition by responsibility and dependency direction, not by file-count targets.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Choose component granularity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Find responsibility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Measure cohesion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Inspect coupling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Cut boundary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 single Manager object owns UI, persistence, validation and policy. Control: Partition by responsibility and dependency direction, not by file-count targets.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Choose component granularity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ExpenseService -&gt; ExpenseRepository; ViewModel -&gt; ExpenseService;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responsibility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cohesion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dependency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contract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Reasons-to-change per component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LO1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Express failure in the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Enumerate faults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Classify recoverability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storage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CPP-ERROR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result 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bridge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CPP-ERROR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Map to message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unexpected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CPP-ERROR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 typed errors in C++; translate them once at the Objective-C++ edge.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Express failure in the contract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Enumerate faults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Classify recoverability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Create result type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Map to message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 Boolean failure discards the cause and repair path. Control: Use typed errors in C++; translate them once at the Objective-C++ edge.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Express failure in the contract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using AddResult = std::variant&lt;ExpenseId, DomainError&gt;;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storage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bridge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unexpected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Failure variants handled explicitly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LO1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Estimate before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Slice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must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DESIGN-TOOL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Expose unknowns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should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DESIGN-TOOL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Prototype seam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risk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DESIGN-TOOL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Commit scope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spike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DESIGN-TOOL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Time-box an Objective-C++ seam spike before committing the architecture.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Estimate before implementation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Slice capability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Expose unknowns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Prototype seam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Commit scope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The hardest bridge uncertainty appears late in the capstone. Control: Time-box an Objective-C++ seam spike before committing the architecture.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Estimate before implementation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// Spike: Swift -&gt; ObjC++ -&gt; C++ -&gt; immutable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must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should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risk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spike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Unknowns retired before full 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LO1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Requirements baseline and change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Version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requirement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GOV-AI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Record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version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GOV-AI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Link 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rationale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GOV-AI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Re-run impact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affected tests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GOV-AI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Treat AI output as a proposal against a versioned baseline.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Requirements baseline and change control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Version baseline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Record decision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Link change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Re-run impact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 model-generated change silently alters an approved requirement. Control: Treat AI output as a proposal against a versioned baseline.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Requirements baseline and change control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struct Change { std::string requirementId; std::string rationale; };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requirement 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rationale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affected tests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Changes with explicit downstream impact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TOPIC 1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1 · Evidence Coverage by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41248" y="1773936"/>
          <a:ext cx="717804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02752" y="1773936"/>
            <a:ext cx="3191256" cy="38862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2048256"/>
            <a:ext cx="26517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2542032"/>
            <a:ext cx="2578608" cy="22311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Coverage should form a connected chain. A polished UI cannot compensate for untested invariants or an undocumented seam.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5010912"/>
            <a:ext cx="2578608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chart · values are instructional thresholds, not production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HANDS-ON ACTIVITY · 70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1: Requirements and Component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812280" cy="187451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15544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77440"/>
            <a:ext cx="6254496" cy="8046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Convert stakeholder needs into testable requirements and design the SwiftUI–Objective-C++–C++ boundary.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44968" y="1737360"/>
            <a:ext cx="3749039" cy="187451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1984248"/>
            <a:ext cx="25603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REGULATED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2423160"/>
            <a:ext cx="25603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7C3AED"/>
                </a:solidFill>
                <a:latin typeface="Arial"/>
              </a:rPr>
              <a:t>K1, A1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13632"/>
            <a:ext cx="10835640" cy="12984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133087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517136"/>
            <a:ext cx="67665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Requirement matrix, boundary diagram and acceptance criteria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352544"/>
            <a:ext cx="31821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Markdown, diagrams.net or PowerPoint, JSON fixture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68112"/>
            <a:ext cx="10835640" cy="57607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641848"/>
            <a:ext cx="1014984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Detailed procedures: Learner Guide and activities/01-requirements-component-boundary/README.md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 · Delivery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the BudgetBuddy scenario and identify actors, inputs, rules and outcomes.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K1, A1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Write five uniquely identified functional requirements and three non-functional constraints.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K1, A1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Draw the SwiftUI shell, Objective-C++ adapter and portable C++ domain core as separate responsibilities.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K1, A1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requirement links to one interface operation and one observable acceptance criterion.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K1, A1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The slide communicates the workflow; the Learner Guide carries the detailed procedure and commands.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VERIFY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Requirement matrix, boundary diagram and acceptance criteria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K1, A1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requirement links to one interface operation and one observable acceptance criterion.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K1, A1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If the boundary follows screen widgets, restate each operation as a business verb before redrawing.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K1, A1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Retain the versioned design artifacts; remove only disposable sketches.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K1, A1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is a retrievable artifact or test result, not a statement that the activity was completed.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 · Verification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652760" cy="182880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57400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469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Every requirement links to one interface operation and one observable acceptance criterion.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913632"/>
            <a:ext cx="5129784" cy="129844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4151376"/>
            <a:ext cx="16459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517136"/>
            <a:ext cx="4498848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If the boundary follows screen widgets, restate each operation as a business verb before redrawing.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913632"/>
            <a:ext cx="5221224" cy="12984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4151376"/>
            <a:ext cx="21945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LEAVE THE 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517136"/>
            <a:ext cx="4590288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Retain the versioned design artifacts; remove only disposable sketches.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HANDS-ON ACTIVITY · 85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2: Portable C++ Domain 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812280" cy="187451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15544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77440"/>
            <a:ext cx="6254496" cy="8046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Implement exact-cent value objects and a small budget policy as a standalone CMake library.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44968" y="1737360"/>
            <a:ext cx="3749039" cy="187451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1984248"/>
            <a:ext cx="25603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REGULATED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2423160"/>
            <a:ext cx="25603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7C3AED"/>
                </a:solidFill>
                <a:latin typeface="Arial"/>
              </a:rPr>
              <a:t>K1, A1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13632"/>
            <a:ext cx="10835640" cy="12984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133087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517136"/>
            <a:ext cx="67665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Compiling C++20 library and domain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352544"/>
            <a:ext cx="31821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C++20, CMake, CTest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68112"/>
            <a:ext cx="10835640" cy="57607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641848"/>
            <a:ext cx="1014984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Detailed procedures: Learner Guide and activities/02-portable-cpp-domain-core/README.md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2 · Delivery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Configure the starter with CMake in an out-of-tree build folder.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K1, A1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Implement Money and ExpenseDraft invariants using integer minor units.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K1, A1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 tests for valid, zero, negative and over-budget cases.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K1, A1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CTest reports all domain tests passed and the public header contains no Objective-C or Swift constructs.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K1, A1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The slide communicates the workflow; the Learner Guide carries the detailed procedure and commands.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VERIFY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2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Compiling C++20 library and domain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K1, A1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CTest reports all domain tests passed and the public header contains no Objective-C or Swift constructs.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K1, A1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Delete only the local build directory and reconfigure; inspect the first compiler diagnostic, not the last.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K1, A1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Remove build/; keep source, headers and tests.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K1, A1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is a retrievable artifact or test result, not a statement that the activity was completed.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2 · Verification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652760" cy="182880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57400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469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CTest reports all domain tests passed and the public header contains no Objective-C or Swift constructs.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913632"/>
            <a:ext cx="5129784" cy="129844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4151376"/>
            <a:ext cx="16459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517136"/>
            <a:ext cx="4498848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Delete only the local build directory and reconfigure; inspect the first compiler diagnostic, not the last.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913632"/>
            <a:ext cx="5221224" cy="12984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4151376"/>
            <a:ext cx="21945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LEAVE THE 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517136"/>
            <a:ext cx="4590288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build/; keep source, headers and tests.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1 ·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LO1: Determine basic software components using C++ methodologies to meet functional specifications.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LO1 · K1 · A1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Demonstrate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Show the Activity evidence that operationalises the outcome.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LO1 · K1 · A1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Diagnose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Name the failure signal and the layer where it originates.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LO1 · K1 · A1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Connect LO1 · K1 · A1 to the assessment and evidence pack.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LO1 · K1 · A1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 not advance on confidence alone; point to the artifact or test result that supports the answer.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737360"/>
            <a:ext cx="10835640" cy="32918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768096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2 · LO2 · K2 · 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8732520" cy="9326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C++ Methods, Toolchain and AI-Assisted TDD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67328"/>
            <a:ext cx="8732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LO2: Apply C++ methodologies and tools for software creation.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4352" y="658368"/>
            <a:ext cx="1417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5400" b="1">
                <a:solidFill>
                  <a:srgbClr val="D7E0EA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advClick="1" spd="med">
    <p:push dir="l"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 · LO2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CMake defines a portable build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Declare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library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CPP-CMAKE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standard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C++20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CPP-CMAKE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Attach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CPP-CMAKE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out-of-tree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build dir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CPP-CMAKE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Make the core buildable with CMake and add it to Xcode as an explicit dependency.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CMake defines a portable build graph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Declare target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Set standard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Attach tests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Build out-of-tree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Xcode-only configuration hides a broken standalone core. Control: Make the core buildable with CMake and add it to Xcode as an explicit dependency.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CMake defines a portable build graph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add_library(DomainCore STATIC src/Budget.cpp)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library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C++20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build dir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Reproducible build from clean checkout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 · LO2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Red-Green-Refactor with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Write failing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AI-TDD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Ask for minimal 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minimal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AI-TDD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green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AI-TDD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Refactor with suite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AI-TDD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Freeze expected behaviour first and demand the smallest causal patch.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Red-Green-Refactor with AI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Write failing test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Ask for minimal patch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test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Refactor with suite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The assistant writes implementation and tests that merely echo it. Control: Freeze expected behaviour first and demand the smallest causal patch.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Use Red-Green-Refactor with AI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TEST(BudgetPolicy, RejectsNegativeLimit) { EXPECT_THROW(...);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minimal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green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Every production change preceded by a meaningful 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 · LO2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Prompt context is an engineering 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State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AI-PROMPT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Attach relevant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AI-PROMPT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constraints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AI-PROMPT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done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checks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AI-PROMPT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Name protected interfaces and exact verification commands.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Prompt context is an engineering input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contract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Attach relevant files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Set constraints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Define done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 broad prompt invites API churn and unrelated edits. Control: Name protected interfaces and exact verification commands.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Prompt context is an engineering input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Goal: implement evaluate(). Preserve BudgetPolicy.hpp. Run ctest.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goal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checks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Acceptance checks passed on first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 · LO2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 types to encode invariants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int64_t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CPP-TYPES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signedness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enum class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CPP-TYPES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Name unit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chrono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CPP-TYPES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Guard conversion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optional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CPP-TYPES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Prefer domain types, scoped enumerations and explicit optional values.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 types to encode invariants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Inspect range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Choose signedness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Name unit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Guard conversion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Primitive strings and doubles hide units and optionality. Control: Prefer domain types, scoped enumerations and explicit optional values.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Select types to encode invariants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enum class ExpenseKind : std::uint8_t { food, travel, other };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int64_t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enum 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chrono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optional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Invalid conversions detected at boundaries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 · LO2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Functions expose intention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Name verb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command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CPP-FUNCTION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Limit parameters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query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CPP-FUNCTION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Return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CPP-FUNCTION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Keep pure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nodiscard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CPP-FUNCTION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Return data or typed errors; inject side effects through interfaces.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Functions expose intention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Name verb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Limit parameters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Return value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Keep pure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 function mutates globals and communicates failure by logging. Control: Return data or typed errors; inject side effects through interfaces.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Functions expose intention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[[nodiscard]] Money remaining(Money limit, Money spent);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command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query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nodiscard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Pure functions covered by deterministic tests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 · LO2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flow should reveal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Guard invalid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guard clause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switch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CPP-CONTROL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loop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CPP-CONTROL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Return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result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CPP-CONTROL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 guards and small policy functions; reserve loops for collections.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flow should reveal policy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Guard invalid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Select case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Apply rule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Return result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Deep nesting obscures which condition owns a decision. Control: Use guards and small policy functions; reserve loops for collections.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Control flow should reveal policy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if (draft.amount.cents &lt;= 0) return DomainError::invalidAmount;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guard clause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switch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result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Cyclomatic paths each have a named 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 · LO2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RAII makes ownership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Acquire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unique_ptr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CPP-RAII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Bind to object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vector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CPP-RAII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 safely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fstream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CPP-RAII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Release by scope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destructor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CPP-RAII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Keep RAII inside C++; cross the boundary using copied value snapshots.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RAII makes ownership visible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Acquire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Bind to object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 safely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Release by scope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Raw ownership crosses the bridge and leaks on an error path. Control: Keep RAII inside C++; cross the boundary using copied value snapshots.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RAII makes ownership visible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auto repo = std::make_unique&lt;JsonExpenseRepository&gt;(path);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unique_ptr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vector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fstream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destructor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Zero manual delete paths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 · LO2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Dependency injection enables substitution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interface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ARCH-DI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Inject 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constructor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ARCH-DI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Exercise fake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fake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ARCH-DI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Swap adapter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production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ARCH-DI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Inject repositories and clocks through narrow abstract ports.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Dependency injection enables substitution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Define port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Inject implementation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Exercise fake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Swap adapter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 singleton couples rules to persistence and time. Control: Inject repositories and clocks through narrow abstract ports.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Dependency injection enables substitution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ExpenseService(ExpenseRepository&amp; repo, Clock&amp; clock);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interface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constructor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fake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production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Core tests run without disk or iOS runtime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 · LO2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Compiler diagnostics are design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Enable warnings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-Wall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CPP-TOOLCHAIN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Treat as errors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-Wextra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CPP-TOOLCHAIN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locus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-Werror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CPP-TOOLCHAIN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Repair cause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sanitizer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CPP-TOOLCHAIN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 strict warnings and sanitizers during development; document platform differences.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Compiler diagnostics are design feedback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Enable warnings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Treat as errors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locus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Repair cause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Generated code compiles only under permissive defaults. Control: Use strict warnings and sanitizers during development; document platform differences.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Compiler diagnostics are design feedback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target_compile_options(DomainCore PRIVATE -Wall -Wextra -Werror)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-Wall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-Wextra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-Werror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sanitizer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Zero warnings in clean 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 · LO2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AI diffs semantically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AI-REVIEW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invariant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AI-REVIEW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 lifetime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ownership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AI-REVIEW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regression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tests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AI-REVIEW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data representation and lifetimes before style.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AI diffs semantically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contract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Trace data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Inspect lifetime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regression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 plausible patch introduces silent truncation or ownership ambiguity. Control: Review data representation and lifetimes before style.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AI diffs semantically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// Review: conversion from Swift Int to int32_t may overflow.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invariant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ownership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Review findings resolved before merge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SCENARIO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Code Review · Evidence before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-code-review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37360"/>
            <a:ext cx="6720840" cy="43159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62672" y="1737360"/>
            <a:ext cx="3831336" cy="960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62672" y="1737360"/>
            <a:ext cx="82296" cy="960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901952"/>
            <a:ext cx="36576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901952"/>
            <a:ext cx="2724912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Locate the claim in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62672" y="2880360"/>
            <a:ext cx="3831336" cy="960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62672" y="2880360"/>
            <a:ext cx="82296" cy="9601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3044952"/>
            <a:ext cx="36576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044952"/>
            <a:ext cx="2724912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Reproduce material findings.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4023360"/>
            <a:ext cx="3831336" cy="960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62672" y="4023360"/>
            <a:ext cx="82296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187952"/>
            <a:ext cx="36576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187952"/>
            <a:ext cx="2724912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Classify severity and owner.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62672" y="5166360"/>
            <a:ext cx="3831336" cy="960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62672" y="5166360"/>
            <a:ext cx="82296" cy="9601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5330952"/>
            <a:ext cx="36576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330952"/>
            <a:ext cx="2724912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focused and regression checks.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 · LO2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Organisational practice is executable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Write convention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format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TSC-A2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Automate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TSC-A2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locally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tests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TSC-A2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Enforce in CI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TSC-A2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Translate practices into formatter, compiler and test configuration.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Organisational practice is executable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Write convention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Automate check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locally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Enforce in CI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 design principle remains prose and is ignored under time pressure. Control: Translate practices into formatter, compiler and test configuration.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Organisational practice is executable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cmake --build build &amp;&amp; ctest --test-dir build --output-on-failure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format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Same checks locally and in CI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TOPIC 2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2 · Evidence Coverage by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41248" y="1773936"/>
          <a:ext cx="717804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02752" y="1773936"/>
            <a:ext cx="3191256" cy="38862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2048256"/>
            <a:ext cx="26517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2542032"/>
            <a:ext cx="2578608" cy="22311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Coverage should form a connected chain. A polished UI cannot compensate for untested invariants or an undocumented seam.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5010912"/>
            <a:ext cx="2578608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chart · values are instructional thresholds, not production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HANDS-ON ACTIVITY · 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3: AI-Assisted TDD for C++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812280" cy="187451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15544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77440"/>
            <a:ext cx="6254496" cy="8046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an evidence-bound AI prompt to implement a rule through Red-Green-Refactor.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44968" y="1737360"/>
            <a:ext cx="3749039" cy="187451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1984248"/>
            <a:ext cx="25603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REGULATED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2423160"/>
            <a:ext cx="25603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7C3AED"/>
                </a:solidFill>
                <a:latin typeface="Arial"/>
              </a:rPr>
              <a:t>K2, A2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13632"/>
            <a:ext cx="10835640" cy="12984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133087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517136"/>
            <a:ext cx="67665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Prompt contract, failing trace, minimal patch and passing trace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352544"/>
            <a:ext cx="31821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AI coding assistant, CTest, diff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68112"/>
            <a:ext cx="10835640" cy="57607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641848"/>
            <a:ext cx="1014984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Detailed procedures: Learner Guide and activities/03-ai-assisted-tdd/README.md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3 · Delivery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the supplied failing overspend test and save the red trace.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K2, A2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Write a prompt naming the contract, protected files and exact finish checks.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K2, A2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Review types, ownership, error paths and unrelated changes.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K2, A2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Evidence includes a meaningful initial failure, a scoped diff and a fully passing suite.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K2, A2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The slide communicates the workflow; the Learner Guide carries the detailed procedure and commands.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VERIFY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3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Prompt contract, failing trace, minimal patch and passing trace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K2, A2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Evidence includes a meaningful initial failure, a scoped diff and a fully passing suite.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K2, A2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If the test passed before the change, strengthen the assertion before asking for implementation.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K2, A2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Keep prompt and evidence; revert experimental changes outside the accepted patch.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K2, A2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is a retrievable artifact or test result, not a statement that the activity was completed.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3 · Verification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652760" cy="182880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57400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469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Evidence includes a meaningful initial failure, a scoped diff and a fully passing suite.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913632"/>
            <a:ext cx="5129784" cy="129844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4151376"/>
            <a:ext cx="16459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517136"/>
            <a:ext cx="4498848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If the test passed before the change, strengthen the assertion before asking for implementation.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913632"/>
            <a:ext cx="5221224" cy="12984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4151376"/>
            <a:ext cx="21945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LEAVE THE 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517136"/>
            <a:ext cx="4590288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prompt and evidence; revert experimental changes outside the accepted patch.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HANDS-ON ACTIVITY · 65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4: Toolchain and Quality 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812280" cy="187451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15544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77440"/>
            <a:ext cx="6254496" cy="8046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Turn organisational design practices into compiler, formatter and test gates.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44968" y="1737360"/>
            <a:ext cx="3749039" cy="187451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1984248"/>
            <a:ext cx="25603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REGULATED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2423160"/>
            <a:ext cx="25603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7C3AED"/>
                </a:solidFill>
                <a:latin typeface="Arial"/>
              </a:rPr>
              <a:t>K2, A2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13632"/>
            <a:ext cx="10835640" cy="12984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133087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517136"/>
            <a:ext cx="67665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Warning-clean build, quality script and evidence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352544"/>
            <a:ext cx="31821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CMake, compiler warnings, sanitizers, shell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68112"/>
            <a:ext cx="10835640" cy="57607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641848"/>
            <a:ext cx="1014984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Detailed procedures: Learner Guide and activities/04-toolchain-quality-gates/README.md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4 · Delivery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Enable C++20 plus -Wall, -Wextra and -Werror for the core target.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K2, A2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 a single verify script that configures, builds and tests.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K2, A2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Repair the causal line and run the complete verification again.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K2, A2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clean checkout can run one command and receive a non-zero exit on the injected defect and zero after repair.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K2, A2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The slide communicates the workflow; the Learner Guide carries the detailed procedure and commands.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VERIFY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4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Warning-clean build, quality script and evidence 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K2, A2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clean checkout can run one command and receive a non-zero exit on the injected defect and zero after repair.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K2, A2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If Apple Clang rejects a flag, gate it by compiler ID and document the equivalent.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K2, A2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Remove generated build and sanitizer output, not the verification script.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K2, A2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is a retrievable artifact or test result, not a statement that the activity was completed.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4 · Verification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652760" cy="182880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57400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469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A clean checkout can run one command and receive a non-zero exit on the injected defect and zero after repair.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913632"/>
            <a:ext cx="5129784" cy="129844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4151376"/>
            <a:ext cx="16459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517136"/>
            <a:ext cx="4498848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If Apple Clang rejects a flag, gate it by compiler ID and document the equivalent.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913632"/>
            <a:ext cx="5221224" cy="12984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4151376"/>
            <a:ext cx="21945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LEAVE THE 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517136"/>
            <a:ext cx="4590288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generated build and sanitizer output, not the verification script.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2 ·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LO2: Apply C++ methodologies and tools for software creation.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LO2 · K2 · A2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Demonstrate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Show the Activity evidence that operationalises the outcome.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LO2 · K2 · A2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Diagnose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Name the failure signal and the layer where it originates.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LO2 · K2 · A2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Connect LO2 · K2 · A2 to the assessment and evidence pack.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LO2 · K2 · A2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 not advance on confidence alone; point to the artifact or test result that supports the answer.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737360"/>
            <a:ext cx="10835640" cy="32918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768096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3 · LO3 · K3 · 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8732520" cy="9326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Controls, Features and the SwiftUI Shell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67328"/>
            <a:ext cx="8732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LO3: Select essential C++ controls and features to meet software design requirements.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4352" y="658368"/>
            <a:ext cx="1417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5400" b="1">
                <a:solidFill>
                  <a:srgbClr val="D7E0EA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advClick="1" spd="med">
    <p:push dir="l"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 · LO3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SwiftUI renders state as a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Own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@State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SWIFTUI-STATE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Derive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@Observable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SWIFTUI-STATE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Send intent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body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SWIFTUI-STATE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Render update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SWIFTUI-STATE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Keep View declarative; send intent to a state owner that calls the bridge.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SwiftUI renders state as a function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Own state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Derive view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Send intent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Render update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Business rules execute inside body and repeat on every render. Control: Keep View declarative; send intent to a state owner that calls the bridge.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SwiftUI renders state as a function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@Observable final class BudgetViewModel { private(set) var snapshot: Snapshot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@State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@Observable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body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UI states covered by previews or tests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 · LO3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 controls from the data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Identify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TextField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TSC-A3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affordance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Picker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TSC-A3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Constrain input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Toggle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TSC-A3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Expose feedback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Button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TSC-A3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the control that communicates range, optionality and consequence.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Select controls from the data contract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Identify type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Choose affordance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Constrain input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Expose feedback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 free-text field captures a value from a small controlled set. Control: Choose the control that communicates range, optionality and consequence.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Select controls from the data contract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Picker("Category", selection: $draft.category) { ...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TextField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Picker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Toggle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Button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Invalid states prevented or explained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 · LO3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Validation belongs at two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Guide in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format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domain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invariant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VALIDATION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Map error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message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VALIDATION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Preserve input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VALIDATION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Provide immediate SwiftUI guidance and enforce invariants again in C++.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Validation belongs at two boundaries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Guide in UI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Validate domain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Map error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Preserve input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UI validation is treated as sufficient security or correctness. Control: Provide immediate SwiftUI guidance and enforce invariants again in C++.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Validation belongs at two boundaries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guard let cents = MoneyParser.cents(text) else { message = .invalidAmount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format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invariant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message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Rejected invalid inputs with recoverable 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 · LO3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Navigation models workflow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destination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NavigationStack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SWIFTUI-NAV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Bind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NavigationPath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SWIFTUI-NAV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Pass identity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route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SWIFTUI-NAV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Handle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selection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SWIFTUI-NAV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Route with identifiers and reload authoritative snapshots at boundaries.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Navigation models workflow state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Define destination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Bind path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Pass identity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Handle return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Views pass mutable models through an implicit navigation chain. Control: Route with identifiers and reload authoritative snapshots at boundaries.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Navigation models workflow state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enum Route: Hashable { case expenseDetail(UUID); case settings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NavigationStack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NavigationPath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route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selection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Deep link and back path produce valid 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 · LO3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Lists need stable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Fetch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Identifiable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SWIFTUI-LIST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Identify row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UUID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SWIFTUI-LIST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Render collection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ForEach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SWIFTUI-LIST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intent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delete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SWIFTUI-LIST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Expose stable IDs from the core and reconcile snapshots by identity.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Lists need stable identity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Fetch snapshot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Identify row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Render collection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Apply intent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Array indices are used as identity and shift after deletion. Control: Expose stable IDs from the core and reconcile snapshots by identity.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Lists need stable identity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ForEach(model.snapshot.expenses, id: \.id) { ExpenseRow($0)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Identifiable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UUID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ForEach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delete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Row updates affect exactly one domain entity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 · LO3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Swift concurrency guards responsiveness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Start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SWIFT-CONCURRENCY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Leave main actor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async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SWIFT-CONCURRENCY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Await bridge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SWIFT-CONCURRENCY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Publish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MainActor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SWIFT-CONCURRENCY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Isolate expensive work and publish UI state on the main actor.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Swift concurrency guards responsiveness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Start task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Leave main actor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Await bridge work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Publish state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Disk or model inference runs synchronously from a button action. Control: Isolate expensive work and publish UI state on the main actor.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Swift concurrency guards responsiveness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Task { await model.refresh()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async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MainActor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 blocking work on main thread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 · LO3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Accessibility is part of control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Name 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label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IOS-A11Y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Expose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value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IOS-A11Y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Support focus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hint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IOS-A11Y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scaling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Dynamic Type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IOS-A11Y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Treat semantic labels and adaptable layout as acceptance criteria.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Accessibility is part of control design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Name purpose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Expose value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Support focus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 scaling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An icon-only control has no accessible name. Control: Treat semantic labels and adaptable layout as acceptance criteria.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Accessibility is part of control design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.accessibilityLabel("Delete expense")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Dynamic Type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Critical flow works with VoiceOver and large 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 · LO3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Previews are executable design probes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fixture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empty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SWIFTUI-PREVIEW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Inject fake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SWIFTUI-PREVIEW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Render states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error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SWIFTUI-PREVIEW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 variants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large text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SWIFTUI-PREVIEW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Inject deterministic snapshots and display state extremes.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Previews are executable design probes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Create fixture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Inject fake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Render states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Inspect variants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 preview depends on production data and never reaches failure states. Control: Inject deterministic snapshots and display state extremes.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Previews are executable design probes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#Preview("Error") { BudgetScreen(model: .fixture(.error))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empty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loaded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error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large text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Representative states preview without network or storage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 · LO3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Feature flags bound experimental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flag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GOV-FLAG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Default 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default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GOV-FLAG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 usage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telemetry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GOV-FLAG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Remove or graduate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GOV-FLAG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Gate experiments, capture evidence and set a review date.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Feature flags bound experimental AI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Define flag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Default off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Observe usage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Remove or graduate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An AI-generated feature becomes permanent hidden complexity. Control: Gate experiments, capture evidence and set a review date.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Feature flags bound experimental AI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if flags.isEnabled(.smartCategorySuggestion) { ...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identifier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default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telemetry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Experimental path has owner and expiry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 · LO3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Foundation Models stay supplemental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availability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availability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AI-ONDEVICE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Prepare bounded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schema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AI-ONDEVICE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AI-ONDEVICE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Fall 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fallback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AI-ONDEVICE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 model output as a suggestion; validate before committing to the core.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Local Foundation Models stay supplemental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availability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Prepare bounded prompt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Validate output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Fall back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 local model becomes a hidden source of business truth. Control: Use model output as a suggestion; validate before committing to the core.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Local Foundation Models stay supplemental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guard modelSystem.isAvailable else { return .manualEntry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availability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schema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fallback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Deterministic core works when model is unavailable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 · LO3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selections require rationale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List candidates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TSC-K3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 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criterion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TSC-K3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Prototype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trade-off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TSC-K3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Record choice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TSC-K3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Record why the chosen control better enforces the requirement.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selections require rationale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List candidates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Score fit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Prototype risk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Record choice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Controls are selected because they are familiar or visually fashionable. Control: Record why the chosen control better enforces the requirement.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Design selections require rationale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// Decision: Picker because category is closed and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criterion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trade-off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Each material control linked to objective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TOPIC 3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3 · Evidence Coverage by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41248" y="1773936"/>
          <a:ext cx="717804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02752" y="1773936"/>
            <a:ext cx="3191256" cy="38862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2048256"/>
            <a:ext cx="26517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2542032"/>
            <a:ext cx="2578608" cy="22311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Coverage should form a connected chain. A polished UI cannot compensate for untested invariants or an undocumented seam.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5010912"/>
            <a:ext cx="2578608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chart · values are instructional thresholds, not production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HANDS-ON ACTIVITY · 85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5: Objective-C++ Adapter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812280" cy="187451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15544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77440"/>
            <a:ext cx="6254496" cy="8046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Expose the portable domain core to Swift through a narrow Objective-C-compatible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44968" y="1737360"/>
            <a:ext cx="3749039" cy="187451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1984248"/>
            <a:ext cx="25603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REGULATED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2423160"/>
            <a:ext cx="25603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7C3AED"/>
                </a:solidFill>
                <a:latin typeface="Arial"/>
              </a:rPr>
              <a:t>K3, A3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13632"/>
            <a:ext cx="10835640" cy="12984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133087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517136"/>
            <a:ext cx="67665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Bridge header, .mm adapter and round-trip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352544"/>
            <a:ext cx="31821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Xcode, Objective-C++, XCTest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68112"/>
            <a:ext cx="10835640" cy="57607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641848"/>
            <a:ext cx="1014984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Detailed procedures: Learner Guide and activities/05-objective-cpp-adapter/README.md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5 · Delivery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the public bridge header and remove every C++-only type.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K3, A3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Own ExpenseService with std::unique_ptr inside the .mm implementation.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K3, A3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typed domain failures to stable NSError codes.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K3, A3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Swift can call the bridge; cents, identity and error codes survive the round trip exactly.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K3, A3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The slide communicates the workflow; the Learner Guide carries the detailed procedure and commands.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VERIFY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5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Bridge header, .mm adapter and round-trip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K3, A3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Swift can call the bridge; cents, identity and error codes survive the round trip exactly.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K3, A3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If Swift cannot import the header, check target membership and confirm C++ includes appear only in .mm.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K3, A3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Clean derived build data only if needed; retain tests and mapping table.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K3, A3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is a retrievable artifact or test result, not a statement that the activity was completed.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5 · Verification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652760" cy="182880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57400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469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Swift can call the bridge; cents, identity and error codes survive the round trip exactly.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913632"/>
            <a:ext cx="5129784" cy="129844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4151376"/>
            <a:ext cx="16459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517136"/>
            <a:ext cx="4498848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If Swift cannot import the header, check target membership and confirm C++ includes appear only in .mm.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913632"/>
            <a:ext cx="5221224" cy="12984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4151376"/>
            <a:ext cx="21945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LEAVE THE 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517136"/>
            <a:ext cx="4590288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Clean derived build data only if needed; retain tests and mapping table.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HANDS-ON ACTIVITY · 80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6: SwiftUI Controls and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812280" cy="187451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15544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77440"/>
            <a:ext cx="6254496" cy="8046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an accessible SwiftUI expense-entry shell whose controls reflect the domain contract.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44968" y="1737360"/>
            <a:ext cx="3749039" cy="187451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1984248"/>
            <a:ext cx="25603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REGULATED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2423160"/>
            <a:ext cx="25603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7C3AED"/>
                </a:solidFill>
                <a:latin typeface="Arial"/>
              </a:rPr>
              <a:t>K3, A3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13632"/>
            <a:ext cx="10835640" cy="12984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133087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517136"/>
            <a:ext cx="67665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SwiftUI entry flow, deterministic previews and validation states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352544"/>
            <a:ext cx="31821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SwiftUI, Observation, Xcode previews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68112"/>
            <a:ext cx="10835640" cy="57607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641848"/>
            <a:ext cx="1014984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Detailed procedures: Learner Guide and activities/06-swiftui-controls-state/README.md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6 · Delivery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an observable view model that owns a bridge-facing snapshot.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K3, A3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TextField for amount, Picker for closed category and Button for explicit commit.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K3, A3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Render empty, loaded, validation-error and large-text previews.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K3, A3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view remains declarative, invalid input is recoverable, and previews cover four states without production data.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K3, A3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The slide communicates the workflow; the Learner Guide carries the detailed procedure and commands.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VERIFY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6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SwiftUI entry flow, deterministic previews and validation states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K3, A3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view remains declarative, invalid input is recoverable, and previews cover four states without production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K3, A3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If previews fail, inject the fixture model and remove filesystem work from initialisation.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K3, A3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Retain preview fixtures; remove screenshots containing personal data.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K3, A3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is a retrievable artifact or test result, not a statement that the activity was completed.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6 · Verification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652760" cy="182880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57400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469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The view remains declarative, invalid input is recoverable, and previews cover four states without production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913632"/>
            <a:ext cx="5129784" cy="129844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4151376"/>
            <a:ext cx="16459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517136"/>
            <a:ext cx="4498848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If previews fail, inject the fixture model and remove filesystem work from initialisation.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913632"/>
            <a:ext cx="5221224" cy="12984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4151376"/>
            <a:ext cx="21945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LEAVE THE 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517136"/>
            <a:ext cx="4590288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Retain preview fixtures; remove screenshots containing personal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3 ·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LO3: Select essential C++ controls and features to meet software design requirements.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LO3 · K3 · A3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Demonstrate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Show the Activity evidence that operationalises the outcome.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LO3 · K3 · A3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Diagnose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Name the failure signal and the layer where it originates.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LO3 · K3 · A3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Connect LO3 · K3 · A3 to the assessment and evidence pack.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LO3 · K3 · A3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 not advance on confidence alone; point to the artifact or test result that supports the answer.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737360"/>
            <a:ext cx="10835640" cy="32918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768096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4 · LO4 · K4 · 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8732520" cy="9326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Objective-C++ Interoperability, Persistence and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67328"/>
            <a:ext cx="8732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LO4: Examine the interoperability and functionality of C++ software components.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4352" y="658368"/>
            <a:ext cx="1417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5400" b="1">
                <a:solidFill>
                  <a:srgbClr val="D7E0EA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ransition advClick="1" spd="med">
    <p:push dir="l"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 · LO4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Objective-C++ owns language translation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Receive Swift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.h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OBJCXX-BRIDGE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Convert to C++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.mm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OBJCXX-BRIDGE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Call domain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namespace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OBJCXX-BRIDGE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Return Objective-C 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NSError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OBJCXX-BRIDGE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Keep the header Objective-C compatible and put C++ includes in .mm.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Objective-C++ owns language translation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Receive Swift value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Convert to C++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Call domain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Return Objective-C value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C++ types leak through the public Objective-C header. Control: Keep the header Objective-C compatible and put C++ includes in .mm.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Objective-C++ owns language translation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// BudgetBridge.mm
auto result = core_-&gt;add(toCpp(draft));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.h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.mm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namespace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NSError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One translation point per operation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 · LO4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Ownership across ARC and RAII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Swift retains 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strong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OBJCXX-OWNERSHIP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Bridge owns unique_ptr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unique_ptr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OBJCXX-OWNERSHIP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Core owns 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value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OBJCXX-OWNERSHIP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Scope releases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deinit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OBJCXX-OWNERSHIP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Let the adapter own long-lived C++ services; return copied immutable DTOs.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Ownership across ARC and RAII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Swift retains bridge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Bridge owns unique_ptr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Core owns values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 releases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Swift stores a pointer to a temporary C++ object. Control: Let the adapter own long-lived C++ services; return copied immutable DTOs.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Ownership across ARC and RAII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std::unique_ptr&lt;ExpenseService&gt; service_;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strong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unique_ptr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value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deinit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 leaks or dangling pointers under repeated 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 · LO4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typed errors once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Receive variant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domain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OBJCXX-ERROR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Extract 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domain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OBJCXX-ERROR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message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OBJCXX-ERROR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NSError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OBJCXX-ERROR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Centralise DomainError-to-NSError mapping in the adapter.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typed errors once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Receive variant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Extract error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Assign code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Create NSError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Every screen invents a different string for the same domain failure. Control: Centralise DomainError-to-NSError mapping in the adapter.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typed errors once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NSError *error = [NSError errorWithDomain:BudgetDomain code:code userInfo:info];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domain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domain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message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Stable error codes reach Swift tests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 · LO4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DTOs freeze the boundary shape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OBJCXX-DTO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Copy fields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amount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OBJCXX-DTO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DTO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category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OBJCXX-DTO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Consume in Swift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timestamp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OBJCXX-DTO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 explicit DTO objects with stable identity and documented units.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DTOs freeze the boundary shape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domain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Copy fields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Create DTO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Consume in Swift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Swift receives multiple arrays whose indices must stay aligned. Control: Use explicit DTO objects with stable identity and documented units.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DTOs freeze the boundary shape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@interface ExpenseDTO : NSObject @property(readonly) int64_t cents; @end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amount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category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timestamp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Swift sees immutable, complete records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 · LO4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JSON persistence stays behind a 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Serialise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encoder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CPP-PERSIST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Write atomically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temp 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CPP-PERSIST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rename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CPP-PERSIST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schema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schemaVersion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CPP-PERSIST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Write to a temporary file, fsync where relevant, then replace atomically.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JSON persistence stays behind a port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Serialise snapshot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Write atomically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Validate schema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 partial write corrupts the only saved file. Control: Write to a temporary file, fsync where relevant, then replace atomically.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JSON persistence stays behind a port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repository.save(snapshot); // port hides JSON and filesystem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encoder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temp file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rename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schemaVersion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Restart reproduces last accepted 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 · LO4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Schema evolution needs a 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CPP-SCHEMA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migration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default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CPP-SCHEMA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Persist current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current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CPP-SCHEMA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Version persisted documents and test every supported migration path.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Schema evolution needs a version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version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Select migration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Transform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Persist current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 new field makes existing user data unreadable. Control: Version persisted documents and test every supported migration path.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Schema evolution needs a version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if (doc.schemaVersion == 1) return migrateV1(doc);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migration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default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current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Legacy fixtures load into current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 · LO4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Interoperability has observable indicators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both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TSC-K4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Call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round-trip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TSC-K4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TSC-K4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 failures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error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TSC-K4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 compile compatibility, value fidelity, error fidelity and lifecycle safety.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Interoperability has observable indicators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Build both targets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Call boundary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Compare values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Inspect failures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Only a happy-path simulator demo is used as evidence. Control: Measure compile compatibility, value fidelity, error fidelity and lifecycle safety.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Interoperability has observable indicators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EXPECT_EQ(swiftRoundTrip.amountCents, cppInput.amount.cents);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compile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round-trip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Contract tests pass for success and failure paths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 · LO4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tests isolate the seam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Arrange adapter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fixture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TEST-INTEROP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Send DTO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TEST-INTEROP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Invoke 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TEST-INTEROP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Assert mapped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TEST-INTEROP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the translation seam directly with deterministic core doubles.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tests isolate the seam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Arrange adapter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Send DTO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Invoke core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mapped result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Bridge tests are postponed until full end-to-end testing. Control: Test the translation seam directly with deterministic core doubles.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Contract tests isolate the seam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func testNegativeAmountMapsToStableErrorCode() throws { ...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fixture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Adapter regression detected without UI 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 · LO4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End-to-end tests prove user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Launch fixture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launch arg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XCTEST-E2E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Enter expense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accessibility 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XCTEST-E2E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persistence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XCTEST-E2E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Relaunch and 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assertion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XCTEST-E2E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a thin golden path that crosses every architectural boundary.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End-to-end tests prove user value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Launch fixture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Enter expense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Relaunch and verify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 UI test checks labels but not the C++ decision or persistence result. Control: Choose a thin golden path that crosses every architectural boundary.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End-to-end tests prove user value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app.buttons["saveExpense"].tap(); XCTAssertTrue(app.staticTexts["$12.50"].exists)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launch arg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accessibility 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persistence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Critical journey passes from control to persisted core 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 · LO4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Failure injection tests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Inject 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disk full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TEST-FAILURE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invalid 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TEST-FAILURE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Show 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bridge error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TEST-FAILURE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Retry safely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retry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TEST-FAILURE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Inject controlled faults and assert state transitions plus recovery action.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Failure injection tests recovery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Inject fault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Observe mapping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Show recovery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Retry safely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Errors are logged but the UI remains stuck in a loading state. Control: Inject controlled faults and assert state transitions plus recovery action.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Failure injection tests recovery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repo.failNextSave = true // deterministic test double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disk full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invalid 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bridge error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retry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Failure states preserve user input and offer a valid next 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 · LO4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Functionality needs a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correctness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TSC-A4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latency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TSC-A4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suite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accessibility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TSC-A4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TSC-A4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Combine domain, bridge, UI and quality indicators into one release decision.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Functionality needs a scorecard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Choose criteria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Set threshold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suite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Review 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 build is declared ready because it compiles. Control: Combine domain, bridge, UI and quality indicators into one release decision.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Functionality needs a scorecard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ReleaseGate{.domain=1.0, .bridge=1.0, .ui=0.95, .crashes=0};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correctness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latency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accessibility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All release gates meet declared thresholds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SCENARIO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Application Validation · Layered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pp-validation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37360"/>
            <a:ext cx="6720840" cy="43159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62672" y="1737360"/>
            <a:ext cx="3831336" cy="960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62672" y="1737360"/>
            <a:ext cx="82296" cy="960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901952"/>
            <a:ext cx="36576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901952"/>
            <a:ext cx="2724912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Domain rules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62672" y="2880360"/>
            <a:ext cx="3831336" cy="960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62672" y="2880360"/>
            <a:ext cx="82296" cy="9601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3044952"/>
            <a:ext cx="36576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044952"/>
            <a:ext cx="2724912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Bridge contract second.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4023360"/>
            <a:ext cx="3831336" cy="960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62672" y="4023360"/>
            <a:ext cx="82296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187952"/>
            <a:ext cx="36576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187952"/>
            <a:ext cx="2724912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Golden UI journey third.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62672" y="5166360"/>
            <a:ext cx="3831336" cy="960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62672" y="5166360"/>
            <a:ext cx="82296" cy="9601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5330952"/>
            <a:ext cx="36576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7600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330952"/>
            <a:ext cx="2724912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Release decision last.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TOPIC 4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4 · Evidence Coverage by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41248" y="1773936"/>
          <a:ext cx="717804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02752" y="1773936"/>
            <a:ext cx="3191256" cy="38862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2048256"/>
            <a:ext cx="26517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2542032"/>
            <a:ext cx="2578608" cy="22311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Coverage should form a connected chain. A polished UI cannot compensate for untested invariants or an undocumented seam.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5010912"/>
            <a:ext cx="2578608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chart · values are instructional thresholds, not production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HANDS-ON ACTIVITY · 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7: Persistence and Error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812280" cy="187451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15544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77440"/>
            <a:ext cx="6254496" cy="8046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Persist domain snapshots safely and prove recovery from invalid data and write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44968" y="1737360"/>
            <a:ext cx="3749039" cy="187451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1984248"/>
            <a:ext cx="25603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REGULATED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2423160"/>
            <a:ext cx="25603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7C3AED"/>
                </a:solidFill>
                <a:latin typeface="Arial"/>
              </a:rPr>
              <a:t>K4, A4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13632"/>
            <a:ext cx="10835640" cy="12984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133087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517136"/>
            <a:ext cx="67665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Versioned JSON repository, migration fixture and recovery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352544"/>
            <a:ext cx="31821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C++ filesystem, JSON fixture, CTest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68112"/>
            <a:ext cx="10835640" cy="57607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641848"/>
            <a:ext cx="1014984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Detailed procedures: Learner Guide and activities/07-persistence-error-recovery/README.md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7 · Delivery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Implement repository save behind the ExpenseRepository 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K4, A4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Write to a temporary file before replacing the current snapshot.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K4, A4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Inject invalid JSON and a failed save through deterministic doubles.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K4, A4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Restart restores accepted data; corrupt input and failed writes become stable recoverable errors.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K4, A4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The slide communicates the workflow; the Learner Guide carries the detailed procedure and commands.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VERIFY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7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Versioned JSON repository, migration fixture and recovery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K4, A4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Restart restores accepted data; corrupt input and failed writes become stable recoverable errors.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K4, A4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If tests touch the real home directory, inject a temporary path and fail the test on escape.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K4, A4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Delete only temporary test stores; retain migration fixtures.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K4, A4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is a retrievable artifact or test result, not a statement that the activity was completed.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7 · Verification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652760" cy="182880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57400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469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Restart restores accepted data; corrupt input and failed writes become stable recoverable errors.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913632"/>
            <a:ext cx="5129784" cy="129844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4151376"/>
            <a:ext cx="16459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517136"/>
            <a:ext cx="4498848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If tests touch the real home directory, inject a temporary path and fail the test on escape.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913632"/>
            <a:ext cx="5221224" cy="12984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4151376"/>
            <a:ext cx="21945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LEAVE THE 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517136"/>
            <a:ext cx="4590288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Delete only temporary test stores; retain migration fixtures.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HANDS-ON ACTIVITY · 80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8: Interoperability Validation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812280" cy="187451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15544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77440"/>
            <a:ext cx="6254496" cy="8046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 the C++/Objective-C++/SwiftUI system with domain, bridge and end-to-end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44968" y="1737360"/>
            <a:ext cx="3749039" cy="187451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1984248"/>
            <a:ext cx="25603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REGULATED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2423160"/>
            <a:ext cx="25603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7C3AED"/>
                </a:solidFill>
                <a:latin typeface="Arial"/>
              </a:rPr>
              <a:t>K4, A4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13632"/>
            <a:ext cx="10835640" cy="12984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133087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517136"/>
            <a:ext cx="67665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Test matrix, execution evidence and release scorecard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352544"/>
            <a:ext cx="31821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CTest, XCTest, XCUITest, Instruments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68112"/>
            <a:ext cx="10835640" cy="57607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641848"/>
            <a:ext cx="1014984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Detailed procedures: Learner Guide and activities/08-interop-validation-scorecard/README.md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8 · Delivery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each requirement to a domain, bridge or UI test level.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K4, A4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exact-cent and typed-error domain tests.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K4, A4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Exercise the golden SwiftUI journey through save and relaunch.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K4, A4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release-gate score links to reproducible evidence and no criterion relies only on a visual demo.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K4, A4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The slide communicates the workflow; the Learner Guide carries the detailed procedure and commands.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VERIFY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8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Test matrix, execution evidence and release scorecard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K4, A4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release-gate score links to reproducible evidence and no criterion relies only on a visual demo.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K4, A4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If a UI failure is ambiguous, reproduce it one layer lower before changing the architecture.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K4, A4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Remove disposable run artifacts; retain the scorecard and final evidence links.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K4, A4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is a retrievable artifact or test result, not a statement that the activity was completed.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8 · Verification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652760" cy="182880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57400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469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Every release-gate score links to reproducible evidence and no criterion relies only on a visual demo.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913632"/>
            <a:ext cx="5129784" cy="129844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4151376"/>
            <a:ext cx="16459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517136"/>
            <a:ext cx="4498848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If a UI failure is ambiguous, reproduce it one layer lower before changing the architecture.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913632"/>
            <a:ext cx="5221224" cy="12984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4151376"/>
            <a:ext cx="21945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LEAVE THE 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517136"/>
            <a:ext cx="4590288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disposable run artifacts; retain the scorecard and final evidence links.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4 ·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LO4: Examine the interoperability and functionality of C++ software components.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LO4 · K4 · A4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Demonstrate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Show the Activity evidence that operationalises the outcome.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LO4 · K4 · A4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Diagnose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Name the failure signal and the layer where it originates.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LO4 · K4 · A4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Connect LO4 · K4 · A4 to the assessment and evidence pack.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LO4 · K4 · A4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 not advance on confidence alone; point to the artifact or test result that supports the answer.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737360"/>
            <a:ext cx="10835640" cy="32918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768096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5 · LO5 · K5 · A5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8732520" cy="9326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Architecture Evidence, Documentation and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67328"/>
            <a:ext cx="8732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LO5: Generate C++ design documentation aligned with user specifications.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4352" y="658368"/>
            <a:ext cx="1417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5400" b="1">
                <a:solidFill>
                  <a:srgbClr val="D7E0EA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  <p:transition advClick="1" spd="med">
    <p:push dir="l"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5 · LO5 · K5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C4 views explain different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people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DOC-C4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deployables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DOC-C4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Component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responsibilities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DOC-C4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interfaces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DOC-C4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 layered diagrams and state the audience and decision for each.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C4 views explain different questions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Container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Component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 single dense diagram mixes business actors with classes. Control: Use layered diagrams and state the audience and decision for each.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C4 views explain different questions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Context -&gt; iOS App -&gt; SwiftUI | Objective-C++ | C++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people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deployables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responsibilities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interfaces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Stakeholder question answered at correct zoom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5 · LO5 · K5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ADRs preserve design reasoning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Name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DOC-ADR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Record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DOC-ADR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options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DOC-ADR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State consequences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consequence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DOC-ADR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Write a short ADR for boundaries, persistence and AI usage.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ADRs preserve design reasoning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Name decision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Record context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Compare options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consequences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Documentation states what exists but not why alternatives were rejected. Control: Write a short ADR for boundaries, persistence and AI usage.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ADRs preserve design reasoning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# ADR-002: Use Objective-C++ as the sole C++ translation boundary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consequence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Material choices have retrievable rationale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5 · LO5 · K5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Traceability closes the specification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 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TSC-A5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Link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component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TSC-A5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Link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TSC-A5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Report 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TSC-A5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Maintain a bidirectional matrix from requirement to implementation and test.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Traceability closes the specification loop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Assign IDs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Link design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Link test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Report 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 feature is marked done without proving the approved requirement. Control: Maintain a bidirectional matrix from requirement to implementation and test.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Traceability closes the specification loop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REQ-004 | BudgetPolicy | BudgetPolicyTests/RejectsNegative |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component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Requirements with design and passing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5 · LO5 · K5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 documentation states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Describe 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precondition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Name parameters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errors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ownership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Give example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error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DOC-API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Document invariants, units, lifetime and failure semantics.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 documentation states contracts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Describe purpose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Name parameters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Define errors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Give example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Generated comments repeat the method name and omit units or ownership. Control: Document invariants, units, lifetime and failure semantics.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API documentation states contracts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/// Evaluates a draft. Amount is cents; returns typed error; no mutation.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precondition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unit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ownership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Consumers implement without reading 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5 · LO5 · K5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Architecture diagrams must match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Generate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DOC-VERIFY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dependencies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module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DOC-VERIFY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Update diagram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edge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DOC-VERIFY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diff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DOC-VERIFY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diagrams against target membership and imports before release.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Architecture diagrams must match code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Generate inventory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Compare dependencies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Update diagram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Review diff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 polished diagram describes an architecture the build no longer uses. Control: Validate diagrams against target membership and imports before release.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Architecture diagrams must match code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SwiftUI -&gt; BudgetBridge -&gt; DomainCore; no reverse dependency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target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module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Zero undocumented or impossible dependency arrows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5 · LO5 · K5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Documentation is a tested deliverable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DOC-QA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links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links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DOC-QA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examples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commands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DOC-QA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audience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roles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DOC-QA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Exercise documentation in a clean environment and capture the transcript.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Documentation is a tested deliverable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Build docs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links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examples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Review audience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Setup steps depend on an unstated local path or secret. Control: Exercise documentation in a clean environment and capture the transcript.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Documentation is a tested deliverable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cmake -S DomainCore -B build &amp;&amp; cmake --build build &amp;&amp; ctest --test-dir 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README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links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commands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New developer reaches a passing test from clean checkout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5 · LO5 · K5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 separates signing from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bundle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IOS-DEPLOY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archive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certificate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IOS-DEPLOY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archive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IOS-DEPLOY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Prepare release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metadata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IOS-DEPLOY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Treat signing, archive validation and store submission as separate evidence gates.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Deployment separates signing from design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Choose identity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Create archive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Validate build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Prepare release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 local simulator run is described as App Store readiness. Control: Treat signing, archive validation and store submission as separate evidence gates.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Deployment separates signing from design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xcodebuild -scheme BudgetBridgeApp -configuration Release archive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bundle 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certificate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archive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metadata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Validated archive with reproducible design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5 · LO5 · K5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Privacy manifests document data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Inventory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IOS-PRIVACY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Classify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IOS-PRIVACY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Declare reasons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purpose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IOS-PRIVACY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package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manifest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IOS-PRIVACY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Re-run privacy inventory whenever dependencies or telemetry change.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Privacy manifests document data use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Inventory APIs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Classify data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Declare reasons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Verify package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An AI-added SDK expands collection without documentation review. Control: Re-run privacy inventory whenever dependencies or telemetry change.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Privacy manifests document data use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PrivacyInfo.xcprivacy // reviewed against linked frameworks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purpose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manifest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Declared use matches code and third-party packages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5 · LO5 · K5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review needs accountable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Request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AI-REVIEW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AI-REVIEW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Classify finding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severity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AI-REVIEW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Resolve or accept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AI-REVIEW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Require code locus and a repeatable test for material findings.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AI review needs accountable evidence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Verify claim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Classify finding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Resolve or accept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AI review comments are copied into approval without reproduction. Control: Require code locus and a repeatable test for material findings.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AI review needs accountable evidence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Finding: cents overflow. Evidence: boundary test with Int.max. Owner: developer.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prompt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severity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Accepted findings have owner and rationale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5 · LO5 · K5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Release notes map value to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Name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feature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DOC-RELEASE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State user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impact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DOC-RELEASE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List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known issue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DOC-RELEASE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Link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DOC-RELEASE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Write outcome-oriented notes and disclose known limitations.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Release notes map value to change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Name capability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user impact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List risk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Link 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Release notes list commits but not observable user outcomes. Control: Write outcome-oriented notes and disclose known limitations.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Release notes map value to change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Added exact-cent budgeting; validated restart persistence and VoiceOver 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feature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impact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known issue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Every release claim points to a checked artifact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5 · LO5 · K5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evidence pack supports handover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Index artifacts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TSC-K5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Record versions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TSC-K5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 owners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deployment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TSC-K5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review 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operations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TSC-K5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Package requirements, design, tests, risks and deployment evidence with provenance.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evidence pack supports handover ·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6596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2322576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Index artifacts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4" y="3127248"/>
            <a:ext cx="74980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87368" y="2322576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Record versions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3127248"/>
            <a:ext cx="74980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965960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322576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Assign owners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3127248"/>
            <a:ext cx="74980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965960"/>
            <a:ext cx="1874519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96596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322576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468880"/>
            <a:ext cx="74980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337560"/>
            <a:ext cx="1545336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Set review date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45152"/>
            <a:ext cx="10076688" cy="8778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18888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64024"/>
            <a:ext cx="82844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Failure mode: Evidence is scattered across local screenshots and chat history. Control: Package requirements, design, tests, risks and deployment evidence with provenance.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The evidence pack supports handover · Technical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594360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2E4FF"/>
                </a:solidFill>
                <a:latin typeface="Courier New"/>
              </a:rPr>
              <a:t>EvidencePack v1.0: requirements, ADRs, tests, validation, release checklist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75564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0648" y="1755648"/>
            <a:ext cx="82296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9202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98424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design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76148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0648" y="2761488"/>
            <a:ext cx="82296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9248" y="292608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99008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92608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376732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3767328"/>
            <a:ext cx="82296" cy="7680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9248" y="3931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99592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deployment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773168"/>
            <a:ext cx="4023360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8" y="4773168"/>
            <a:ext cx="82296" cy="7680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99248" y="4937759"/>
            <a:ext cx="384048" cy="38404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5001768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937759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operations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1383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60136"/>
            <a:ext cx="1609344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EVIDENCE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623560"/>
            <a:ext cx="861364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 reviewer can reproduce the release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TOPIC 5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5 · Evidence Coverage by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41248" y="1773936"/>
          <a:ext cx="717804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02752" y="1773936"/>
            <a:ext cx="3191256" cy="38862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2048256"/>
            <a:ext cx="26517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2542032"/>
            <a:ext cx="2578608" cy="22311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Coverage should form a connected chain. A polished UI cannot compensate for untested invariants or an undocumented seam.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5010912"/>
            <a:ext cx="2578608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chart · values are instructional thresholds, not production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HANDS-ON ACTIVITY · 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9: Architecture and Traceability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812280" cy="187451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15544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77440"/>
            <a:ext cx="6254496" cy="8046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design documentation that maps user specifications to architecture, interfaces and tests.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44968" y="1737360"/>
            <a:ext cx="3749039" cy="187451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1984248"/>
            <a:ext cx="25603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REGULATED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2423160"/>
            <a:ext cx="25603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7C3AED"/>
                </a:solidFill>
                <a:latin typeface="Arial"/>
              </a:rPr>
              <a:t>K5, A5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13632"/>
            <a:ext cx="10835640" cy="12984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133087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517136"/>
            <a:ext cx="67665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C4 diagrams, two ADRs, API contract and traceability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352544"/>
            <a:ext cx="31821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Markdown, Mermaid or editable shapes, Doxygen-style comments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68112"/>
            <a:ext cx="10835640" cy="57607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641848"/>
            <a:ext cx="1014984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Detailed procedures: Learner Guide and activities/09-architecture-traceability-docs/README.md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9 · Delivery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context, container and component views at distinct levels of detail.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K5, A5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Write ADRs for the Objective-C++ boundary and JSON persistence.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K5, A5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Build a requirement-to-component-to-test-to-evidence matrix.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K5, A5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All five regulated outcomes are traceable and no documented dependency contradicts the build graph.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K5, A5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The slide communicates the workflow; the Learner Guide carries the detailed procedure and commands.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VERIFY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9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C4 diagrams, two ADRs, API contract and traceability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K5, A5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All five regulated outcomes are traceable and no documented dependency contradicts the build graph.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K5, A5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If the diagram is crowded, split by stakeholder question instead of shrinking labels.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K5, A5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Retain source diagrams and Markdown; remove obsolete exported drafts.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K5, A5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is a retrievable artifact or test result, not a statement that the activity was completed.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9 · Verification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652760" cy="182880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57400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469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All five regulated outcomes are traceable and no documented dependency contradicts the build graph.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913632"/>
            <a:ext cx="5129784" cy="129844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4151376"/>
            <a:ext cx="16459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517136"/>
            <a:ext cx="4498848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If the diagram is crowded, split by stakeholder question instead of shrinking labels.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913632"/>
            <a:ext cx="5221224" cy="12984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4151376"/>
            <a:ext cx="21945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LEAVE THE 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517136"/>
            <a:ext cx="4590288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Retain source diagrams and Markdown; remove obsolete exported drafts.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HANDS-ON ACTIVITY · 105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10: Capstone: BudgetBuddy Release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812280" cy="187451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15544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77440"/>
            <a:ext cx="6254496" cy="8046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Integrate the portable C++ core, Objective-C++ adapter and SwiftUI shell into a verified release evidence pack.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44968" y="1737360"/>
            <a:ext cx="3749039" cy="187451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1984248"/>
            <a:ext cx="25603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REGULATED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2423160"/>
            <a:ext cx="25603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7C3AED"/>
                </a:solidFill>
                <a:latin typeface="Arial"/>
              </a:rPr>
              <a:t>A1, A2, A3, A4, A5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13632"/>
            <a:ext cx="10835640" cy="12984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133087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517136"/>
            <a:ext cx="67665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Working app, complete tests, architecture pack and deployment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352544"/>
            <a:ext cx="31821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C++20, CMake, Xcode, SwiftUI, XCTest, documentation templates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68112"/>
            <a:ext cx="10835640" cy="576072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641848"/>
            <a:ext cx="1014984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Detailed procedures: Learner Guide and activities/10-capstone-release-evidence/README.md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10 · Delivery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Confirm the approved requirement baseline and component boundary.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A1, A2, A3, A4, A5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Build and test the portable C++ domain core independently.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A1, A2, A3, A4, A5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Complete the accessible SwiftUI flow and persistence recovery path.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A1, A2, A3, A4, A5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clean evidence index proves requirements, implementation, interoperability, documentation and deployment readiness without claiming App Store submission.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A1, A2, A3, A4, A5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The slide communicates the workflow; the Learner Guide carries the detailed procedure and commands.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VERIFY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10 ·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Working app, complete tests, architecture pack and deployment checklist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A1, A2, A3, A4, A5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clean evidence index proves requirements, implementation, interoperability, documentation and deployment readiness without claiming App Store submission.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A1, A2, A3, A4, A5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When a system test fails, localise the fault by rerunning domain then bridge tests before editing UI code.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A1, A2, A3, A4, A5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Remove local build caches and secrets; retain source, fixtures, tests and evidence pack.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A1, A2, A3, A4, A5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is a retrievable artifact or test result, not a statement that the activity was completed.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10 · Verification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652760" cy="182880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57400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964692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A clean evidence index proves requirements, implementation, interoperability, documentation and deployment readiness without claiming App Store submission.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913632"/>
            <a:ext cx="5129784" cy="129844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4151376"/>
            <a:ext cx="16459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517136"/>
            <a:ext cx="4498848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When a system test fails, localise the fault by rerunning domain then bridge tests before editing UI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913632"/>
            <a:ext cx="5221224" cy="12984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4151376"/>
            <a:ext cx="21945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LEAVE THE 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517136"/>
            <a:ext cx="4590288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local build caches and secrets; retain source, fixtures, tests and evidence pack.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5 ·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LO5: Generate C++ design documentation aligned with user specifications.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LO5 · K5 · A5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Demonstrate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Show the Activity evidence that operationalises the outcome.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LO5 · K5 · A5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Diagnose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Name the failure signal and the layer where it originates.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LO5 · K5 · A5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Connect LO5 · K5 · A5 to the assessment and evidence pack.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LO5 · K5 · A5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 not advance on confidence alone; point to the artifact or test result that supports the answer.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LMS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1 · Sign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 the LMS using your assigned learner account.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2 · Open course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Confirm TGS-2023037545 and the full course title.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3 · Download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the Learner Guide PDF and Activity folders for detailed procedures.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4 · Submit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Upload completed assessment documents to the same course record.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LMS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Always confirm course identity before downloading or submitting.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60520" y="5879592"/>
            <a:ext cx="38862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  <a:hlinkClick r:id="rId3"/>
              </a:rPr>
              <a:t>https://lms-tms.tertiaryinfotech.com/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CLOSING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Five open-ended questions covering K1–K5.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Three practical tasks covering A1–A5.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One hour for each instrument.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Upload candidate papers to the LMS and retain confirmation.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Answer keys remain trainer-only.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ASSESSMENT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874519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9595" y="22585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9595" y="2414016"/>
            <a:ext cx="749808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19272"/>
            <a:ext cx="1545336" cy="7498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246120"/>
            <a:ext cx="31089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62656" y="1874519"/>
            <a:ext cx="1874519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874519"/>
            <a:ext cx="1874519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5012" y="22585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5012" y="2414016"/>
            <a:ext cx="749808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3319272"/>
            <a:ext cx="1545336" cy="7498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Assessment
attendance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246120"/>
            <a:ext cx="320040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57216" y="1874519"/>
            <a:ext cx="1874519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874519"/>
            <a:ext cx="187451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2" y="22585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2" y="2414016"/>
            <a:ext cx="749808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7" y="3319272"/>
            <a:ext cx="1545336" cy="7498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WA then PP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246120"/>
            <a:ext cx="310895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42631" y="1874519"/>
            <a:ext cx="1874519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874519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4988" y="2258568"/>
            <a:ext cx="749808" cy="749808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4988" y="2414016"/>
            <a:ext cx="749808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7223" y="3319272"/>
            <a:ext cx="1545336" cy="7498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on
the LMS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246120"/>
            <a:ext cx="320041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37192" y="1874519"/>
            <a:ext cx="1874519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874519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9548" y="22585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9548" y="2414016"/>
            <a:ext cx="749808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01784" y="3319272"/>
            <a:ext cx="1545336" cy="7498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the
ASR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047488"/>
            <a:ext cx="10634472" cy="6126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230368"/>
            <a:ext cx="101041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ASR = Assessment Summary Record · complete the sign-off only after both instruments are submitted.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MANDATORY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· Mandatory Close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042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 the SSG TRAQOM attendance request shown by the trainer.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TRAQOM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042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Verify course, session and identity details before confirming.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TRAQOM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04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Complete attendance at the required start and end checkpoints.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TRAQOM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691640"/>
            <a:ext cx="2487168" cy="23042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042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901952"/>
            <a:ext cx="420624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47088"/>
            <a:ext cx="1444752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59736"/>
            <a:ext cx="1993392" cy="1152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Tell the trainer immediately if the status is not confirmed.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666744"/>
            <a:ext cx="1353312" cy="228600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694176"/>
            <a:ext cx="1225296" cy="1280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TRAQOM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79392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DESIGN JUDGEMENT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1028700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records SSG digital attendance. It is not a course survey.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  <p:transition advClick="1" spd="fast">
    <p:fade/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078992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83080"/>
            <a:ext cx="9601200" cy="1965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Build the boundary.
Prove the behaviour.
Document the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709160"/>
            <a:ext cx="7132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Tertiary Infotech Academy Pte Ltd · UEN 201200696W
enquiry@tertiaryinfotech.com · +65 6100 0613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55778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iOS Mobile Apps Development · TGS-2023037545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46520"/>
            <a:ext cx="3657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59436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  <p:transition advClick="1"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